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2cbe9ad303485b" /><Relationship Type="http://schemas.openxmlformats.org/officeDocument/2006/relationships/extended-properties" Target="/docProps/app.xml" Id="Reca8dd4f819c40a4" /><Relationship Type="http://schemas.openxmlformats.org/officeDocument/2006/relationships/officeDocument" Target="/ppt/presentation.xml" Id="Rfcc48fac41bd49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25d0243e964c1d"/>
  </p:sldMasterIdLst>
  <p:notesMasterIdLst>
    <p:notesMasterId xmlns:r="http://schemas.openxmlformats.org/officeDocument/2006/relationships" r:id="R1e48fe0ce76e4a57"/>
  </p:notesMasterIdLst>
  <p:sldIdLst>
    <p:sldId xmlns:r="http://schemas.openxmlformats.org/officeDocument/2006/relationships" id="256" r:id="R89533473c04c4370"/>
    <p:sldId xmlns:r="http://schemas.openxmlformats.org/officeDocument/2006/relationships" id="257" r:id="R40e5de655e2e44bf"/>
    <p:sldId xmlns:r="http://schemas.openxmlformats.org/officeDocument/2006/relationships" id="258" r:id="R4024af448c214421"/>
    <p:sldId xmlns:r="http://schemas.openxmlformats.org/officeDocument/2006/relationships" id="259" r:id="R8d3805a114244531"/>
    <p:sldId xmlns:r="http://schemas.openxmlformats.org/officeDocument/2006/relationships" id="260" r:id="R354404ff5bc04a19"/>
    <p:sldId xmlns:r="http://schemas.openxmlformats.org/officeDocument/2006/relationships" id="261" r:id="R15a017dd63de4b3d"/>
    <p:sldId xmlns:r="http://schemas.openxmlformats.org/officeDocument/2006/relationships" id="262" r:id="Rc705296c3ca5466c"/>
    <p:sldId xmlns:r="http://schemas.openxmlformats.org/officeDocument/2006/relationships" id="263" r:id="Ra560912cb76d4e25"/>
    <p:sldId xmlns:r="http://schemas.openxmlformats.org/officeDocument/2006/relationships" id="264" r:id="Rbc9d88e458024f9b"/>
    <p:sldId xmlns:r="http://schemas.openxmlformats.org/officeDocument/2006/relationships" id="265" r:id="R10049257a0344774"/>
    <p:sldId xmlns:r="http://schemas.openxmlformats.org/officeDocument/2006/relationships" id="266" r:id="R9bfe846801484c70"/>
    <p:sldId xmlns:r="http://schemas.openxmlformats.org/officeDocument/2006/relationships" id="267" r:id="Rd8178eb303d04f84"/>
    <p:sldId xmlns:r="http://schemas.openxmlformats.org/officeDocument/2006/relationships" id="268" r:id="R5e22aacd9e9248ed"/>
    <p:sldId xmlns:r="http://schemas.openxmlformats.org/officeDocument/2006/relationships" id="269" r:id="Rf1fd8f8cc739400f"/>
    <p:sldId xmlns:r="http://schemas.openxmlformats.org/officeDocument/2006/relationships" id="270" r:id="R12fdd6d0926c497c"/>
    <p:sldId xmlns:r="http://schemas.openxmlformats.org/officeDocument/2006/relationships" id="271" r:id="R9478777c4c27423b"/>
    <p:sldId xmlns:r="http://schemas.openxmlformats.org/officeDocument/2006/relationships" id="272" r:id="R3f032dfb5ac14506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ab6d11e1e84240" /><Relationship Type="http://schemas.openxmlformats.org/officeDocument/2006/relationships/slideMaster" Target="/ppt/slideMasters/slideMaster1.xml" Id="Raf25d0243e964c1d" /><Relationship Type="http://schemas.openxmlformats.org/officeDocument/2006/relationships/notesMaster" Target="/ppt/notesMasters/notesMaster1.xml" Id="R1e48fe0ce76e4a57" /><Relationship Type="http://schemas.openxmlformats.org/officeDocument/2006/relationships/presProps" Target="/ppt/presProps.xml" Id="R30e091b73e8e40b5" /><Relationship Type="http://schemas.openxmlformats.org/officeDocument/2006/relationships/viewProps" Target="/ppt/viewProps.xml" Id="R1dad86e94c3a4fcc" /><Relationship Type="http://schemas.openxmlformats.org/officeDocument/2006/relationships/tableStyles" Target="/ppt/tableStyles.xml" Id="Ra00c837d7b3b4d4f" /><Relationship Type="http://schemas.openxmlformats.org/officeDocument/2006/relationships/slide" Target="/ppt/slides/slide1.xml" Id="R89533473c04c4370" /><Relationship Type="http://schemas.openxmlformats.org/officeDocument/2006/relationships/slide" Target="/ppt/slides/slide2.xml" Id="R40e5de655e2e44bf" /><Relationship Type="http://schemas.openxmlformats.org/officeDocument/2006/relationships/slide" Target="/ppt/slides/slide3.xml" Id="R4024af448c214421" /><Relationship Type="http://schemas.openxmlformats.org/officeDocument/2006/relationships/slide" Target="/ppt/slides/slide4.xml" Id="R8d3805a114244531" /><Relationship Type="http://schemas.openxmlformats.org/officeDocument/2006/relationships/slide" Target="/ppt/slides/slide5.xml" Id="R354404ff5bc04a19" /><Relationship Type="http://schemas.openxmlformats.org/officeDocument/2006/relationships/slide" Target="/ppt/slides/slide6.xml" Id="R15a017dd63de4b3d" /><Relationship Type="http://schemas.openxmlformats.org/officeDocument/2006/relationships/slide" Target="/ppt/slides/slide7.xml" Id="Rc705296c3ca5466c" /><Relationship Type="http://schemas.openxmlformats.org/officeDocument/2006/relationships/slide" Target="/ppt/slides/slide8.xml" Id="Ra560912cb76d4e25" /><Relationship Type="http://schemas.openxmlformats.org/officeDocument/2006/relationships/slide" Target="/ppt/slides/slide9.xml" Id="Rbc9d88e458024f9b" /><Relationship Type="http://schemas.openxmlformats.org/officeDocument/2006/relationships/slide" Target="/ppt/slides/slide10.xml" Id="R10049257a0344774" /><Relationship Type="http://schemas.openxmlformats.org/officeDocument/2006/relationships/slide" Target="/ppt/slides/slide11.xml" Id="R9bfe846801484c70" /><Relationship Type="http://schemas.openxmlformats.org/officeDocument/2006/relationships/slide" Target="/ppt/slides/slide12.xml" Id="Rd8178eb303d04f84" /><Relationship Type="http://schemas.openxmlformats.org/officeDocument/2006/relationships/slide" Target="/ppt/slides/slide13.xml" Id="R5e22aacd9e9248ed" /><Relationship Type="http://schemas.openxmlformats.org/officeDocument/2006/relationships/slide" Target="/ppt/slides/slide14.xml" Id="Rf1fd8f8cc739400f" /><Relationship Type="http://schemas.openxmlformats.org/officeDocument/2006/relationships/slide" Target="/ppt/slides/slide15.xml" Id="R12fdd6d0926c497c" /><Relationship Type="http://schemas.openxmlformats.org/officeDocument/2006/relationships/slide" Target="/ppt/slides/slide16.xml" Id="R9478777c4c27423b" /><Relationship Type="http://schemas.openxmlformats.org/officeDocument/2006/relationships/slide" Target="/ppt/slides/slide17.xml" Id="R3f032dfb5ac145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7bea29f5294e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5ea594b9dc48eb" /><Relationship Type="http://schemas.openxmlformats.org/officeDocument/2006/relationships/notesMaster" Target="/ppt/notesMasters/notesMaster1.xml" Id="R400a13b49b064e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1ac096296b4e2b" /><Relationship Type="http://schemas.openxmlformats.org/officeDocument/2006/relationships/notesMaster" Target="/ppt/notesMasters/notesMaster1.xml" Id="R9d10bc3c8ed841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2a31d1f5b04d1b" /><Relationship Type="http://schemas.openxmlformats.org/officeDocument/2006/relationships/notesMaster" Target="/ppt/notesMasters/notesMaster1.xml" Id="R7b558d22478e46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963e3a82a44b7f" /><Relationship Type="http://schemas.openxmlformats.org/officeDocument/2006/relationships/notesMaster" Target="/ppt/notesMasters/notesMaster1.xml" Id="Refeae869630d41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4e89d7034f43e8" /><Relationship Type="http://schemas.openxmlformats.org/officeDocument/2006/relationships/notesMaster" Target="/ppt/notesMasters/notesMaster1.xml" Id="R694f75c99ce34b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e315486341486a" /><Relationship Type="http://schemas.openxmlformats.org/officeDocument/2006/relationships/notesMaster" Target="/ppt/notesMasters/notesMaster1.xml" Id="R153db2fb5b0a46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a1b94140534208" /><Relationship Type="http://schemas.openxmlformats.org/officeDocument/2006/relationships/notesMaster" Target="/ppt/notesMasters/notesMaster1.xml" Id="Rff6d0e27ce5545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fb80a9de6b410d" /><Relationship Type="http://schemas.openxmlformats.org/officeDocument/2006/relationships/notesMaster" Target="/ppt/notesMasters/notesMaster1.xml" Id="R320bf704a77942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bbfd75a9474a12" /><Relationship Type="http://schemas.openxmlformats.org/officeDocument/2006/relationships/notesMaster" Target="/ppt/notesMasters/notesMaster1.xml" Id="R17472ba5c5304e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9883bad28a4880" /><Relationship Type="http://schemas.openxmlformats.org/officeDocument/2006/relationships/notesMaster" Target="/ppt/notesMasters/notesMaster1.xml" Id="Ref7e35c237714c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1fbfc6249945a9" /><Relationship Type="http://schemas.openxmlformats.org/officeDocument/2006/relationships/notesMaster" Target="/ppt/notesMasters/notesMaster1.xml" Id="Rcc6becb7f1f446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09c7c63aba4869" /><Relationship Type="http://schemas.openxmlformats.org/officeDocument/2006/relationships/notesMaster" Target="/ppt/notesMasters/notesMaster1.xml" Id="R6eeab5effa2e49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c98e6888f4456f" /><Relationship Type="http://schemas.openxmlformats.org/officeDocument/2006/relationships/notesMaster" Target="/ppt/notesMasters/notesMaster1.xml" Id="Rd103196f2dde49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be16dcbf244ace" /><Relationship Type="http://schemas.openxmlformats.org/officeDocument/2006/relationships/notesMaster" Target="/ppt/notesMasters/notesMaster1.xml" Id="R631ed2043ce943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f6322a9494e4640" /><Relationship Type="http://schemas.openxmlformats.org/officeDocument/2006/relationships/notesMaster" Target="/ppt/notesMasters/notesMaster1.xml" Id="R74730f2f3c56476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973a9a9a48540ed" /><Relationship Type="http://schemas.openxmlformats.org/officeDocument/2006/relationships/notesMaster" Target="/ppt/notesMasters/notesMaster1.xml" Id="Rfdf992b87ecb4ce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865b6ef3e184b04" /><Relationship Type="http://schemas.openxmlformats.org/officeDocument/2006/relationships/notesMaster" Target="/ppt/notesMasters/notesMaster1.xml" Id="Rbf68693c911242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https://arxiv.org/abs/2608.01359 — EviSD title, authors, arXiv identifier, benchmark count, and token-modulation range.</a:t>
            </a:r>
          </a:p>
          <a:p xmlns:a="http://schemas.openxmlformats.org/drawingml/2006/main">
            <a:r>
              <a:t>- https://arxiv.org/abs/2608.01358 — HopRefusalBench title, authors, arXiv identifier, 889-question benchmark, ten-model evaluation, and 42.9% best TCHR.</a:t>
            </a:r>
          </a:p>
          <a:p xmlns:a="http://schemas.openxmlformats.org/drawingml/2006/main">
            <a:r>
              <a:t>- User confirmation in this conversation — both papers are co-first-author submissions to AAAI 2027.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https://arxiv.org/abs/2608.01359 — EviSD title, authors, arXiv identifier, benchmark count, and token-modulation range.</a:t>
            </a:r>
          </a:p>
          <a:p xmlns:a="http://schemas.openxmlformats.org/drawingml/2006/main">
            <a:r>
              <a:t>- https://arxiv.org/abs/2608.01358 — HopRefusalBench title, authors, arXiv identifier, 889-question benchmark, ten-model evaluation, and 42.9% best TCHR.</a:t>
            </a:r>
          </a:p>
          <a:p xmlns:a="http://schemas.openxmlformats.org/drawingml/2006/main">
            <a:r>
              <a:t>- User confirmation in this conversation — both papers are co-first-author submissions to AAAI 2027.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e0cd5a4c44e8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2ce98a3ffd466a" /><Relationship Type="http://schemas.openxmlformats.org/officeDocument/2006/relationships/slideLayout" Target="/ppt/slideLayouts/slideLayout1.xml" Id="R2a7b5601350d4aa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7b5601350d4aa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542f932da4d25" /><Relationship Type="http://schemas.openxmlformats.org/officeDocument/2006/relationships/notesSlide" Target="/ppt/notesSlides/notesSlide1.xml" Id="R6e0d96dfeb0843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4b9dd497d4904" /><Relationship Type="http://schemas.openxmlformats.org/officeDocument/2006/relationships/notesSlide" Target="/ppt/notesSlides/notesSlide2.xml" Id="Re260e3f091f64e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5cf8276c84931" /><Relationship Type="http://schemas.openxmlformats.org/officeDocument/2006/relationships/notesSlide" Target="/ppt/notesSlides/notesSlide3.xml" Id="R540904b8efaf4b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9fb7c23944d27" /><Relationship Type="http://schemas.openxmlformats.org/officeDocument/2006/relationships/image" Target="/ppt/media/image.png" Id="Red425f03e3d244cc" /><Relationship Type="http://schemas.openxmlformats.org/officeDocument/2006/relationships/notesSlide" Target="/ppt/notesSlides/notesSlide4.xml" Id="Rb4c93db425d742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4a035c2354496" /><Relationship Type="http://schemas.openxmlformats.org/officeDocument/2006/relationships/image" Target="/ppt/media/image2.png" Id="Rd8421f82b78e4c28" /><Relationship Type="http://schemas.openxmlformats.org/officeDocument/2006/relationships/notesSlide" Target="/ppt/notesSlides/notesSlide5.xml" Id="R23a77f1988c44f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ab8d0ee904a84" /><Relationship Type="http://schemas.openxmlformats.org/officeDocument/2006/relationships/image" Target="/ppt/media/image3.png" Id="R76abaaf8ccef4fcf" /><Relationship Type="http://schemas.openxmlformats.org/officeDocument/2006/relationships/notesSlide" Target="/ppt/notesSlides/notesSlide6.xml" Id="R203380780e3a44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903dd8b4b41d9" /><Relationship Type="http://schemas.openxmlformats.org/officeDocument/2006/relationships/notesSlide" Target="/ppt/notesSlides/notesSlide7.xml" Id="R81decf62308e4c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306ec4faa4e30" /><Relationship Type="http://schemas.openxmlformats.org/officeDocument/2006/relationships/image" Target="/ppt/media/image4.png" Id="R55e24fdd94d34bae" /><Relationship Type="http://schemas.openxmlformats.org/officeDocument/2006/relationships/notesSlide" Target="/ppt/notesSlides/notesSlide8.xml" Id="Rc10ae3b7753f42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861e81ba7402d" /><Relationship Type="http://schemas.openxmlformats.org/officeDocument/2006/relationships/notesSlide" Target="/ppt/notesSlides/notesSlide9.xml" Id="R9531b1f593b544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a2fe77b994902" /><Relationship Type="http://schemas.openxmlformats.org/officeDocument/2006/relationships/image" Target="/ppt/media/image5.png" Id="R058359528f8e4210" /><Relationship Type="http://schemas.openxmlformats.org/officeDocument/2006/relationships/notesSlide" Target="/ppt/notesSlides/notesSlide10.xml" Id="Rd061665c026349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abaa13ac1487a" /><Relationship Type="http://schemas.openxmlformats.org/officeDocument/2006/relationships/notesSlide" Target="/ppt/notesSlides/notesSlide11.xml" Id="Rf695382a8e6d4d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7ee2682e843b7" /><Relationship Type="http://schemas.openxmlformats.org/officeDocument/2006/relationships/notesSlide" Target="/ppt/notesSlides/notesSlide12.xml" Id="R7873c2f4fb8e4e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e384783a247ca" /><Relationship Type="http://schemas.openxmlformats.org/officeDocument/2006/relationships/notesSlide" Target="/ppt/notesSlides/notesSlide13.xml" Id="Rfb9da267800748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4d27d23a3457f" /><Relationship Type="http://schemas.openxmlformats.org/officeDocument/2006/relationships/image" Target="/ppt/media/image6.png" Id="R99f87225d7914834" /><Relationship Type="http://schemas.openxmlformats.org/officeDocument/2006/relationships/image" Target="/ppt/media/image7.png" Id="R3998ec5694ca41d3" /><Relationship Type="http://schemas.openxmlformats.org/officeDocument/2006/relationships/image" Target="/ppt/media/image8.png" Id="Rd2cc1acd7b464688" /><Relationship Type="http://schemas.openxmlformats.org/officeDocument/2006/relationships/notesSlide" Target="/ppt/notesSlides/notesSlide14.xml" Id="Radb33daa6d2a4d3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929eb5b4446b3" /><Relationship Type="http://schemas.openxmlformats.org/officeDocument/2006/relationships/notesSlide" Target="/ppt/notesSlides/notesSlide15.xml" Id="Rb73a8394fac04bb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6e7f054434dcf" /><Relationship Type="http://schemas.openxmlformats.org/officeDocument/2006/relationships/notesSlide" Target="/ppt/notesSlides/notesSlide16.xml" Id="R36d8219893fc413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9fa970764498a" /><Relationship Type="http://schemas.openxmlformats.org/officeDocument/2006/relationships/notesSlide" Target="/ppt/notesSlides/notesSlide17.xml" Id="R4ce77195379942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3A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9A04DCE-2C35-46FC-B1A0-27458F45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355" y="1358950"/>
            <a:ext cx="3885289" cy="638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spcAft>
                <a:spcPts val="1200"/>
              </a:spcAft>
              <a:buNone/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面试汇报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68CF91-125A-4C02-BA1E-87F829BA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50" y="2149525"/>
            <a:ext cx="101590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8B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04EFD21-8572-43F3-967F-681B67BD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355" y="2441525"/>
            <a:ext cx="3885289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spcAft>
                <a:spcPts val="3000"/>
              </a:spcAft>
              <a:buNone/>
            </a:pPr>
            <a:r>
              <a:rPr sz="2000">
                <a:solidFill>
                  <a:srgbClr val="8BCACA"/>
                </a:solidFill>
                <a:latin typeface="Arial"/>
                <a:ea typeface="Arial"/>
                <a:cs typeface="Arial"/>
              </a:rPr>
              <a:t>检索增强生成与大模型智能体训练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667EFA1-5C33-456A-8310-9B9C0E71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355" y="3174950"/>
            <a:ext cx="3885289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sz="1300">
                <a:solidFill>
                  <a:srgbClr val="C8D8E8"/>
                </a:solidFill>
                <a:latin typeface="Arial"/>
                <a:ea typeface="Arial"/>
                <a:cs typeface="Arial"/>
              </a:rPr>
              <a:t>孙鑫 | 中国科学技术大学 / 中国科学院自动化研究所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AEE0E68-3A11-4606-8271-27AAD1BB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355" y="3479750"/>
            <a:ext cx="3885289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sz="1300">
                <a:solidFill>
                  <a:srgbClr val="C8D8E8"/>
                </a:solidFill>
                <a:latin typeface="Arial"/>
                <a:ea typeface="Arial"/>
                <a:cs typeface="Arial"/>
              </a:rPr>
              <a:t>导师：王亮 教授（IEEE Fellow）、刘强 副研究员</a:t>
            </a:r>
          </a:p>
        </p:txBody>
      </p:sp>
    </p:spTree>
    <p:extLst>
      <p:ext uri="{BB962C8B-B14F-4D97-AF65-F5344CB8AC3E}">
        <p14:creationId xmlns:p14="http://schemas.microsoft.com/office/powerpoint/2010/main" val="3355968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402C4A2-DB83-48C1-8155-216CC5DF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EB788A6-9A8A-4E1B-9F8C-5164CD3C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228600"/>
            <a:ext cx="8290661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个人简介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EC263ED-9E5E-4F95-BFCC-9B74F584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1139726"/>
            <a:ext cx="4015841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1000"/>
              </a:spcAft>
              <a:buNone/>
            </a:pPr>
            <a:r>
              <a:rPr sz="16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教育背景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9E44BFA-B33F-4E48-803D-896F62DF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1552426"/>
            <a:ext cx="4015841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1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博士</a:t>
            </a:r>
            <a:r>
              <a:rPr sz="1100">
                <a:solidFill>
                  <a:srgbClr val="333333"/>
                </a:solidFill>
                <a:latin typeface="Arial"/>
                <a:ea typeface="Arial"/>
                <a:cs typeface="Arial"/>
              </a:rPr>
              <a:t>（2022-2027）中国科学技术大学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FA17A81-D8BD-487A-BEA0-F8C56BD5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1812727"/>
            <a:ext cx="4015841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100">
                <a:solidFill>
                  <a:srgbClr val="333333"/>
                </a:solidFill>
                <a:latin typeface="Arial"/>
                <a:ea typeface="Arial"/>
                <a:cs typeface="Arial"/>
              </a:rPr>
              <a:t>控制科学与工程，中科院自动化所 NLPR 联合培养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83E3886-C612-4BA0-889B-8E11260F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2073027"/>
            <a:ext cx="4015841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1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本科</a:t>
            </a:r>
            <a:r>
              <a:rPr sz="1100">
                <a:solidFill>
                  <a:srgbClr val="333333"/>
                </a:solidFill>
                <a:latin typeface="Arial"/>
                <a:ea typeface="Arial"/>
                <a:cs typeface="Arial"/>
              </a:rPr>
              <a:t>（2018-2022）上海交通大学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CA9497D-83F9-4005-A8CB-71FE46F2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2333327"/>
            <a:ext cx="4015841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100">
                <a:solidFill>
                  <a:srgbClr val="333333"/>
                </a:solidFill>
                <a:latin typeface="Arial"/>
                <a:ea typeface="Arial"/>
                <a:cs typeface="Arial"/>
              </a:rPr>
              <a:t>计算机科学与技术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A6B457B-ABA2-4ADF-B1EB-9F8064A1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2593628"/>
            <a:ext cx="4015841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1000"/>
              </a:spcAft>
              <a:buNone/>
            </a:pPr>
            <a:r>
              <a:rPr sz="16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荣誉奖项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09B3D18-C773-45BB-9877-2CFD3C65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3006328"/>
            <a:ext cx="4015841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100">
                <a:solidFill>
                  <a:srgbClr val="333333"/>
                </a:solidFill>
                <a:latin typeface="Arial"/>
                <a:ea typeface="Arial"/>
                <a:cs typeface="Arial"/>
              </a:rPr>
              <a:t>研究生国家奖学金（2024）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E677A3F-9723-4921-A990-4A66E098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3266629"/>
            <a:ext cx="4015841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100">
                <a:solidFill>
                  <a:srgbClr val="333333"/>
                </a:solidFill>
                <a:latin typeface="Arial"/>
                <a:ea typeface="Arial"/>
                <a:cs typeface="Arial"/>
              </a:rPr>
              <a:t>一等学业奖学金（2022-2025，连续三年）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A1FE6CA-38D9-4346-80E2-F9D2A41D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3526929"/>
            <a:ext cx="4015841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100">
                <a:solidFill>
                  <a:srgbClr val="333333"/>
                </a:solidFill>
                <a:latin typeface="Arial"/>
                <a:ea typeface="Arial"/>
                <a:cs typeface="Arial"/>
              </a:rPr>
              <a:t>国家励志奖学金（2019-2022）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562851B-E55C-4E1D-94DF-503E83B0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8950" y="1139726"/>
            <a:ext cx="4015841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1000"/>
              </a:spcAft>
              <a:buNone/>
            </a:pPr>
            <a:r>
              <a:rPr sz="16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研究方向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B65A691-FC75-473C-8C3D-6E568E0E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8950" y="1552426"/>
            <a:ext cx="3937099" cy="72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A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D017063-3669-428A-A822-BBD2E5B5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763" y="1552426"/>
            <a:ext cx="0" cy="727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8B8B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AF58A7F-19D6-4A71-9C74-4E785BCA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975" y="1704826"/>
            <a:ext cx="365636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400"/>
              </a:spcAft>
              <a:buNone/>
            </a:pPr>
            <a:r>
              <a:rPr sz="1100" b="1">
                <a:solidFill>
                  <a:srgbClr val="2E8B8B"/>
                </a:solidFill>
                <a:latin typeface="Arial"/>
                <a:ea typeface="Arial"/>
                <a:cs typeface="Arial"/>
              </a:rPr>
              <a:t>RAG &amp; Deep Search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4E63824-514C-4667-BBB7-2C434ED8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975" y="1907977"/>
            <a:ext cx="3656368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sz="1000">
                <a:solidFill>
                  <a:srgbClr val="333333"/>
                </a:solidFill>
                <a:latin typeface="Arial"/>
                <a:ea typeface="Arial"/>
                <a:cs typeface="Arial"/>
              </a:rPr>
              <a:t>构建可靠、自适应的检索增强系统，迈向自主深度研究智能体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5FB8833-8C87-4669-BBD7-E1768273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8950" y="2380952"/>
            <a:ext cx="3937099" cy="9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A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1CCF0B4-209F-461A-9135-AD4AD2D4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763" y="2380952"/>
            <a:ext cx="0" cy="90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8B8B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465986A-55F8-4476-BE2C-2B546DCF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975" y="2533352"/>
            <a:ext cx="365636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400"/>
              </a:spcAft>
              <a:buNone/>
            </a:pPr>
            <a:r>
              <a:rPr sz="1100" b="1">
                <a:solidFill>
                  <a:srgbClr val="2E8B8B"/>
                </a:solidFill>
                <a:latin typeface="Arial"/>
                <a:ea typeface="Arial"/>
                <a:cs typeface="Arial"/>
              </a:rPr>
              <a:t>LLM Agent Training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289B0B4-C20F-4ACC-B5CE-80C73BDE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975" y="2736503"/>
            <a:ext cx="3656368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sz="1000">
                <a:solidFill>
                  <a:srgbClr val="333333"/>
                </a:solidFill>
                <a:latin typeface="Arial"/>
                <a:ea typeface="Arial"/>
                <a:cs typeface="Arial"/>
              </a:rPr>
              <a:t>通过 RL 后训练赋予 LLM 多轮探索、工具调用、环境反馈学习能力</a:t>
            </a:r>
          </a:p>
        </p:txBody>
      </p:sp>
    </p:spTree>
    <p:extLst>
      <p:ext uri="{BB962C8B-B14F-4D97-AF65-F5344CB8AC3E}">
        <p14:creationId xmlns:p14="http://schemas.microsoft.com/office/powerpoint/2010/main" val="7188091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65316AE-FC14-420E-830E-94375E73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CE170EB-0D5F-447D-9C8C-6A85F6DE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152400"/>
            <a:ext cx="829066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研究成果总览（13 篇，一作/共一 9 篇）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6630897-7DA4-4380-9D90-4D6439EB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50" y="834926"/>
            <a:ext cx="4261917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600"/>
              </a:spcBef>
              <a:spcAft>
                <a:spcPts val="400"/>
              </a:spcAft>
              <a:buNone/>
            </a:pPr>
            <a:r>
              <a:rPr sz="11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一作 / 共同一作（9 篇）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BFAAE97-5F6F-40B2-A26C-0B535C96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50" y="1085701"/>
            <a:ext cx="4178350" cy="228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A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C8E2925-CEBE-4CC5-BED7-7D15BBC7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975" y="1085701"/>
            <a:ext cx="0" cy="2283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8B8B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AF0F9FC-51AC-4A13-8A92-1B240E5D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00" y="1123652"/>
            <a:ext cx="408703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8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[1] KBQA-R1 — ICML 2026 录用（CCF-A）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974201F-A428-47B7-9E97-4836EE98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50" y="1339304"/>
            <a:ext cx="4178350" cy="1902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A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553EB52-88DC-490D-AC82-A91D70BA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975" y="1339304"/>
            <a:ext cx="0" cy="1902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8B8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B7CB221-BF85-4F7C-8786-2A7319AF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00" y="1377255"/>
            <a:ext cx="4087038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8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[2] GAPD — EMNLP 2026 投稿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B51AD73-B85D-44E8-A0BC-40825D34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50" y="1554807"/>
            <a:ext cx="4178350" cy="1902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A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8F77657-B59F-41DE-AE27-F3C2BE1C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975" y="1554807"/>
            <a:ext cx="0" cy="1902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8B8B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3212E7E-6D6E-4E18-8E71-E62E5E27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00" y="1592759"/>
            <a:ext cx="4087038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8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[3-4] EviSD / HopRefusalBench — AAAI 2027 投稿（共同一作）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22E1BFA-CD42-4C42-826F-0D4BECF4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50" y="1808262"/>
            <a:ext cx="4106469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8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[5-6] Divide-Then-Align / TTARAG — ACL / ICASSP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78C5C36-72F1-414D-AED7-1CC976CA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50" y="2061865"/>
            <a:ext cx="4106469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8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[7-9] DIVE / Noise-Robust / Uncertainty — KDD / EMNLP / TKDE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C442BCE-463E-4A5C-9D5A-3ACAC4C1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50" y="2328416"/>
            <a:ext cx="4261917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600"/>
              </a:spcBef>
              <a:spcAft>
                <a:spcPts val="400"/>
              </a:spcAft>
              <a:buNone/>
            </a:pPr>
            <a:r>
              <a:rPr sz="11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学术服务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8101E9D-C94E-479F-9FC6-4A148471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50" y="2617143"/>
            <a:ext cx="4106469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审稿：ICML, NeurIPS, ACL, EMNLP, KDD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AF92B49-FB57-4C77-B125-3E136A5F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834926"/>
            <a:ext cx="4261917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600"/>
              </a:spcBef>
              <a:spcAft>
                <a:spcPts val="400"/>
              </a:spcAft>
              <a:buNone/>
            </a:pPr>
            <a:r>
              <a:rPr sz="11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合作论文（4 篇）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CADC8ED-BE95-4BCA-A950-8CF86B95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085701"/>
            <a:ext cx="4178350" cy="228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A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F178E75-7CDB-47F7-ABDC-140307C3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085701"/>
            <a:ext cx="0" cy="2283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8B8B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C1EC190-1883-4C8A-AA6E-37F60AB1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123652"/>
            <a:ext cx="408703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8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[10] ToolWeaver — ICLR 2026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8C0B516-FA82-4551-9DF9-C31847B3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339304"/>
            <a:ext cx="4178350" cy="228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A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64BE491-9430-48B5-AEF4-5372F3C6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339304"/>
            <a:ext cx="0" cy="2283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8B8B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1BF4741-3D03-45FD-BD7F-8B5B1DB0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377255"/>
            <a:ext cx="408703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8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[11] Multimodal Adaptive RAG — IJCNN 2026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ED86ABE-0FE3-45E6-8D50-274687E5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592907"/>
            <a:ext cx="4178350" cy="228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A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F62AE38-2E6D-4B6F-96E2-29330181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592907"/>
            <a:ext cx="0" cy="2283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8B8B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5AE3B4F-4325-4D59-991C-76EEE424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30859"/>
            <a:ext cx="408703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8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[12] Pin-Tuning — NeurIPS 2024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EDA0A20-4F20-47FA-A0DC-00E3F782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84462"/>
            <a:ext cx="4106469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8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[13] GSLB — NeurIPS 2023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F0BDD04-16D4-419F-8A80-36019E32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99965"/>
            <a:ext cx="4106469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8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arXiv:2608.01359 / 2608.01358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B099823-80D0-4930-8B45-4D554F9E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28416"/>
            <a:ext cx="4261917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600"/>
              </a:spcBef>
              <a:spcAft>
                <a:spcPts val="400"/>
              </a:spcAft>
              <a:buNone/>
            </a:pPr>
            <a:r>
              <a:rPr sz="11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荣誉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B4E0E94-1B65-4D51-BFC5-6D841809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17143"/>
            <a:ext cx="4106469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国家奖学金 (2024)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6C67617C-B95B-4A91-B22E-2CD7345E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70746"/>
            <a:ext cx="4106469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一等学业奖学金 (2022-2025)</a:t>
            </a:r>
          </a:p>
        </p:txBody>
      </p:sp>
    </p:spTree>
    <p:extLst>
      <p:ext uri="{BB962C8B-B14F-4D97-AF65-F5344CB8AC3E}">
        <p14:creationId xmlns:p14="http://schemas.microsoft.com/office/powerpoint/2010/main" val="5622513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12A61E6-6F58-4E11-8ACA-5F167D80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411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62A0F2A-F588-4799-9E2B-1B4C9613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177701"/>
            <a:ext cx="8290661" cy="295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Divide-Then-Align (ACL 2025)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4B106E1-4CBA-4159-BDA2-99508E0A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511076"/>
            <a:ext cx="8290661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300"/>
              </a:spcBef>
              <a:buNone/>
            </a:pPr>
            <a:r>
              <a:rPr sz="1100">
                <a:solidFill>
                  <a:srgbClr val="8BCACA"/>
                </a:solidFill>
                <a:latin typeface="Arial"/>
                <a:ea typeface="Arial"/>
                <a:cs typeface="Arial"/>
              </a:rPr>
              <a:t>Honest Alignment based on the Knowledge Boundary of RAG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796E966-2845-4224-87D3-B4F81A96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3577"/>
            <a:ext cx="4184193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600"/>
              </a:spcAft>
              <a:buNone/>
            </a:pPr>
            <a:r>
              <a:rPr sz="14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问题：RAG 不知何时该拒答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B282C73-BE11-446B-8D0A-76847829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7427"/>
            <a:ext cx="4184193" cy="3554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000">
                <a:solidFill>
                  <a:srgbClr val="333333"/>
                </a:solidFill>
                <a:latin typeface="Arial"/>
                <a:ea typeface="Arial"/>
                <a:cs typeface="Arial"/>
              </a:rPr>
              <a:t>RAFT 等方法即使检索全是噪声、模型自身也不具备知识时，仍强行生成答案，无法回答"I don't know"。这在医疗、法律等高风险场景极其危险。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84AD948-C14B-4B55-A875-8B9B51F8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49028"/>
            <a:ext cx="4102150" cy="6170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6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BB60EBA-2410-41D9-A63E-61AA292E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3" y="1749028"/>
            <a:ext cx="0" cy="6170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6F51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47C27B2-290F-4B16-A0FF-681FBE8E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26" y="1888629"/>
            <a:ext cx="3928554" cy="337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现有工作要么只考虑模型参数知识边界，要么只考虑检索知识边界，从未同时考虑两者。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42E432E-1F34-4112-83E3-1AC7DC03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42270"/>
            <a:ext cx="4184193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600"/>
              </a:spcAft>
              <a:buNone/>
            </a:pPr>
            <a:r>
              <a:rPr sz="14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核心思路：四象限知识边界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C39F1AA-B8A9-498D-B800-FD483993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66120"/>
            <a:ext cx="4102150" cy="10334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A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AE9059A-5269-4778-857C-F8BCB64C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3" y="2766120"/>
            <a:ext cx="0" cy="10334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8B8B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81D8F09-369D-4138-B17F-9AB1FB5A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26" y="2905720"/>
            <a:ext cx="3928554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KB_param：</a:t>
            </a: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模型无检索时能正确回答的查询集合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806F392-CD25-4439-8B63-50384848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26" y="3103811"/>
            <a:ext cx="3928554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KB_r：</a:t>
            </a: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检索段落中包含正确答案的查询集合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7FCEB22-1F23-442B-B2FB-ECC0DE52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26" y="3301901"/>
            <a:ext cx="3928554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KB_rag = KB_param U KB_r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336F68D-A9B0-4F6B-BD99-75EF623D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26" y="3499991"/>
            <a:ext cx="3928554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四象限：双知 / 仅参数知 / 仅检索知 / 双不知(→IDK)</a:t>
            </a:r>
          </a:p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25f03e3d244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14950" y="1902172"/>
            <a:ext cx="2793950" cy="218033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9799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ABC92C8-C82A-4CF8-A034-DD84D336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078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2CD2C99-48C8-4967-B96D-6194B80D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177701"/>
            <a:ext cx="829066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Divide-Then-Align: 训练与结果</a:t>
            </a:r>
          </a:p>
        </p:txBody>
      </p:sp>
      <p:pic>
        <p:nvPicPr>
          <p:cNvPr id="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21f82b78e4c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7500" y="1991469"/>
            <a:ext cx="3429000" cy="1868239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13D50D4-620D-4961-89CC-E902B843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0850" y="834777"/>
            <a:ext cx="418419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600"/>
              </a:spcAft>
              <a:buNone/>
            </a:pPr>
            <a:r>
              <a:rPr sz="13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训练方法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5E57348-8592-4FE4-B3D4-64432A8E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0850" y="1139577"/>
            <a:ext cx="4102150" cy="944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A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9621310-3489-4CA7-B60A-F54C9D9E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900" y="1139577"/>
            <a:ext cx="0" cy="9441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8B8B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90C9E0D-284D-4101-BA2C-F772C33C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801" y="1253728"/>
            <a:ext cx="3964076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L = L_DPO + beta * L_SFT + gamma * L_class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B234945-EBBC-4EF9-B583-D49B5E38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801" y="1439019"/>
            <a:ext cx="3964076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DPO：</a:t>
            </a: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四象限构建不同偏好对（双不知: IDK 为 chosen）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F85B226-7B65-4323-921C-297EAA2A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801" y="1624310"/>
            <a:ext cx="3964076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SFT：</a:t>
            </a: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对 chosen response 监督微调，防止 DPO 退化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A29C2BF-0AB3-40DD-B5EF-283BF476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801" y="1809601"/>
            <a:ext cx="3964076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分类辅助：</a:t>
            </a: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value head 预测查询属于哪个象限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990BEC2-B3B1-47F9-A8B3-93A8DF4E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0850" y="2147143"/>
            <a:ext cx="418419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600"/>
              </a:spcAft>
              <a:buNone/>
            </a:pPr>
            <a:r>
              <a:rPr sz="13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实验结果（NQ/TriviaQA/WebQ）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96C41543-A5CD-46F8-AA91-E992BBCF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0850" y="2451943"/>
            <a:ext cx="4102150" cy="75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A625DE01-7F52-4581-9FB3-FBB48502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900" y="2451943"/>
            <a:ext cx="0" cy="75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D32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DC3547D-1821-4636-9CD8-5BB36725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801" y="2566095"/>
            <a:ext cx="3964076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总体准确率比最强 baseline 提升 10-20 个百分点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1926B09E-EBF8-4942-AD44-88C21B5A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801" y="2751386"/>
            <a:ext cx="3964076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Abstain F1 大幅领先（baseline 几乎为 0）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B3DE8049-CD32-4D6D-99B2-2ABBFB23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801" y="2936677"/>
            <a:ext cx="3964076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LLaMA-2-7B/13B、LLaMA-3-8B 上均有效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8DB2D43-28DD-4014-9291-7AED2B50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0850" y="3287018"/>
            <a:ext cx="4102150" cy="330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6476A54-A6A2-4902-B1A2-58E86ABD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318" y="3363218"/>
            <a:ext cx="3925214" cy="1777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ACL 2025 Main Conference (CCF-A)</a:t>
            </a:r>
          </a:p>
        </p:txBody>
      </p:sp>
    </p:spTree>
    <p:extLst>
      <p:ext uri="{BB962C8B-B14F-4D97-AF65-F5344CB8AC3E}">
        <p14:creationId xmlns:p14="http://schemas.microsoft.com/office/powerpoint/2010/main" val="4575257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CC8AC00-AE1F-41E2-BEDB-275F1750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411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A85587-FCA5-4BBA-8A01-5E976D5F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177701"/>
            <a:ext cx="8290661" cy="295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TTARAG: Predict the Retrieval! (ICASSP 2026)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235D8D2-DEC0-4DBE-B7A7-81BECA5D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511076"/>
            <a:ext cx="8290661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300"/>
              </a:spcBef>
              <a:buNone/>
            </a:pPr>
            <a:r>
              <a:rPr sz="1100">
                <a:solidFill>
                  <a:srgbClr val="8BCACA"/>
                </a:solidFill>
                <a:latin typeface="Arial"/>
                <a:ea typeface="Arial"/>
                <a:cs typeface="Arial"/>
              </a:rPr>
              <a:t>Test Time Adaptation for Retrieval Augmented Generation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C89C99D-DE78-49A7-89A3-3E7A732D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3577"/>
            <a:ext cx="464917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600"/>
              </a:spcAft>
              <a:buNone/>
            </a:pPr>
            <a:r>
              <a:rPr sz="13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问题：RAG 在专业领域的分布偏移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3AB2132-EF99-4F30-B939-0CA18257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98377"/>
            <a:ext cx="4649170" cy="337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RAG 系统在通用领域有效，但面对专业领域（金融、医疗等）的分布偏移时泛化性能下降。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C733E7-5A4F-4112-B71B-379EFE38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99617"/>
            <a:ext cx="4558010" cy="13147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A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50FFACF-F587-4DB0-A4C4-1A4A4511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9617"/>
            <a:ext cx="0" cy="13147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8B8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2F2F4EF-2AF6-47EA-9010-07EB3798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1813768"/>
            <a:ext cx="4429054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TTARAG 方法：</a:t>
            </a: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推理时自监督域适应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17DBC14-0A73-4980-9F7E-AAE75123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1999059"/>
            <a:ext cx="4429054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1. 将检索 passages 按标点切分为 prefix-suffix 对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358AF2A-AA76-47B6-AFB5-353C16E9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2184350"/>
            <a:ext cx="4429054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2. 自监督目标：给定 query+prefix，预测 suffix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7DB468F-0546-4BC6-9951-1FD9BB2F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2369641"/>
            <a:ext cx="4429054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3. L = -sum log P(suffix | prefix, query; theta)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FCE438D-F6DA-44DE-9E63-1EBEBFD8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2554932"/>
            <a:ext cx="4429054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4. 用 AdamW 更新全部参数（仅 3 对即可）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345E5F3-4F58-4BCB-9273-F9173D56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2740223"/>
            <a:ext cx="4429054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5. 用适应后的模型生成最终答案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182725-B94C-45C4-B0CD-862EB6BF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77766"/>
            <a:ext cx="4558010" cy="75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D30FA38-7661-4370-B236-77865838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77766"/>
            <a:ext cx="0" cy="75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D32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342E1CD-9593-4325-8E85-F787347E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3191917"/>
            <a:ext cx="4429054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CRAG（5 领域）+ 医疗（BioASQ/PubMedQA）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DF07022-9C9B-4F1F-92EE-08A6C190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3377208"/>
            <a:ext cx="4429054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24 个设置中 19 个最佳；医疗领域最高 +25.0%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D933435-C6AE-47ED-80F7-4472B02F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3562499"/>
            <a:ext cx="4429054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LLaMA-3.1-8B / LLaMA-2-7B / ChatGLM-3-6B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85E1C17-0404-4B0C-A30B-1C6D99D9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00041"/>
            <a:ext cx="4558010" cy="330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1B94CF2-2931-4DB7-AB21-2C7CFDEB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909" y="3976241"/>
            <a:ext cx="4390192" cy="1777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ICASSP 2026 (CCF-B) | 一作</a:t>
            </a:r>
          </a:p>
        </p:txBody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baaf8ccef4f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79405" y="1955602"/>
            <a:ext cx="2920901" cy="2073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089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06845A4-45C0-4865-BA44-1D0FC296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349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9FA5FA-D2B6-4667-8916-D9406D80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203150"/>
            <a:ext cx="8290661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KBQA-R1: 问题与动机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9BB8CFA-7D6C-424A-9A39-04502096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631775"/>
            <a:ext cx="8290661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300"/>
              </a:spcBef>
              <a:buNone/>
            </a:pPr>
            <a:r>
              <a:rPr sz="1100">
                <a:solidFill>
                  <a:srgbClr val="8BCACA"/>
                </a:solidFill>
                <a:latin typeface="Arial"/>
                <a:ea typeface="Arial"/>
                <a:cs typeface="Arial"/>
              </a:rPr>
              <a:t>Reinforcing LLMs for Knowledge Base Question Answering | ICML 2026（已录用，CCF-A）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897F787-B05D-4693-A646-2FA04A8B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2652"/>
            <a:ext cx="8394192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800"/>
              </a:spcAft>
              <a:buNone/>
            </a:pPr>
            <a:r>
              <a:rPr sz="15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现有 KBQA 方法的三类局限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37A929-F724-4150-B26B-FF506245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01" y="1580852"/>
            <a:ext cx="2616398" cy="12543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5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24874DB-E79F-4EFC-8439-A4A0555C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01" y="1599902"/>
            <a:ext cx="26163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5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CB87E07-4583-4630-A37A-9F209C6D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551" y="1745903"/>
            <a:ext cx="240974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500"/>
              </a:spcAft>
              <a:buNone/>
            </a:pPr>
            <a:r>
              <a:rPr sz="11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End-to-End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10D67A9-0CC1-4C43-8E60-FB7EF241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551" y="1961704"/>
            <a:ext cx="2409748" cy="148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KB-BINDER, ChatKBQA 等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29F70DA-D95B-41E5-9074-88A9B2D4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551" y="2148334"/>
            <a:ext cx="2409748" cy="148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一次性生成完整逻辑形式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A42A990-9768-470C-86D2-C7979AF1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551" y="2334964"/>
            <a:ext cx="2409748" cy="148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无法验证 schema 元素是否存在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4F17EB8-D7EF-48A2-9470-412889C6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551" y="2521595"/>
            <a:ext cx="2409748" cy="148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→ Schema 幻觉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2436499-8331-474E-AACB-CBC6DA9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801" y="1580852"/>
            <a:ext cx="2616398" cy="12543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5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E66A3F4-0EA0-4907-9360-96CC724D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801" y="1599902"/>
            <a:ext cx="26163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51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EAA154E-E46B-4BAE-8F0F-C312A1A9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751" y="1745903"/>
            <a:ext cx="240974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500"/>
              </a:spcAft>
              <a:buNone/>
            </a:pPr>
            <a:r>
              <a:rPr sz="11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Prompting Step-by-Step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55631B1-A4D9-4876-9CE1-EB251414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751" y="1961704"/>
            <a:ext cx="2409748" cy="148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ToG, RoG 等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C6C280C-0448-4BD7-BD99-A4F3534A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751" y="2148334"/>
            <a:ext cx="2409748" cy="148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依赖商业大模型 few-shot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8725C46-5873-4972-835C-E5DEB2F0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751" y="2334964"/>
            <a:ext cx="2409748" cy="148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缺乏任务特定训练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5F811E1-DEBD-4D70-8253-6F2C8CF0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751" y="2521595"/>
            <a:ext cx="2409748" cy="148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→ 领域泛化不足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001E974-065C-4AB3-95D0-F60553BC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001" y="1580852"/>
            <a:ext cx="2616398" cy="12543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5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A80AA17-175B-4757-94F3-6B536D57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001" y="1599902"/>
            <a:ext cx="26163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51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7D88420-9194-4C98-97D2-217177FB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951" y="1745903"/>
            <a:ext cx="240974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500"/>
              </a:spcAft>
              <a:buNone/>
            </a:pPr>
            <a:r>
              <a:rPr sz="11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Supervised Agent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0DB8A86-EDE3-405F-A819-A844644F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951" y="1961704"/>
            <a:ext cx="2409748" cy="148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KBQA-o1 (MCTS) 等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2768666-A66D-4CAE-AB7F-E5850182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951" y="2148334"/>
            <a:ext cx="2409748" cy="148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在模板合成轨迹上微调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9EC5A7B-46E7-40CF-90E3-6D428886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951" y="2334964"/>
            <a:ext cx="2409748" cy="148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Thought 是模板宣告而非真正分析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C4782F6-C403-4E36-9C66-78C6756F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951" y="2521595"/>
            <a:ext cx="2409748" cy="148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→ 浅层推理，泛化差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30889AF-F471-4E8C-806C-77CF4447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62126"/>
            <a:ext cx="8229600" cy="5110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C4DE03FC-AF34-480D-B21D-C72FF519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" y="2962126"/>
            <a:ext cx="0" cy="5110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D32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07A3867-F82C-430F-B463-DA9915B4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75" y="3127177"/>
            <a:ext cx="8086636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KBQA-R1：</a:t>
            </a:r>
            <a:r>
              <a:rPr sz="1000">
                <a:solidFill>
                  <a:srgbClr val="333333"/>
                </a:solidFill>
                <a:latin typeface="Arial"/>
                <a:ea typeface="Arial"/>
                <a:cs typeface="Arial"/>
              </a:rPr>
              <a:t>从"文本模仿"转向"交互优化"——将 KBQA 建模为多轮 MDP，通过 RL 让模型在与 KB 的闭环交互中学会自适应推理</a:t>
            </a:r>
          </a:p>
        </p:txBody>
      </p:sp>
    </p:spTree>
    <p:extLst>
      <p:ext uri="{BB962C8B-B14F-4D97-AF65-F5344CB8AC3E}">
        <p14:creationId xmlns:p14="http://schemas.microsoft.com/office/powerpoint/2010/main" val="19622975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33FBA99-E48D-402E-9663-55756126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078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AC2A54A-6483-4616-998D-04CF06ED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177701"/>
            <a:ext cx="829066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KBQA-R1: 整体框架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AE08AF7-086B-4729-B02D-F32DFA7D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4027"/>
            <a:ext cx="362266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400"/>
              </a:spcAft>
              <a:buNone/>
            </a:pPr>
            <a:r>
              <a:rPr sz="13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Multi-turn Think → Action → Information 循环</a:t>
            </a:r>
          </a:p>
        </p:txBody>
      </p:sp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24fdd94d34b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5000" y="1063377"/>
            <a:ext cx="5334000" cy="3353693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F8A8041-16F1-4E79-A604-2034D5FB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67820"/>
            <a:ext cx="8382000" cy="48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A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5045AD7-E4BC-4398-ACF0-1F0DC131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3" y="4467820"/>
            <a:ext cx="0" cy="4886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A3A5C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8DB3C28-148A-47AF-910D-689C6F91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326" y="4543871"/>
            <a:ext cx="8138553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9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核心流程：</a:t>
            </a: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给定问题 → LLM 推理（Think）→ 选择原子动作（Action）→ 知识库返回结果（Information）→ 循环直至输出最终答案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A257926-2152-4504-8A92-886C237F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326" y="4718447"/>
            <a:ext cx="8138553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9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RRCG 模块：</a:t>
            </a: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每步验证 LLM 提出的关系是否在 KB schema 中存在，防止幻觉</a:t>
            </a:r>
          </a:p>
        </p:txBody>
      </p:sp>
    </p:spTree>
    <p:extLst>
      <p:ext uri="{BB962C8B-B14F-4D97-AF65-F5344CB8AC3E}">
        <p14:creationId xmlns:p14="http://schemas.microsoft.com/office/powerpoint/2010/main" val="10699316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056C98F-29D6-416B-882C-5680C2C2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96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F25D6BD-271A-4EAA-AFF5-7D9EEC8A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203150"/>
            <a:ext cx="8290661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KBQA-R1: Action Space 设计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2BE8014-B0CB-4EBE-BB63-C64FF88B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4527"/>
            <a:ext cx="8394192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800"/>
              </a:spcAft>
              <a:buNone/>
            </a:pPr>
            <a:r>
              <a:rPr sz="14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将逻辑形式构建分解为原子操作序列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92BCC3E-ADE0-4AF9-92C8-DB99803C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677"/>
            <a:ext cx="8394192" cy="1649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000">
                <a:solidFill>
                  <a:srgbClr val="333333"/>
                </a:solidFill>
                <a:latin typeface="Arial"/>
                <a:ea typeface="Arial"/>
                <a:cs typeface="Arial"/>
              </a:rPr>
              <a:t>不再一次性生成完整 S-Expression，而是逐步构建、逐步验证：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19FF922-3B23-422C-A702-99598A46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4630"/>
            <a:ext cx="1599902" cy="317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B8607BD-DC99-49A1-99FA-E40E0D89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01" y="1640830"/>
            <a:ext cx="813218" cy="1649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00"/>
              </a:lnSpc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Find_relation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D9A0517-7E71-4D64-8ADA-F5639646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853" y="1564630"/>
            <a:ext cx="6578947" cy="317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CE67FE1-CA75-4249-A8C9-7A8DC69B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354" y="1649016"/>
            <a:ext cx="2183103" cy="148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70"/>
              </a:lnSpc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从实体沿关系扩展 → JOIN(relation, entity)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3F41D87-86E4-45D2-99C4-8552FB5B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3284"/>
            <a:ext cx="1599902" cy="317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2D5E6A-1F2C-4C50-91C5-71939EC8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01" y="2059484"/>
            <a:ext cx="381485" cy="1649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00"/>
              </a:lnSpc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Merge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E869BE1-C080-49AC-A038-9F944889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853" y="1983284"/>
            <a:ext cx="6578947" cy="317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5EEC57B-16A1-49AD-9A30-A0F7F52D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354" y="2067669"/>
            <a:ext cx="2435706" cy="148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70"/>
              </a:lnSpc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交叉合并两个部分表达式 → AND(expr1, expr2)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571E492-F54D-43E7-9456-B6EF1865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1937"/>
            <a:ext cx="1599902" cy="317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177AA9E-D854-462D-ACE9-84271D75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01" y="2478137"/>
            <a:ext cx="352794" cy="1649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00"/>
              </a:lnSpc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Order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0B5B73D-24CB-41E2-B223-BE5AE465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853" y="2401937"/>
            <a:ext cx="6578947" cy="317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3769B48-6F32-4126-BDB1-D2DDE6C5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354" y="2486323"/>
            <a:ext cx="2351303" cy="148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70"/>
              </a:lnSpc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排序聚合（MAX/MIN）→ ARGMAX/ARGMIN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A41C98B-F253-423E-97B1-7A7DB5AA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20591"/>
            <a:ext cx="1599902" cy="317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F00AED0-0C51-4CD8-97A0-BEBA4B4B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01" y="2896791"/>
            <a:ext cx="561374" cy="1649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00"/>
              </a:lnSpc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349CFA0-6938-4F14-B767-27F79A8B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853" y="2820591"/>
            <a:ext cx="6578947" cy="317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2466994-FB73-4AD7-98A5-708352BC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354" y="2904976"/>
            <a:ext cx="1787956" cy="148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70"/>
              </a:lnSpc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数值比较（le/lt/ge/gt）→ 过滤条件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C822299-D178-4016-9648-F3CBAFF5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9244"/>
            <a:ext cx="1599902" cy="317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B1952B4-E957-40BF-9EA7-037DC6C2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01" y="3315444"/>
            <a:ext cx="998116" cy="1649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00"/>
              </a:lnSpc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Time_constraint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9A1F131-5967-41F5-A0FD-56BEF3D2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853" y="3239244"/>
            <a:ext cx="6578947" cy="317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7AA3CDC-892C-4DA6-926F-9C77BA0F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354" y="3323630"/>
            <a:ext cx="2066517" cy="148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70"/>
              </a:lnSpc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时间约束过滤 → TC(expr, relation, time)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FA6407A-E6AB-48DC-A4DC-55FC4862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898"/>
            <a:ext cx="1599902" cy="317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B6114B5-2691-4A78-87A2-6296F64D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01" y="3734098"/>
            <a:ext cx="374047" cy="1649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00"/>
              </a:lnSpc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FCD305D-D12B-4AAE-8134-A8EA3B74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853" y="3657898"/>
            <a:ext cx="6578947" cy="317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77A6E781-4978-46CB-988E-1E9A2CAA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354" y="3742283"/>
            <a:ext cx="1703704" cy="148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70"/>
              </a:lnSpc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计数操作 → COUNT(expression)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F0CF7FE-633E-41A5-B710-490145FD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27450"/>
            <a:ext cx="8229600" cy="4104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A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68453FD-2B6B-4CF8-BDD6-DC469794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" y="4127450"/>
            <a:ext cx="0" cy="4104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8B8B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EC9442B-090F-40B2-9A19-41FF447E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54252"/>
            <a:ext cx="8034719" cy="1568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3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9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优势：</a:t>
            </a:r>
            <a:r>
              <a:rPr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错误被局部化到单个步骤而非整个程序，环境可验证并纠正每个动作</a:t>
            </a:r>
          </a:p>
        </p:txBody>
      </p:sp>
    </p:spTree>
    <p:extLst>
      <p:ext uri="{BB962C8B-B14F-4D97-AF65-F5344CB8AC3E}">
        <p14:creationId xmlns:p14="http://schemas.microsoft.com/office/powerpoint/2010/main" val="5429076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30DE9D8-5BA7-4928-B904-32AB6ED1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96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749588B-AA7E-4823-B4C1-3E553FC6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203150"/>
            <a:ext cx="8290661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KBQA-R1: 两阶段训练流程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B1149A1-4C3C-412C-BE29-F7A24C3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923776"/>
            <a:ext cx="6598646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400"/>
              </a:spcAft>
              <a:buNone/>
            </a:pPr>
            <a:r>
              <a:rPr sz="14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Stage 1: Referenced Rejection Sampling → Stage 2: Reinforcement Learning</a:t>
            </a:r>
          </a:p>
        </p:txBody>
      </p:sp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359528f8e42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6550" y="1184077"/>
            <a:ext cx="6730901" cy="3010942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55FA48D-8FB4-47CA-A7AF-08B9665C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245769"/>
            <a:ext cx="8534400" cy="552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A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3913CDD-EE2C-4E41-9566-DA8D2303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3" y="4245769"/>
            <a:ext cx="0" cy="5521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A3A5C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CB3913B-2976-4B89-B3EF-2FAE35DD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26" y="4347270"/>
            <a:ext cx="8294001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9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Stage 1 (SFT)：</a:t>
            </a:r>
            <a:r>
              <a:rPr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用 RRS 合成高质量推理轨迹 → 监督微调冷启动策略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EF4AFDE-F53D-48F8-9144-E1461899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26" y="4534495"/>
            <a:ext cx="8294001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9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Stage 2 (RL)：</a:t>
            </a:r>
            <a:r>
              <a:rPr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策略在真实 KB 环境中 rollout → GRPO 基于 outcome reward 优化</a:t>
            </a:r>
          </a:p>
        </p:txBody>
      </p:sp>
    </p:spTree>
    <p:extLst>
      <p:ext uri="{BB962C8B-B14F-4D97-AF65-F5344CB8AC3E}">
        <p14:creationId xmlns:p14="http://schemas.microsoft.com/office/powerpoint/2010/main" val="7558897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7C9936C-4F2F-4FA9-8C2A-3AB8DB34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0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93930ED-C93D-4EAC-A9A2-7F652A37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203150"/>
            <a:ext cx="8290661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KBQA-R1: Referenced Rejection Sampling (RRS)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96BA88-CB2D-4163-B622-61CDF556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9352"/>
            <a:ext cx="8229600" cy="5914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6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677CCC0-7270-4025-9A66-27B03500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" y="1009352"/>
            <a:ext cx="0" cy="5914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6F51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5ECD396-523A-4ACD-8D42-650849B1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136154"/>
            <a:ext cx="8034719" cy="337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9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Cold Start 问题：</a:t>
            </a:r>
            <a:r>
              <a:rPr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标准 RS 接受率仅约 39%（需生成合法 S-Expression + schema 一致的关系 + 多跳路径），RRS 通过 gold 动作引导提升至 51%-67%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703954C-68C5-402A-B813-044AC526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02296"/>
            <a:ext cx="8394192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800"/>
              </a:spcAft>
              <a:buNone/>
            </a:pPr>
            <a:r>
              <a:rPr sz="14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RRS 四步流程（用 Qwen-2.5-72B 生成，蒸馏到 Llama-3.1-8B）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D086DE0-B8F3-4E83-9E1C-21D54A01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1447"/>
            <a:ext cx="355550" cy="35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8B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77E596E-D386-48BF-83DE-792683EA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90" y="2104727"/>
            <a:ext cx="100950" cy="2489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60"/>
              </a:lnSpc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C7DFA6C-EFAB-4063-84C0-D28ADD02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01" y="2140297"/>
            <a:ext cx="4138196" cy="1777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400"/>
              </a:lnSpc>
              <a:buNone/>
            </a:pPr>
            <a:r>
              <a:rPr sz="10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Action Extraction：</a:t>
            </a:r>
            <a:r>
              <a:rPr sz="1000">
                <a:solidFill>
                  <a:srgbClr val="333333"/>
                </a:solidFill>
                <a:latin typeface="Arial"/>
                <a:ea typeface="Arial"/>
                <a:cs typeface="Arial"/>
              </a:rPr>
              <a:t>从 gold S-Expression 解析出 ground-truth 动作序列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BE37950-B25D-403F-80C6-58AD32F1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83197"/>
            <a:ext cx="355550" cy="35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8B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DC9FB6A-C7B1-45BC-ACDA-584B0099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90" y="2536478"/>
            <a:ext cx="100950" cy="2489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60"/>
              </a:lnSpc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A3D45F8-EC86-46DD-96EC-E095AD77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01" y="2572048"/>
            <a:ext cx="4631561" cy="1777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400"/>
              </a:lnSpc>
              <a:buNone/>
            </a:pPr>
            <a:r>
              <a:rPr sz="10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Referenced Rollout：</a:t>
            </a:r>
            <a:r>
              <a:rPr sz="1000">
                <a:solidFill>
                  <a:srgbClr val="333333"/>
                </a:solidFill>
                <a:latin typeface="Arial"/>
                <a:ea typeface="Arial"/>
                <a:cs typeface="Arial"/>
              </a:rPr>
              <a:t>每步 prompt 包含下一个 GT 动作作为参考，生成推理轨迹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E2F6CFB-6B36-43AB-B400-15D21A5E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948"/>
            <a:ext cx="355550" cy="35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8B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7CAD1C7-3514-4E38-A5FB-F9A01C81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90" y="2968228"/>
            <a:ext cx="100950" cy="2489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60"/>
              </a:lnSpc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3B9E6BA-A193-4A17-91ED-322556A6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01" y="3003798"/>
            <a:ext cx="3879065" cy="1777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400"/>
              </a:lnSpc>
              <a:buNone/>
            </a:pPr>
            <a:r>
              <a:rPr sz="10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Trajectory Filtering：</a:t>
            </a:r>
            <a:r>
              <a:rPr sz="1000">
                <a:solidFill>
                  <a:srgbClr val="333333"/>
                </a:solidFill>
                <a:latin typeface="Arial"/>
                <a:ea typeface="Arial"/>
                <a:cs typeface="Arial"/>
              </a:rPr>
              <a:t>保留 F1(预测, gold) &gt;= tau 且格式正确的轨迹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EDD021A-103B-4B48-B8EB-20466A1E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46698"/>
            <a:ext cx="355550" cy="35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8B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D33E701-7986-4161-8711-9E697072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90" y="3399979"/>
            <a:ext cx="100950" cy="2489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60"/>
              </a:lnSpc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71D6F78-30DE-417E-BACB-04506B0A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01" y="3435548"/>
            <a:ext cx="4797787" cy="1777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400"/>
              </a:lnSpc>
              <a:buNone/>
            </a:pPr>
            <a:r>
              <a:rPr sz="10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Reference Stripping：</a:t>
            </a:r>
            <a:r>
              <a:rPr sz="1000">
                <a:solidFill>
                  <a:srgbClr val="333333"/>
                </a:solidFill>
                <a:latin typeface="Arial"/>
                <a:ea typeface="Arial"/>
                <a:cs typeface="Arial"/>
              </a:rPr>
              <a:t>去除所有参考提示，SFT 只在 think/action token 上计算 loss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0224D37-2F4D-44BF-AFDE-8805F003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03749"/>
            <a:ext cx="8229600" cy="4225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C940FE6-BFA9-4AE6-BE99-9431A2F1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" y="3803749"/>
            <a:ext cx="0" cy="422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D32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B6F7683-3384-4CAB-9A29-971BCC33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930551"/>
            <a:ext cx="8034719" cy="16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9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核心：</a:t>
            </a:r>
            <a:r>
              <a:rPr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模型被迫解释"为什么"每个动作正确（而非事后编造），且通过观察真实 KB 反馈内化动作-观察对应关系</a:t>
            </a:r>
          </a:p>
        </p:txBody>
      </p:sp>
    </p:spTree>
    <p:extLst>
      <p:ext uri="{BB962C8B-B14F-4D97-AF65-F5344CB8AC3E}">
        <p14:creationId xmlns:p14="http://schemas.microsoft.com/office/powerpoint/2010/main" val="4191606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7A4D0A8-BA62-4DEA-827B-6D6A399A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96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76CB24F-EC04-44B6-A275-D52F209C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203150"/>
            <a:ext cx="8290661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KBQA-R1: RL 优化 (GRPO)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72897E-79A1-4C81-9156-8D646FCB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4527"/>
            <a:ext cx="4093413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800"/>
              </a:spcAft>
              <a:buNone/>
            </a:pPr>
            <a:r>
              <a:rPr sz="14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奖励设计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350BAD3-084A-4A71-A9EF-DB7025DD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677"/>
            <a:ext cx="4013150" cy="4481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A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60523DB-EB05-44BB-9586-63897DA8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23677"/>
            <a:ext cx="0" cy="4481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8B8B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868A77D-2169-47CA-8D16-6D440B9E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3278"/>
            <a:ext cx="3743655" cy="16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r_outcome：</a:t>
            </a:r>
            <a:r>
              <a:rPr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预测答案与 gold 的 F1 Score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00164DC-ECE9-4C68-BAC4-7E1C5D41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999"/>
            <a:ext cx="4013150" cy="6551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A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3AD8E5B-2CB1-410D-A2F1-A63C08E0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47999"/>
            <a:ext cx="0" cy="6551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8B8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7700813-5065-4592-ACE6-2A082631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7600"/>
            <a:ext cx="3743655" cy="16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r_format：</a:t>
            </a:r>
            <a:r>
              <a:rPr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tag 完整性和正确顺序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45498FA-1174-4E36-8C4E-05D74BBB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4620"/>
            <a:ext cx="3743655" cy="16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仅在 r_outcome &gt; 0 时生效，防止"格式对答案错"获奖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2B7CD2E-A874-4A57-8A33-E0B9C76E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9340"/>
            <a:ext cx="4013150" cy="431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BEE353B-C732-40D6-98EE-53908468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516" y="2706142"/>
            <a:ext cx="3782517" cy="1777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R = 1.0*r_outcome + 0.1*I[r_outcome&gt;0]*r_format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9A9E25E-3B18-4AD4-BA47-5B6B508F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844"/>
            <a:ext cx="4093413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800"/>
              </a:spcAft>
              <a:buNone/>
            </a:pPr>
            <a:r>
              <a:rPr sz="14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GRPO Advantage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8098E1D-5484-4FEE-A627-5CFA4CBB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7895"/>
            <a:ext cx="4013150" cy="8621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A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864CE9C-E79B-44E1-ABC2-D13B9492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97895"/>
            <a:ext cx="0" cy="8621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8B8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B11B4F7-2016-4A3F-9CC2-3EDE524F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37496"/>
            <a:ext cx="3743655" cy="16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每个 prompt 采样 n=5 条轨迹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7223677-7552-4459-A555-A6FFF362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44516"/>
            <a:ext cx="3743655" cy="16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A_i = r_i - mean(r_1...r_n)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1DD52C3-1480-45C7-AE2C-8CE44199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51536"/>
            <a:ext cx="3743655" cy="16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无需学习 value network，低方差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8C4128F-F6AC-4C6B-95EB-C4C2E12C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501" y="974527"/>
            <a:ext cx="4093565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800"/>
              </a:spcAft>
              <a:buNone/>
            </a:pPr>
            <a:r>
              <a:rPr sz="14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vs KBQA-o1 (MCTS)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DB4BC60-205E-4E9E-8F73-747D8EDF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501" y="1285577"/>
            <a:ext cx="4013299" cy="2104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A7439E9-9640-4030-9055-038A85A9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2551" y="1285577"/>
            <a:ext cx="0" cy="21042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D32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630DA8C-ADFF-422E-9879-CFEA3F0C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1" y="1425178"/>
            <a:ext cx="3743807" cy="16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推理效率：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11C1896-CB89-4BE6-840A-4A2AE30C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1" y="1632198"/>
            <a:ext cx="3743807" cy="16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KBQA-o1: 28.8-78.0 次 LLM 调用/问题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BC986FC-2F20-4CBB-8DC4-5D056941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1" y="1839218"/>
            <a:ext cx="3743807" cy="16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KBQA-R1: 2.65-3.16 次（减少 80%+）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AF5C2C7-22D0-49FB-93C7-45E47952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1" y="2046238"/>
            <a:ext cx="3743807" cy="16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吞吐量：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6F50CA6-11B5-461B-917F-723E110C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1" y="2253258"/>
            <a:ext cx="3743807" cy="16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GrailQA: 155.6 vs 5.9 问题/分钟（26x）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F1A4839-69E4-4297-966A-DED031BD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1" y="2460278"/>
            <a:ext cx="3743807" cy="16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架构：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5E2AFA0-E5D8-4E69-A8C7-5EF17AA0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1" y="2667298"/>
            <a:ext cx="3743807" cy="16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无需独立 reward model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0040F2A-F0ED-4609-A019-6A392D80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1" y="2874318"/>
            <a:ext cx="3743807" cy="16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无需测试时搜索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9842C2F8-524E-4AA9-8F99-C9CC05FF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1" y="3081338"/>
            <a:ext cx="3743807" cy="16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单一策略端到端</a:t>
            </a:r>
          </a:p>
        </p:txBody>
      </p:sp>
    </p:spTree>
    <p:extLst>
      <p:ext uri="{BB962C8B-B14F-4D97-AF65-F5344CB8AC3E}">
        <p14:creationId xmlns:p14="http://schemas.microsoft.com/office/powerpoint/2010/main" val="12873016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E4830A7-C0C5-4509-A708-A3E0AAA9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0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2A4BAE4-4488-4CDF-957D-93F519F9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203150"/>
            <a:ext cx="8290661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KBQA-R1: Relation Retrieval &amp; Confidence Gating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F50CA8C-3BA7-41E3-B391-0DC6FD6A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7852"/>
            <a:ext cx="8394192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800"/>
              </a:spcAft>
              <a:buNone/>
            </a:pPr>
            <a:r>
              <a:rPr sz="14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RRCG：用稠密检索验证 agent 提出的关系 r_agent 与 KB schema 的匹配度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367A49E-CD75-4940-9B50-DA13A058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002"/>
            <a:ext cx="8394192" cy="1777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000">
                <a:solidFill>
                  <a:srgbClr val="333333"/>
                </a:solidFill>
                <a:latin typeface="Arial"/>
                <a:ea typeface="Arial"/>
                <a:cs typeface="Arial"/>
              </a:rPr>
              <a:t>计算 r_agent 与当前实体所有邻居 schema 关系的 Sim，取 s_max，按阈值 tau_high=0.95 和 tau_low=0.3 分三档：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DE3B750-7984-4593-9465-D751C511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01" y="1536204"/>
            <a:ext cx="2616398" cy="1102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0894F04-9F93-4C95-A12A-EA1236A8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01" y="1555254"/>
            <a:ext cx="26163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D32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80445DE-7C86-4447-98BD-AA6DE50C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26" y="1701254"/>
            <a:ext cx="240974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spcAft>
                <a:spcPts val="500"/>
              </a:spcAft>
              <a:buNone/>
            </a:pPr>
            <a:r>
              <a:rPr sz="1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Auto-Validation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0141DBC-8F98-4BB3-BE56-2E137325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26" y="1917055"/>
            <a:ext cx="2409748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s_max &gt;= 0.95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17BAA15-AA1F-4852-ADD2-3A0C3681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26" y="2115145"/>
            <a:ext cx="2409748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高置信匹配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C81E206-F5DB-4118-AB3B-B351772C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26" y="2313236"/>
            <a:ext cx="2409748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自动替换为最佳匹配关系 r_s* 并执行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CD8B861-4679-4C06-A5FD-1076A42B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801" y="1536204"/>
            <a:ext cx="2616398" cy="1102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1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3F5BDAB-7307-4552-8B61-2C15CEE6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801" y="1555254"/>
            <a:ext cx="26163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9A825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6B37815-A9DD-464F-9827-983BC097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126" y="1701254"/>
            <a:ext cx="240974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spcAft>
                <a:spcPts val="500"/>
              </a:spcAft>
              <a:buNone/>
            </a:pPr>
            <a:r>
              <a:rPr sz="1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Tentative Accept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F0EC781-12D0-46A2-880C-275D90FC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126" y="1917055"/>
            <a:ext cx="2409748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0.3 &lt;= s_max &lt; 0.95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0D7BC7D-AD73-41F2-9DCA-555C58C9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126" y="2115145"/>
            <a:ext cx="2409748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暂时接受执行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D2C5C2D-2A09-4015-83CF-D878779D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126" y="2313236"/>
            <a:ext cx="2409748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返回 top-k 候选集及分数，附加不确定性提示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B3F6770-40C5-4A90-9DB4-181C8C72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001" y="1536204"/>
            <a:ext cx="2616398" cy="1102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BEE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B1D4759-2DA6-4C3A-80C8-E293C298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001" y="1555254"/>
            <a:ext cx="26163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62828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5928F76-D9B2-4000-B4A0-712E006C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326" y="1701254"/>
            <a:ext cx="240974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spcAft>
                <a:spcPts val="500"/>
              </a:spcAft>
              <a:buNone/>
            </a:pPr>
            <a:r>
              <a:rPr sz="1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Rejection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FDCBE62-F2C2-4085-8C0A-C6FE9F2F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326" y="1917055"/>
            <a:ext cx="2409748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s_max &lt; 0.3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FABFBCA-21A0-4B57-941B-B9093C5F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326" y="2115145"/>
            <a:ext cx="2409748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拒绝执行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0FFE8FA-8F42-4009-B70C-31E0FBCF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326" y="2313236"/>
            <a:ext cx="2409748" cy="159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返回完整邻居关系列表和分数的诊断信息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7DB0DB6-3F27-42F8-BB5D-2F1E8254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5227"/>
            <a:ext cx="8229600" cy="431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A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99D2F2E-0632-46FC-A863-AF0F1EF0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" y="2765227"/>
            <a:ext cx="0" cy="431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A3A5C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CD96AB5-350F-46E8-A7DC-D73624B2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92028"/>
            <a:ext cx="8034719" cy="1777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4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作用：</a:t>
            </a:r>
            <a:r>
              <a:rPr sz="1000">
                <a:solidFill>
                  <a:srgbClr val="333333"/>
                </a:solidFill>
                <a:latin typeface="Arial"/>
                <a:ea typeface="Arial"/>
                <a:cs typeface="Arial"/>
              </a:rPr>
              <a:t>将 LLM 的 schema 幻觉控制在单步级别——高置信自动修正，中置信提示验证，低置信强制重选</a:t>
            </a:r>
          </a:p>
        </p:txBody>
      </p:sp>
    </p:spTree>
    <p:extLst>
      <p:ext uri="{BB962C8B-B14F-4D97-AF65-F5344CB8AC3E}">
        <p14:creationId xmlns:p14="http://schemas.microsoft.com/office/powerpoint/2010/main" val="12293015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0DBFC41-16B5-449D-B25F-468D6E27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078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2403DE0-21EB-4101-937B-F8235170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177701"/>
            <a:ext cx="829066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KBQA-R1: 实验结果 — 三数据集 SOTA（Llama-3.1-8B）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BDEE872-6CAC-4039-88DC-ED1AA96B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243" y="809327"/>
            <a:ext cx="68889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400"/>
              </a:spcAft>
              <a:buNone/>
            </a:pPr>
            <a:r>
              <a:rPr sz="11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Overall F1</a:t>
            </a:r>
          </a:p>
        </p:txBody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87225d79148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934" y="1012478"/>
            <a:ext cx="2286000" cy="1692027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D65977C-64F9-488A-BFBD-0A4542E8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91" y="2755255"/>
            <a:ext cx="1627436" cy="6536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D8EE286-48F6-4232-BE50-56B92045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741" y="2856756"/>
            <a:ext cx="1504536" cy="133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GrailQA: 86.1</a:t>
            </a: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 (+7.6 vs o1)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D4D268F-26A4-46B2-8C26-34418D7E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741" y="3015407"/>
            <a:ext cx="1504536" cy="133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WebQSP: 83.4</a:t>
            </a: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 (+25.6 vs o1)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8BF1499-C1D6-404E-B445-2DFA52FB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741" y="3174057"/>
            <a:ext cx="1504536" cy="133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GraphQ: 53.8</a:t>
            </a: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 (+5.1 vs o1)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C26D4E7-25F5-4967-8C8F-6078DB85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688" y="809327"/>
            <a:ext cx="139584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400"/>
              </a:spcAft>
              <a:buNone/>
            </a:pPr>
            <a:r>
              <a:rPr sz="11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Per-Action Accuracy</a:t>
            </a:r>
          </a:p>
        </p:txBody>
      </p:sp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8ec5694ca41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29000" y="1012478"/>
            <a:ext cx="2286000" cy="1775668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92FB9D7C-EC53-4154-B580-9A705381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402" y="2800796"/>
            <a:ext cx="2313048" cy="142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800">
                <a:solidFill>
                  <a:srgbClr val="555555"/>
                </a:solidFill>
                <a:latin typeface="Arial"/>
                <a:ea typeface="Arial"/>
                <a:cs typeface="Arial"/>
              </a:rPr>
              <a:t>JOIN/AND/CMP/TC/COUNT/ARG 各动作全面领先</a:t>
            </a:r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35CFF40E-F39F-4820-8982-DF96DB40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016" y="809327"/>
            <a:ext cx="997357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400"/>
              </a:spcAft>
              <a:buNone/>
            </a:pPr>
            <a:r>
              <a:rPr sz="11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Training Curve</a:t>
            </a:r>
          </a:p>
        </p:txBody>
      </p:sp>
      <p:pic>
        <p:nvPicPr>
          <p:cNvPr id="3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c1acd7b4646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6516" y="1012478"/>
            <a:ext cx="2412950" cy="1494681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13534E4B-7E24-44EC-A27F-560ACFD5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3880" y="2557909"/>
            <a:ext cx="778222" cy="4792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6EE40866-6465-4186-8CDF-81B6D6AB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822" y="2634109"/>
            <a:ext cx="638339" cy="142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spcAft>
                <a:spcPts val="200"/>
              </a:spcAft>
              <a:buNone/>
            </a:pPr>
            <a:r>
              <a:rPr sz="100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ICML 2026</a:t>
            </a:r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EC10A0C8-AB71-4B25-9AE1-54902799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822" y="2802285"/>
            <a:ext cx="638339" cy="133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录用 · CCF-A</a:t>
            </a:r>
          </a:p>
        </p:txBody>
      </p:sp>
    </p:spTree>
    <p:extLst>
      <p:ext uri="{BB962C8B-B14F-4D97-AF65-F5344CB8AC3E}">
        <p14:creationId xmlns:p14="http://schemas.microsoft.com/office/powerpoint/2010/main" val="802365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F863024-0BC3-4C28-915E-AD06DE38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078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79366DE-CC4E-4A52-9F5F-94680A3A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177701"/>
            <a:ext cx="829066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其他工作 &amp; 实习经历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A1E7A14-C248-41A0-94F8-A2C55B6B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36278"/>
            <a:ext cx="4197096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800"/>
              </a:spcBef>
              <a:spcAft>
                <a:spcPts val="500"/>
              </a:spcAft>
              <a:buNone/>
            </a:pPr>
            <a:r>
              <a:rPr sz="12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其他代表性工作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8261610-6906-42AB-BC7B-F211EA70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09229"/>
            <a:ext cx="4114800" cy="5331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5BFBD2C-F227-4289-91FE-590B7E4B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9229"/>
            <a:ext cx="0" cy="5331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8B8B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0D2E707-F45D-45EC-8C97-96768CBE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01" y="1310729"/>
            <a:ext cx="3951172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8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EviSD — AAAI 2027 投稿 | 共同一作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4485C4C-8A70-4E62-A18F-379B7034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01" y="1488430"/>
            <a:ext cx="3951172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arXiv:2608.01359 | 证据条件自蒸馏优化搜索智能体 credit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37E32AD-7870-4D67-AC51-678725FF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80431"/>
            <a:ext cx="4114800" cy="5331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2859F33-CDF7-448A-9EAA-2BDB514B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80431"/>
            <a:ext cx="0" cy="5331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8B8B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C1BA8E5-1F91-4778-97FF-146D6274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01" y="1881932"/>
            <a:ext cx="3951172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8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HopRefusalBench — AAAI 2027 投稿 | 共同一作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DEF86B3-CC57-4020-80ED-AFE8F3F1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01" y="2059632"/>
            <a:ext cx="3951172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arXiv:2608.01358 | 889 题·10 模型·最优 TCHR 42.9%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1FE55E5-364E-4A33-8D2C-98AC34AB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51633"/>
            <a:ext cx="4114800" cy="5331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5A11703-C2A2-4A5A-B6F8-C9753422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51633"/>
            <a:ext cx="0" cy="5331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8B8B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02CBC71-F131-4249-B6CC-0078932B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01" y="2453134"/>
            <a:ext cx="3951172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8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DIVE — KDD 2024 | 一作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7BFED1F-AE9F-4B4B-A4AC-439AB598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01" y="2630835"/>
            <a:ext cx="3951172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子图不一致性学习，提升图 OOD 泛化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429BD5B-0B68-4F72-8DF4-F420D0FF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22836"/>
            <a:ext cx="4114800" cy="495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D357AD0-B417-4299-B5B0-7F317DF1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22836"/>
            <a:ext cx="0" cy="4950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8B8B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FDC65CB-333F-41C4-8031-34622AE2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01" y="3024336"/>
            <a:ext cx="395117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8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Uncertainty Calibration — IEEE TKDE | 共一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4EB3424-DAE2-4820-ACF6-3DF8A06D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01" y="3163937"/>
            <a:ext cx="3951172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不确定性校准提升推荐系统 CVR 估计的准确性与鲁棒性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1300F06-300D-4E65-84EA-E4E7F574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936278"/>
            <a:ext cx="4197096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800"/>
              </a:spcBef>
              <a:spcAft>
                <a:spcPts val="500"/>
              </a:spcAft>
              <a:buNone/>
            </a:pPr>
            <a:r>
              <a:rPr sz="12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蚂蚁集团（2024.11-至今）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CB2C89E-C4AA-4792-BB14-3B9C5F0A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9229"/>
            <a:ext cx="4114800" cy="7108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E7DEFD50-2FE6-4D9A-9051-8CDA04F9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209229"/>
            <a:ext cx="0" cy="7108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51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F8E1E94-D5D9-4F6E-8F2E-17A9110C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801" y="1310729"/>
            <a:ext cx="3951172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机器智能部门 | 算法研究实习生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D9696EA-0009-4CBE-A921-106B07FC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801" y="1488430"/>
            <a:ext cx="3951172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主导 6 篇 RAG / Agent 方向论文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4B4CC69-75ED-4F0F-9CCC-A0D17C19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801" y="1666131"/>
            <a:ext cx="3951172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含 2 篇 AAAI 2027 共同一作投稿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DB95C59-49D8-4F16-A482-B316CB26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21532"/>
            <a:ext cx="4197096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800"/>
              </a:spcBef>
              <a:spcAft>
                <a:spcPts val="500"/>
              </a:spcAft>
              <a:buNone/>
            </a:pPr>
            <a:r>
              <a:rPr sz="12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字节跳动（2022.02-2022.08）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7FC529C-E22B-461F-9E7B-F2DFBC97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94483"/>
            <a:ext cx="4114800" cy="5331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FA62DAE-A988-4098-B1BD-C04638B3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94483"/>
            <a:ext cx="0" cy="5331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51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1A8A98E0-A1CF-4771-A3E4-2AA41C33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801" y="2395984"/>
            <a:ext cx="3951172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AML | ML 工程师实习生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B23127E-CC0A-460F-A158-5945B63A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801" y="2573685"/>
            <a:ext cx="3951172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多变量时间序列 AutoML 平台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5925C03A-8007-4EEF-BC80-34AD2A93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29086"/>
            <a:ext cx="4197096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800"/>
              </a:spcBef>
              <a:spcAft>
                <a:spcPts val="500"/>
              </a:spcAft>
              <a:buNone/>
            </a:pPr>
            <a:r>
              <a:rPr sz="12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学术服务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7B9E5E8-C7C3-4B38-83E3-2BA1F8B8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02037"/>
            <a:ext cx="4114800" cy="3554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AB86FACD-387C-437D-8958-F6261486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02037"/>
            <a:ext cx="0" cy="3554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51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2C1BD7F4-2E3A-4373-A5FE-A7C5F8FE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801" y="3303538"/>
            <a:ext cx="3951172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审稿人：ICML, NeurIPS, ACL, EMNLP, KDD</a:t>
            </a:r>
          </a:p>
        </p:txBody>
      </p:sp>
    </p:spTree>
    <p:extLst>
      <p:ext uri="{BB962C8B-B14F-4D97-AF65-F5344CB8AC3E}">
        <p14:creationId xmlns:p14="http://schemas.microsoft.com/office/powerpoint/2010/main" val="10480432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873AA8B-9AAE-4816-814A-153CADE6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F45633D-1D7E-414D-B241-B3A738F3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228600"/>
            <a:ext cx="8290661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研究规划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F62BC3F-D0D2-421D-8EC2-58AE77F0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1101626"/>
            <a:ext cx="4015841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1200"/>
              </a:spcAft>
              <a:buNone/>
            </a:pPr>
            <a:r>
              <a:rPr sz="15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短期方向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CD5B64E-70B3-4565-AA7E-1B7AF39E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1520726"/>
            <a:ext cx="3937099" cy="939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A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38C66DD-58B8-46A2-A998-2519AC5E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63" y="1520726"/>
            <a:ext cx="0" cy="9395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8B8B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0D162C0-D50D-467F-85EF-7A9661F6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975" y="1673126"/>
            <a:ext cx="365636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400"/>
              </a:spcAft>
              <a:buNone/>
            </a:pPr>
            <a:r>
              <a:rPr sz="1100" b="1">
                <a:solidFill>
                  <a:srgbClr val="2E8B8B"/>
                </a:solidFill>
                <a:latin typeface="Arial"/>
                <a:ea typeface="Arial"/>
                <a:cs typeface="Arial"/>
              </a:rPr>
              <a:t>Deep Search Agent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549DEBC-5B39-42EF-8C4F-06F9BADF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975" y="1876276"/>
            <a:ext cx="3656368" cy="1777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1000">
                <a:solidFill>
                  <a:srgbClr val="333333"/>
                </a:solidFill>
                <a:latin typeface="Arial"/>
                <a:ea typeface="Arial"/>
                <a:cs typeface="Arial"/>
              </a:rPr>
              <a:t>将 RAG 从单轮检索升级为多轮自主搜索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D37C2B1-6207-4BBB-BFB2-C5BDAD4A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975" y="2092077"/>
            <a:ext cx="3656368" cy="1777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1000">
                <a:solidFill>
                  <a:srgbClr val="333333"/>
                </a:solidFill>
                <a:latin typeface="Arial"/>
                <a:ea typeface="Arial"/>
                <a:cs typeface="Arial"/>
              </a:rPr>
              <a:t>构建能自主规划搜索策略、迭代优化检索结果的深度研究智能体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9C0C788-FF43-46E3-A7A3-BBC78854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0" y="2561779"/>
            <a:ext cx="3937099" cy="7237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A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7BFF050-AE00-4AB2-91D0-20ABBA75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63" y="2561779"/>
            <a:ext cx="0" cy="7237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8B8B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16C48F5-F868-423B-B83B-2E63A8FD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975" y="2714179"/>
            <a:ext cx="365636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400"/>
              </a:spcAft>
              <a:buNone/>
            </a:pPr>
            <a:r>
              <a:rPr sz="1100" b="1">
                <a:solidFill>
                  <a:srgbClr val="2E8B8B"/>
                </a:solidFill>
                <a:latin typeface="Arial"/>
                <a:ea typeface="Arial"/>
                <a:cs typeface="Arial"/>
              </a:rPr>
              <a:t>Agent RL at Scale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EBCE76C-97B0-49C6-8D31-66B873DE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975" y="2917329"/>
            <a:ext cx="3656368" cy="1777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1000">
                <a:solidFill>
                  <a:srgbClr val="333333"/>
                </a:solidFill>
                <a:latin typeface="Arial"/>
                <a:ea typeface="Arial"/>
                <a:cs typeface="Arial"/>
              </a:rPr>
              <a:t>将 KBQA-R1 的 RL 范式推广到更多工具调用和复杂决策场景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A4F6DDB-3E24-483D-96D0-B515EDA0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8950" y="1101626"/>
            <a:ext cx="4015841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spcAft>
                <a:spcPts val="1200"/>
              </a:spcAft>
              <a:buNone/>
            </a:pPr>
            <a:r>
              <a:rPr sz="15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长期愿景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F8A8B39-551D-4A54-90DD-F9E7C454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8950" y="1520726"/>
            <a:ext cx="3937099" cy="10787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1796417-9769-4EA6-8344-F64B7506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763" y="1520726"/>
            <a:ext cx="0" cy="10787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6F51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A843C34-E8F9-42B1-BB6B-5D02521E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276" y="1749177"/>
            <a:ext cx="3604754" cy="1903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0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自主知识获取与推理系统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AB6FC8B-2532-4295-AB61-90E617E8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276" y="1990279"/>
            <a:ext cx="3604754" cy="380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000">
                <a:solidFill>
                  <a:srgbClr val="333333"/>
                </a:solidFill>
                <a:latin typeface="Arial"/>
                <a:ea typeface="Arial"/>
                <a:cs typeface="Arial"/>
              </a:rPr>
              <a:t>模型不仅能调用工具，还能自主决定学习策略，在开放环境中持续进化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2242593-C40A-467F-8D01-F77632B3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8950" y="2700933"/>
            <a:ext cx="3937099" cy="10787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27A407B-1C94-446C-845D-FC0D069B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763" y="2700933"/>
            <a:ext cx="0" cy="10787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6F51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849C912-5A17-411A-85E6-1F71F9D3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276" y="2929384"/>
            <a:ext cx="3604754" cy="1903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0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RL for LLM Agent 方法论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54FA299-76F2-466B-9D0A-6CDFE1C4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276" y="3170486"/>
            <a:ext cx="3604754" cy="380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000">
                <a:solidFill>
                  <a:srgbClr val="333333"/>
                </a:solidFill>
                <a:latin typeface="Arial"/>
                <a:ea typeface="Arial"/>
                <a:cs typeface="Arial"/>
              </a:rPr>
              <a:t>探索 RL 在大模型智能体后训练中的系统性方法论，从单任务到多任务、从单工具到工具组合</a:t>
            </a:r>
          </a:p>
        </p:txBody>
      </p:sp>
    </p:spTree>
    <p:extLst>
      <p:ext uri="{BB962C8B-B14F-4D97-AF65-F5344CB8AC3E}">
        <p14:creationId xmlns:p14="http://schemas.microsoft.com/office/powerpoint/2010/main" val="6599179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A3A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E9D88AA-ADC5-4C7D-9D76-2AA01235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014" y="1563737"/>
            <a:ext cx="2495973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spcAft>
                <a:spcPts val="1600"/>
              </a:spcAft>
              <a:buNone/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You!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667550D-55FF-47D4-A443-0447A58A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50" y="2290763"/>
            <a:ext cx="101590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8B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8945F40-2969-4062-A616-DA42BEC2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014" y="2582763"/>
            <a:ext cx="2495973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sz="1400">
                <a:solidFill>
                  <a:srgbClr val="C8D8E8"/>
                </a:solidFill>
                <a:latin typeface="Arial"/>
                <a:ea typeface="Arial"/>
                <a:cs typeface="Arial"/>
              </a:rPr>
              <a:t>欢迎提问与讨论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890B799-4AAC-4E9F-8A80-E49D236E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014" y="3084314"/>
            <a:ext cx="2495973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sz="1200">
                <a:solidFill>
                  <a:srgbClr val="8BCACA"/>
                </a:solidFill>
                <a:latin typeface="Arial"/>
                <a:ea typeface="Arial"/>
                <a:cs typeface="Arial"/>
              </a:rPr>
              <a:t>xin.sun@cripac.ia.ac.cn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0E7C81D-5506-4799-8743-E629DEAD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014" y="3331964"/>
            <a:ext cx="2495973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sz="1200">
                <a:solidFill>
                  <a:srgbClr val="8BCACA"/>
                </a:solidFill>
                <a:latin typeface="Arial"/>
                <a:ea typeface="Arial"/>
                <a:cs typeface="Arial"/>
              </a:rPr>
              <a:t>GitHub: sunxin000</a:t>
            </a:r>
          </a:p>
        </p:txBody>
      </p:sp>
    </p:spTree>
    <p:extLst>
      <p:ext uri="{BB962C8B-B14F-4D97-AF65-F5344CB8AC3E}">
        <p14:creationId xmlns:p14="http://schemas.microsoft.com/office/powerpoint/2010/main" val="4905939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2026-08-06T07:12:18.2930000Z</dcterms:created>
  <dcterms:modified xsi:type="dcterms:W3CDTF">2026-08-06T07:12:18.2930000Z</dcterms:modified>
</coreProperties>
</file>