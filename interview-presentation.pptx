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629355" y="1358950"/>
            <a:ext cx="3885289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面试汇报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064050" y="2149525"/>
            <a:ext cx="1015901" cy="38100"/>
          </a:xfrm>
          <a:prstGeom prst="rect">
            <a:avLst/>
          </a:prstGeom>
          <a:solidFill>
            <a:srgbClr val="2E8B8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629355" y="2441525"/>
            <a:ext cx="388528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0"/>
              </a:spcAft>
              <a:buNone/>
            </a:pPr>
            <a:r>
              <a:rPr lang="en-US" sz="2000" dirty="0">
                <a:solidFill>
                  <a:srgbClr val="8BCA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检索增强生成与大模型智能体训练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629355" y="3174950"/>
            <a:ext cx="38852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3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孙鑫 | 中国科学技术大学 / 中国科学院自动化研究所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629355" y="3479750"/>
            <a:ext cx="38852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3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导师：王亮 教授（IEEE Fellow）、刘强 副研究员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85825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个人简介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7950" y="1139726"/>
            <a:ext cx="401584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教育背景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7950" y="1552426"/>
            <a:ext cx="40158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博士</a:t>
            </a:r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（2022-2027）中国科学技术大学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7950" y="1812727"/>
            <a:ext cx="40158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控制科学与工程，中科院自动化所 NLPR 联合培养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7950" y="2073027"/>
            <a:ext cx="40158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本科</a:t>
            </a:r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（2018-2022）上海交通大学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7950" y="2333327"/>
            <a:ext cx="40158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计算机科学与技术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7950" y="2593628"/>
            <a:ext cx="401584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荣誉奖项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7950" y="3006328"/>
            <a:ext cx="40158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研究生国家奖学金（2024）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7950" y="3266629"/>
            <a:ext cx="40158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一等学业奖学金（2022-2025，连续三年）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7950" y="3526929"/>
            <a:ext cx="40158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国家励志奖学金（2019-2022）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98950" y="1139726"/>
            <a:ext cx="401584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研究方向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98950" y="1552426"/>
            <a:ext cx="3937099" cy="727025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722763" y="1552426"/>
            <a:ext cx="0" cy="727025"/>
          </a:xfrm>
          <a:prstGeom prst="line">
            <a:avLst/>
          </a:prstGeom>
          <a:noFill/>
          <a:ln w="47625">
            <a:solidFill>
              <a:srgbClr val="2E8B8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98975" y="1704826"/>
            <a:ext cx="36563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E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&amp; Deep Search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98975" y="1907977"/>
            <a:ext cx="36563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构建可靠、自适应的检索增强系统，迈向自主深度研究智能体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698950" y="2380952"/>
            <a:ext cx="3937099" cy="908000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722763" y="2380952"/>
            <a:ext cx="0" cy="908000"/>
          </a:xfrm>
          <a:prstGeom prst="line">
            <a:avLst/>
          </a:prstGeom>
          <a:noFill/>
          <a:ln w="47625">
            <a:solidFill>
              <a:srgbClr val="2E8B8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98975" y="2533352"/>
            <a:ext cx="36563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E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Agent Training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98975" y="2736503"/>
            <a:ext cx="3656368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通过 RL 后训练赋予 LLM 多轮探索、工具调用、环境反馈学习能力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7225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52400"/>
            <a:ext cx="8290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研究成果总览（10 篇，一作/共一 7 篇）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17450" y="834926"/>
            <a:ext cx="42619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核心方向：RAG &amp; Agent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17450" y="1085701"/>
            <a:ext cx="4178350" cy="228302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26975" y="1085701"/>
            <a:ext cx="0" cy="228302"/>
          </a:xfrm>
          <a:prstGeom prst="line">
            <a:avLst/>
          </a:prstGeom>
          <a:noFill/>
          <a:ln w="19050">
            <a:solidFill>
              <a:srgbClr val="2E8B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2700" y="1123652"/>
            <a:ext cx="40870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KBQA-R1</a:t>
            </a:r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ICML 2026 投稿 (4/4/4/5)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17450" y="1339304"/>
            <a:ext cx="4178350" cy="190202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26975" y="1339304"/>
            <a:ext cx="0" cy="190202"/>
          </a:xfrm>
          <a:prstGeom prst="line">
            <a:avLst/>
          </a:prstGeom>
          <a:noFill/>
          <a:ln w="19050">
            <a:solidFill>
              <a:srgbClr val="2E8B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2700" y="1377255"/>
            <a:ext cx="40870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 Divide-Then-Align</a:t>
            </a:r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ACL 2025 Main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17450" y="1554807"/>
            <a:ext cx="4178350" cy="190202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326975" y="1554807"/>
            <a:ext cx="0" cy="190202"/>
          </a:xfrm>
          <a:prstGeom prst="line">
            <a:avLst/>
          </a:prstGeom>
          <a:noFill/>
          <a:ln w="19050">
            <a:solidFill>
              <a:srgbClr val="2E8B8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2700" y="1592759"/>
            <a:ext cx="40870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 Predict the Retrieval!</a:t>
            </a:r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ICASSP 2026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93650" y="1808262"/>
            <a:ext cx="41064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 ToolWeaver</a:t>
            </a:r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ICLR 2026（合作）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93650" y="2061865"/>
            <a:ext cx="41064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 Multimodal RAG</a:t>
            </a:r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IJCNN 2026（共一）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17450" y="2328416"/>
            <a:ext cx="42619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学术服务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93650" y="2617143"/>
            <a:ext cx="41064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审稿：ICML, NeurIPS, ACL, EMNLP, KDD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648200" y="834926"/>
            <a:ext cx="42619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图学习 &amp; 可信 ML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48200" y="1085701"/>
            <a:ext cx="4178350" cy="228302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4657725" y="1085701"/>
            <a:ext cx="0" cy="228302"/>
          </a:xfrm>
          <a:prstGeom prst="line">
            <a:avLst/>
          </a:prstGeom>
          <a:noFill/>
          <a:ln w="19050">
            <a:solidFill>
              <a:srgbClr val="2E8B8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43450" y="1123652"/>
            <a:ext cx="40870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[6] DIVE</a:t>
            </a:r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KDD 2024（一作）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648200" y="1339304"/>
            <a:ext cx="4178350" cy="228302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657725" y="1339304"/>
            <a:ext cx="0" cy="228302"/>
          </a:xfrm>
          <a:prstGeom prst="line">
            <a:avLst/>
          </a:prstGeom>
          <a:noFill/>
          <a:ln w="19050">
            <a:solidFill>
              <a:srgbClr val="2E8B8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43450" y="1377255"/>
            <a:ext cx="40870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[7] Noise-Robust</a:t>
            </a:r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EMNLP 2023（一作）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648200" y="1592907"/>
            <a:ext cx="4178350" cy="228302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4657725" y="1592907"/>
            <a:ext cx="0" cy="228302"/>
          </a:xfrm>
          <a:prstGeom prst="line">
            <a:avLst/>
          </a:prstGeom>
          <a:noFill/>
          <a:ln w="19050">
            <a:solidFill>
              <a:srgbClr val="2E8B8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43450" y="1630859"/>
            <a:ext cx="40870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[8] Uncertainty</a:t>
            </a:r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IEEE TKDE（共一）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724400" y="1884462"/>
            <a:ext cx="41064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[9] Pin-Tuning</a:t>
            </a:r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NeurIPS 2024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24400" y="2099965"/>
            <a:ext cx="41064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[10] GSLB</a:t>
            </a:r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NeurIPS 2023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648200" y="2328416"/>
            <a:ext cx="42619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荣誉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24400" y="2617143"/>
            <a:ext cx="41064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国家奖学金 (2024)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724400" y="2870746"/>
            <a:ext cx="41064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一等学业奖学金 (2022-2025)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41177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Divide-Then-Align (ACL 2025)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511076"/>
            <a:ext cx="82906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8BCA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Alignment based on the Knowledge Boundary of RAG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81000" y="993577"/>
            <a:ext cx="418419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问题：RAG 不知何时该拒答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81000" y="1317427"/>
            <a:ext cx="4184193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RAFT 等方法即使检索全是噪声、模型自身也不具备知识时，仍强行生成答案，无法回答"I don't know"。这在医疗、法律等高风险场景极其危险。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81000" y="1749028"/>
            <a:ext cx="4102150" cy="617041"/>
          </a:xfrm>
          <a:prstGeom prst="rect">
            <a:avLst/>
          </a:prstGeom>
          <a:solidFill>
            <a:srgbClr val="FFF3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04813" y="1749028"/>
            <a:ext cx="0" cy="617041"/>
          </a:xfrm>
          <a:prstGeom prst="line">
            <a:avLst/>
          </a:prstGeom>
          <a:noFill/>
          <a:ln w="47625">
            <a:solidFill>
              <a:srgbClr val="E76F5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126" y="1888629"/>
            <a:ext cx="3928554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现有工作要么只考虑模型参数知识边界，要么只考虑检索知识边界，从未同时考虑两者。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81000" y="2442270"/>
            <a:ext cx="418419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核心思路：四象限知识边界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1000" y="2766120"/>
            <a:ext cx="4102150" cy="1033462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04813" y="2766120"/>
            <a:ext cx="0" cy="1033463"/>
          </a:xfrm>
          <a:prstGeom prst="line">
            <a:avLst/>
          </a:prstGeom>
          <a:noFill/>
          <a:ln w="47625">
            <a:solidFill>
              <a:srgbClr val="2E8B8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126" y="2905720"/>
            <a:ext cx="39285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KB_param：</a:t>
            </a:r>
            <a:pPr algn="l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模型无检索时能正确回答的查询集合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30126" y="3103811"/>
            <a:ext cx="39285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KB_r：</a:t>
            </a:r>
            <a:pPr algn="l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检索段落中包含正确答案的查询集合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30126" y="3301901"/>
            <a:ext cx="39285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KB_rag = KB_param U KB_r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30126" y="3499991"/>
            <a:ext cx="39285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四象限：双知 / 仅参数知 / 仅检索知 / 双不知(→IDK)</a:t>
            </a:r>
            <a:endParaRPr lang="en-US" sz="900" dirty="0"/>
          </a:p>
        </p:txBody>
      </p:sp>
      <p:pic>
        <p:nvPicPr>
          <p:cNvPr id="17" name="Image 0" descr="/Users/sunxin/resume/ppt-workspace/slides/images/dta-x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14950" y="1902172"/>
            <a:ext cx="2793950" cy="21803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07827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Divide-Then-Align: 训练与结果</a:t>
            </a:r>
            <a:endParaRPr lang="en-US" sz="2000" dirty="0"/>
          </a:p>
        </p:txBody>
      </p:sp>
      <p:pic>
        <p:nvPicPr>
          <p:cNvPr id="4" name="Image 0" descr="/Users/sunxin/resume/ppt-workspace/slides/images/dta-x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500" y="1991469"/>
            <a:ext cx="3429000" cy="186823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660850" y="834777"/>
            <a:ext cx="41841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训练方法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660850" y="1139577"/>
            <a:ext cx="4102150" cy="944166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4"/>
          <p:cNvSpPr/>
          <p:nvPr/>
        </p:nvSpPr>
        <p:spPr>
          <a:xfrm>
            <a:off x="4679900" y="1139577"/>
            <a:ext cx="0" cy="944166"/>
          </a:xfrm>
          <a:prstGeom prst="line">
            <a:avLst/>
          </a:prstGeom>
          <a:noFill/>
          <a:ln w="38100">
            <a:solidFill>
              <a:srgbClr val="2E8B8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787801" y="1253728"/>
            <a:ext cx="396407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= L_DPO + beta * L_SFT + gamma * L_class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787801" y="1439019"/>
            <a:ext cx="396407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DPO：</a:t>
            </a:r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四象限构建不同偏好对（双不知: IDK 为 chosen）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787801" y="1624310"/>
            <a:ext cx="396407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SFT：</a:t>
            </a:r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 chosen response 监督微调，防止 DPO 退化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787801" y="1809601"/>
            <a:ext cx="396407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分类辅助：</a:t>
            </a:r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head 预测查询属于哪个象限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660850" y="2147143"/>
            <a:ext cx="41841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实验结果（NQ/TriviaQA/WebQ）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660850" y="2451943"/>
            <a:ext cx="4102150" cy="758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4679900" y="2451943"/>
            <a:ext cx="0" cy="758875"/>
          </a:xfrm>
          <a:prstGeom prst="line">
            <a:avLst/>
          </a:prstGeom>
          <a:noFill/>
          <a:ln w="38100">
            <a:solidFill>
              <a:srgbClr val="2E7D3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87801" y="2566095"/>
            <a:ext cx="396407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总体准确率比最强 baseline 提升 10-20 个百分点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787801" y="2751386"/>
            <a:ext cx="396407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Abstain F1 大幅领先（baseline 几乎为 0）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787801" y="2936677"/>
            <a:ext cx="396407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LLaMA-2-7B/13B、LLaMA-3-8B 上均有效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660850" y="3287018"/>
            <a:ext cx="4102150" cy="330101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4749318" y="3363218"/>
            <a:ext cx="3925214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ACL 2025 Main Conference (CCF-A)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41177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TTARAG: Predict the Retrieval! (ICASSP 2026)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511076"/>
            <a:ext cx="82906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8BCA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Time Adaptation for Retrieval Augmented Generation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81000" y="993577"/>
            <a:ext cx="46491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问题：RAG 在专业领域的分布偏移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81000" y="1298377"/>
            <a:ext cx="4649170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系统在通用领域有效，但面对专业领域（金融、医疗等）的分布偏移时泛化性能下降。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81000" y="1699617"/>
            <a:ext cx="4558010" cy="1314748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00050" y="1699617"/>
            <a:ext cx="0" cy="1314748"/>
          </a:xfrm>
          <a:prstGeom prst="line">
            <a:avLst/>
          </a:prstGeom>
          <a:noFill/>
          <a:ln w="38100">
            <a:solidFill>
              <a:srgbClr val="2E8B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7950" y="1813768"/>
            <a:ext cx="44290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TTARAG 方法：</a:t>
            </a:r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推理时自监督域适应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7950" y="1999059"/>
            <a:ext cx="44290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将检索 passages 按标点切分为 prefix-suffix 对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7950" y="2184350"/>
            <a:ext cx="44290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自监督目标：给定 query+prefix，预测 suffix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7950" y="2369641"/>
            <a:ext cx="44290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 = -sum log P(suffix | prefix, query; theta)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7950" y="2554932"/>
            <a:ext cx="44290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用 AdamW 更新全部参数（仅 3 对即可）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7950" y="2740223"/>
            <a:ext cx="44290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用适应后的模型生成最终答案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81000" y="3077766"/>
            <a:ext cx="4558010" cy="758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00050" y="3077766"/>
            <a:ext cx="0" cy="758875"/>
          </a:xfrm>
          <a:prstGeom prst="line">
            <a:avLst/>
          </a:prstGeom>
          <a:noFill/>
          <a:ln w="38100">
            <a:solidFill>
              <a:srgbClr val="2E7D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950" y="3191917"/>
            <a:ext cx="44290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CRAG（5 领域）+ 医疗（BioASQ/PubMedQA）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7950" y="3377208"/>
            <a:ext cx="44290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个设置中 19 个最佳；医疗领域最高 +25.0%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07950" y="3562499"/>
            <a:ext cx="44290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LLaMA-3.1-8B / LLaMA-2-7B / ChatGLM-3-6B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81000" y="3900041"/>
            <a:ext cx="4558010" cy="330101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64909" y="3976241"/>
            <a:ext cx="439019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ICASSP 2026 (CCF-B) | 一作</a:t>
            </a:r>
            <a:endParaRPr lang="en-US" sz="1000" dirty="0"/>
          </a:p>
        </p:txBody>
      </p:sp>
      <p:pic>
        <p:nvPicPr>
          <p:cNvPr id="22" name="Image 0" descr="/Users/sunxin/resume/ppt-workspace/slides/images/ttarag-x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9405" y="1955602"/>
            <a:ext cx="2920901" cy="20733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34951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03150"/>
            <a:ext cx="8290661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KBQA-R1: 问题与动机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07950" y="631775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8BCA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Reinforcing LLMs for Knowledge Base Question Answering | ICML 2026 投稿 (4/4/4/5)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212652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现有 KBQA 方法的三类局限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20601" y="1580852"/>
            <a:ext cx="2616398" cy="1254323"/>
          </a:xfrm>
          <a:prstGeom prst="rect">
            <a:avLst/>
          </a:prstGeom>
          <a:solidFill>
            <a:srgbClr val="FFF8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20601" y="1599902"/>
            <a:ext cx="2616398" cy="0"/>
          </a:xfrm>
          <a:prstGeom prst="line">
            <a:avLst/>
          </a:prstGeom>
          <a:noFill/>
          <a:ln w="38100">
            <a:solidFill>
              <a:srgbClr val="E76F5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551" y="1745903"/>
            <a:ext cx="24097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7551" y="1961704"/>
            <a:ext cx="240974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KB-BINDER, ChatKBQA 等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7551" y="2148334"/>
            <a:ext cx="240974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一次性生成完整逻辑形式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7551" y="2334964"/>
            <a:ext cx="240974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无法验证 schema 元素是否存在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7551" y="2521595"/>
            <a:ext cx="240974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Schema 幻觉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263801" y="1580852"/>
            <a:ext cx="2616398" cy="1254323"/>
          </a:xfrm>
          <a:prstGeom prst="rect">
            <a:avLst/>
          </a:prstGeom>
          <a:solidFill>
            <a:srgbClr val="FFF8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3263801" y="1599902"/>
            <a:ext cx="2616398" cy="0"/>
          </a:xfrm>
          <a:prstGeom prst="line">
            <a:avLst/>
          </a:prstGeom>
          <a:noFill/>
          <a:ln w="38100">
            <a:solidFill>
              <a:srgbClr val="E76F5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90751" y="1745903"/>
            <a:ext cx="24097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Prompting Step-by-Step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90751" y="1961704"/>
            <a:ext cx="240974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ToG, RoG 等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90751" y="2148334"/>
            <a:ext cx="240974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依赖商业大模型 few-shot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90751" y="2334964"/>
            <a:ext cx="240974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缺乏任务特定训练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390751" y="2521595"/>
            <a:ext cx="240974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领域泛化不足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007001" y="1580852"/>
            <a:ext cx="2616398" cy="1254323"/>
          </a:xfrm>
          <a:prstGeom prst="rect">
            <a:avLst/>
          </a:prstGeom>
          <a:solidFill>
            <a:srgbClr val="FFF8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6007001" y="1599902"/>
            <a:ext cx="2616398" cy="0"/>
          </a:xfrm>
          <a:prstGeom prst="line">
            <a:avLst/>
          </a:prstGeom>
          <a:noFill/>
          <a:ln w="38100">
            <a:solidFill>
              <a:srgbClr val="E76F5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33951" y="1745903"/>
            <a:ext cx="24097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Supervised Agent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33951" y="1961704"/>
            <a:ext cx="240974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KBQA-o1 (MCTS) 等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133951" y="2148334"/>
            <a:ext cx="240974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在模板合成轨迹上微调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133951" y="2334964"/>
            <a:ext cx="240974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Thought 是模板宣告而非真正分析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133951" y="2521595"/>
            <a:ext cx="240974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浅层推理，泛化差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2962126"/>
            <a:ext cx="8229600" cy="511076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481012" y="2962126"/>
            <a:ext cx="0" cy="511076"/>
          </a:xfrm>
          <a:prstGeom prst="line">
            <a:avLst/>
          </a:prstGeom>
          <a:noFill/>
          <a:ln w="47625">
            <a:solidFill>
              <a:srgbClr val="2E7D3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1775" y="3127177"/>
            <a:ext cx="808663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KBQA-R1：</a:t>
            </a:r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从"文本模仿"转向"交互优化"——将 KBQA 建模为多轮 MDP，通过 RL 让模型在与 KB 的闭环交互中学会自适应推理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07827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KBQA-R1: 整体框架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81000" y="784027"/>
            <a:ext cx="36226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Multi-turn Think → Action → Information 循环</a:t>
            </a:r>
            <a:endParaRPr lang="en-US" sz="1300" dirty="0"/>
          </a:p>
        </p:txBody>
      </p:sp>
      <p:pic>
        <p:nvPicPr>
          <p:cNvPr id="5" name="Image 0" descr="/Users/sunxin/resume/ppt-workspace/slides/images/kbqa-x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5000" y="1063377"/>
            <a:ext cx="5334000" cy="335369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1000" y="4467820"/>
            <a:ext cx="8382000" cy="488603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4"/>
          <p:cNvSpPr/>
          <p:nvPr/>
        </p:nvSpPr>
        <p:spPr>
          <a:xfrm>
            <a:off x="404813" y="4467820"/>
            <a:ext cx="0" cy="488603"/>
          </a:xfrm>
          <a:prstGeom prst="line">
            <a:avLst/>
          </a:prstGeom>
          <a:noFill/>
          <a:ln w="47625">
            <a:solidFill>
              <a:srgbClr val="1A3A5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6326" y="4543871"/>
            <a:ext cx="81385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核心流程：</a:t>
            </a:r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给定问题 → LLM 推理（Think）→ 选择原子动作（Action）→ 知识库返回结果（Information）→ 循环直至输出最终答案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06326" y="4718447"/>
            <a:ext cx="81385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RRCG 模块：</a:t>
            </a:r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每步验证 LLM 提出的关系是否在 KB schema 中存在，防止幻觉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96826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03150"/>
            <a:ext cx="8290661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KBQA-R1: Action Space 设计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74527"/>
            <a:ext cx="839419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将逻辑形式构建分解为原子操作序列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23677"/>
            <a:ext cx="8394192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不再一次性生成完整 S-Expression，而是逐步构建、逐步验证：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564630"/>
            <a:ext cx="1599902" cy="317302"/>
          </a:xfrm>
          <a:prstGeom prst="rect">
            <a:avLst/>
          </a:prstGeom>
          <a:solidFill>
            <a:srgbClr val="E76F5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1640830"/>
            <a:ext cx="813218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Find_relation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07853" y="1564630"/>
            <a:ext cx="6578947" cy="317302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209354" y="1649016"/>
            <a:ext cx="2183103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从实体沿关系扩展 → JOIN(relation, entity)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983284"/>
            <a:ext cx="1599902" cy="317302"/>
          </a:xfrm>
          <a:prstGeom prst="rect">
            <a:avLst/>
          </a:prstGeom>
          <a:solidFill>
            <a:srgbClr val="E76F5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58701" y="2059484"/>
            <a:ext cx="381485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07853" y="1983284"/>
            <a:ext cx="6578947" cy="317302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209354" y="2067669"/>
            <a:ext cx="2435706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交叉合并两个部分表达式 → AND(expr1, expr2)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2401937"/>
            <a:ext cx="1599902" cy="317302"/>
          </a:xfrm>
          <a:prstGeom prst="rect">
            <a:avLst/>
          </a:prstGeom>
          <a:solidFill>
            <a:srgbClr val="E76F5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58701" y="2478137"/>
            <a:ext cx="352794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07853" y="2401937"/>
            <a:ext cx="6578947" cy="317302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209354" y="2486323"/>
            <a:ext cx="2351303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排序聚合（MAX/MIN）→ ARGMAX/ARGMIN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2820591"/>
            <a:ext cx="1599902" cy="317302"/>
          </a:xfrm>
          <a:prstGeom prst="rect">
            <a:avLst/>
          </a:prstGeom>
          <a:solidFill>
            <a:srgbClr val="E76F5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58701" y="2896791"/>
            <a:ext cx="561374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07853" y="2820591"/>
            <a:ext cx="6578947" cy="317302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209354" y="2904976"/>
            <a:ext cx="1787956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数值比较（le/lt/ge/gt）→ 过滤条件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3239244"/>
            <a:ext cx="1599902" cy="317302"/>
          </a:xfrm>
          <a:prstGeom prst="rect">
            <a:avLst/>
          </a:prstGeom>
          <a:solidFill>
            <a:srgbClr val="E76F5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58701" y="3315444"/>
            <a:ext cx="998116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Time_constraint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107853" y="3239244"/>
            <a:ext cx="6578947" cy="317302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209354" y="3323630"/>
            <a:ext cx="2066517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时间约束过滤 → TC(expr, relation, time)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3657898"/>
            <a:ext cx="1599902" cy="317302"/>
          </a:xfrm>
          <a:prstGeom prst="rect">
            <a:avLst/>
          </a:prstGeom>
          <a:solidFill>
            <a:srgbClr val="E76F5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58701" y="3734098"/>
            <a:ext cx="374047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107853" y="3657898"/>
            <a:ext cx="6578947" cy="317302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2209354" y="3742283"/>
            <a:ext cx="1703704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计数操作 → COUNT(expression)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4127450"/>
            <a:ext cx="8229600" cy="410468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481012" y="4127450"/>
            <a:ext cx="0" cy="410468"/>
          </a:xfrm>
          <a:prstGeom prst="line">
            <a:avLst/>
          </a:prstGeom>
          <a:noFill/>
          <a:ln w="47625">
            <a:solidFill>
              <a:srgbClr val="2E8B8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7225" y="4254252"/>
            <a:ext cx="8034719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优势：</a:t>
            </a:r>
            <a:pPr algn="l" indent="0" marL="0">
              <a:lnSpc>
                <a:spcPts val="123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错误被局部化到单个步骤而非整个程序，环境可验证并纠正每个动作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96826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03150"/>
            <a:ext cx="8290661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KBQA-R1: 两阶段训练流程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04800" y="923776"/>
            <a:ext cx="659864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1: Referenced Rejection Sampling → Stage 2: Reinforcement Learning</a:t>
            </a:r>
            <a:endParaRPr lang="en-US" sz="1400" dirty="0"/>
          </a:p>
        </p:txBody>
      </p:sp>
      <p:pic>
        <p:nvPicPr>
          <p:cNvPr id="5" name="Image 0" descr="/Users/sunxin/resume/ppt-workspace/slides/images/kbqa-x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6550" y="1184077"/>
            <a:ext cx="6730901" cy="301094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04800" y="4245769"/>
            <a:ext cx="8534400" cy="552152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4"/>
          <p:cNvSpPr/>
          <p:nvPr/>
        </p:nvSpPr>
        <p:spPr>
          <a:xfrm>
            <a:off x="328613" y="4245769"/>
            <a:ext cx="0" cy="552152"/>
          </a:xfrm>
          <a:prstGeom prst="line">
            <a:avLst/>
          </a:prstGeom>
          <a:noFill/>
          <a:ln w="47625">
            <a:solidFill>
              <a:srgbClr val="1A3A5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30126" y="4347270"/>
            <a:ext cx="829400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 (SFT)：</a:t>
            </a:r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 RRS 合成高质量推理轨迹 → 监督微调冷启动策略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30126" y="4534495"/>
            <a:ext cx="829400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 (RL)：</a:t>
            </a:r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策略在真实 KB 环境中 rollout → GRPO 基于 outcome reward 优化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30151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03150"/>
            <a:ext cx="829066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KBQA-R1: Referenced Rejection Sampling (RRS)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9352"/>
            <a:ext cx="8229600" cy="591443"/>
          </a:xfrm>
          <a:prstGeom prst="rect">
            <a:avLst/>
          </a:prstGeom>
          <a:solidFill>
            <a:srgbClr val="FFF3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81012" y="1009352"/>
            <a:ext cx="0" cy="591443"/>
          </a:xfrm>
          <a:prstGeom prst="line">
            <a:avLst/>
          </a:prstGeom>
          <a:noFill/>
          <a:ln w="47625">
            <a:solidFill>
              <a:srgbClr val="E76F5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7225" y="1136154"/>
            <a:ext cx="8034719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Start 问题：</a:t>
            </a:r>
            <a:pPr algn="l" indent="0" marL="0">
              <a:lnSpc>
                <a:spcPts val="133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 RS 接受率仅约 39%（需生成合法 S-Expression + schema 一致的关系 + 多跳路径），RRS 通过 gold 动作引导提升至 51%-67%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702296"/>
            <a:ext cx="839419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RRS 四步流程（用 Qwen-2.5-72B 生成，蒸馏到 Llama-3.1-8B）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051447"/>
            <a:ext cx="355550" cy="355550"/>
          </a:xfrm>
          <a:prstGeom prst="rect">
            <a:avLst/>
          </a:prstGeom>
          <a:solidFill>
            <a:srgbClr val="2E8B8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85490" y="2104727"/>
            <a:ext cx="10095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39701" y="2140297"/>
            <a:ext cx="4138196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Extraction：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 gold S-Expression 解析出 ground-truth 动作序列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483197"/>
            <a:ext cx="355550" cy="355550"/>
          </a:xfrm>
          <a:prstGeom prst="rect">
            <a:avLst/>
          </a:prstGeom>
          <a:solidFill>
            <a:srgbClr val="2E8B8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85490" y="2536478"/>
            <a:ext cx="10095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39701" y="2572048"/>
            <a:ext cx="4631561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Referenced Rollout：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每步 prompt 包含下一个 GT 动作作为参考，生成推理轨迹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2914948"/>
            <a:ext cx="355550" cy="355550"/>
          </a:xfrm>
          <a:prstGeom prst="rect">
            <a:avLst/>
          </a:prstGeom>
          <a:solidFill>
            <a:srgbClr val="2E8B8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85490" y="2968228"/>
            <a:ext cx="10095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39701" y="3003798"/>
            <a:ext cx="3879065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Trajectory Filtering：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保留 F1(预测, gold) &gt;= tau 且格式正确的轨迹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3346698"/>
            <a:ext cx="355550" cy="355550"/>
          </a:xfrm>
          <a:prstGeom prst="rect">
            <a:avLst/>
          </a:prstGeom>
          <a:solidFill>
            <a:srgbClr val="2E8B8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85490" y="3399979"/>
            <a:ext cx="10095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39701" y="3435548"/>
            <a:ext cx="479778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Stripping：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去除所有参考提示，SFT 只在 think/action token 上计算 loss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3803749"/>
            <a:ext cx="8229600" cy="422523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481012" y="3803749"/>
            <a:ext cx="0" cy="422523"/>
          </a:xfrm>
          <a:prstGeom prst="line">
            <a:avLst/>
          </a:prstGeom>
          <a:noFill/>
          <a:ln w="47625">
            <a:solidFill>
              <a:srgbClr val="2E7D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7225" y="3930551"/>
            <a:ext cx="8034719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核心：</a:t>
            </a:r>
            <a:pPr algn="l" indent="0" marL="0">
              <a:lnSpc>
                <a:spcPts val="133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模型被迫解释"为什么"每个动作正确（而非事后编造），且通过观察真实 KB 反馈内化动作-观察对应关系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96826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03150"/>
            <a:ext cx="8290661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KBQA-R1: RL 优化 (GRPO)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74527"/>
            <a:ext cx="409341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奖励设计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23677"/>
            <a:ext cx="4013150" cy="448121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76250" y="1323677"/>
            <a:ext cx="0" cy="448121"/>
          </a:xfrm>
          <a:prstGeom prst="line">
            <a:avLst/>
          </a:prstGeom>
          <a:noFill/>
          <a:ln w="38100">
            <a:solidFill>
              <a:srgbClr val="2E8B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7700" y="1463278"/>
            <a:ext cx="3743655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r_outcome：</a:t>
            </a:r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预测答案与 gold 的 F1 Score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57200" y="1847999"/>
            <a:ext cx="4013150" cy="655141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76250" y="1847999"/>
            <a:ext cx="0" cy="655141"/>
          </a:xfrm>
          <a:prstGeom prst="line">
            <a:avLst/>
          </a:prstGeom>
          <a:noFill/>
          <a:ln w="38100">
            <a:solidFill>
              <a:srgbClr val="2E8B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7700" y="1987600"/>
            <a:ext cx="3743655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r_format：</a:t>
            </a:r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完整性和正确顺序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7700" y="2194620"/>
            <a:ext cx="3743655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仅在 r_outcome &gt; 0 时生效，防止"格式对答案错"获奖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00" y="2579340"/>
            <a:ext cx="4013150" cy="431304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72516" y="2706142"/>
            <a:ext cx="378251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= 1.0*r_outcome + 0.1*I[r_outcome&gt;0]*r_format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086844"/>
            <a:ext cx="40934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GRPO Advantage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3397895"/>
            <a:ext cx="4013150" cy="862161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76250" y="3397895"/>
            <a:ext cx="0" cy="862161"/>
          </a:xfrm>
          <a:prstGeom prst="line">
            <a:avLst/>
          </a:prstGeom>
          <a:noFill/>
          <a:ln w="38100">
            <a:solidFill>
              <a:srgbClr val="2E8B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7700" y="3537496"/>
            <a:ext cx="3743655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 prompt 采样 n=5 条轨迹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7700" y="3744516"/>
            <a:ext cx="3743655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A_i = r_i - mean(r_1...r_n)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47700" y="3951536"/>
            <a:ext cx="3743655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无需学习 value network，低方差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673501" y="974527"/>
            <a:ext cx="409356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KBQA-o1 (MCTS)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673501" y="1285577"/>
            <a:ext cx="4013299" cy="2104281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692551" y="1285577"/>
            <a:ext cx="0" cy="2104281"/>
          </a:xfrm>
          <a:prstGeom prst="line">
            <a:avLst/>
          </a:prstGeom>
          <a:noFill/>
          <a:ln w="38100">
            <a:solidFill>
              <a:srgbClr val="2E7D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64001" y="1425178"/>
            <a:ext cx="3743807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推理效率：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864001" y="1632198"/>
            <a:ext cx="3743807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KBQA-o1: 28.8-78.0 次 LLM 调用/问题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64001" y="1839218"/>
            <a:ext cx="3743807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KBQA-R1: 2.65-3.16 次（减少 80%+）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864001" y="2046238"/>
            <a:ext cx="3743807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吞吐量：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864001" y="2253258"/>
            <a:ext cx="3743807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GrailQA: 155.6 vs 5.9 问题/分钟（26x）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864001" y="2460278"/>
            <a:ext cx="3743807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架构：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864001" y="2667298"/>
            <a:ext cx="3743807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无需独立 reward model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64001" y="2874318"/>
            <a:ext cx="3743807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无需测试时搜索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864001" y="3081338"/>
            <a:ext cx="3743807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单一策略端到端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30151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03150"/>
            <a:ext cx="829066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KBQA-R1: Relation Retrieval &amp; Confidence Gating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07852"/>
            <a:ext cx="839419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RRCG：用稠密检索验证 agent 提出的关系 r_agent 与 KB schema 的匹配度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257002"/>
            <a:ext cx="839419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计算 r_agent 与当前实体所有邻居 schema 关系的 Sim，取 s_max，按阈值 tau_high=0.95 和 tau_low=0.3 分三档：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0601" y="1536204"/>
            <a:ext cx="2616398" cy="1102072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20601" y="1555254"/>
            <a:ext cx="2616398" cy="0"/>
          </a:xfrm>
          <a:prstGeom prst="line">
            <a:avLst/>
          </a:prstGeom>
          <a:noFill/>
          <a:ln w="38100">
            <a:solidFill>
              <a:srgbClr val="2E7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926" y="1701254"/>
            <a:ext cx="24097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Auto-Validation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23926" y="1917055"/>
            <a:ext cx="240974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s_max &gt;= 0.95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23926" y="2115145"/>
            <a:ext cx="240974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高置信匹配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23926" y="2313236"/>
            <a:ext cx="240974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自动替换为最佳匹配关系 r_s* 并执行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263801" y="1536204"/>
            <a:ext cx="2616398" cy="1102072"/>
          </a:xfrm>
          <a:prstGeom prst="rect">
            <a:avLst/>
          </a:prstGeom>
          <a:solidFill>
            <a:srgbClr val="FFF8E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3263801" y="1555254"/>
            <a:ext cx="2616398" cy="0"/>
          </a:xfrm>
          <a:prstGeom prst="line">
            <a:avLst/>
          </a:prstGeom>
          <a:noFill/>
          <a:ln w="38100">
            <a:solidFill>
              <a:srgbClr val="F9A82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7126" y="1701254"/>
            <a:ext cx="24097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Tentative Accept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67126" y="1917055"/>
            <a:ext cx="240974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 &lt;= s_max &lt; 0.95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367126" y="2115145"/>
            <a:ext cx="240974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暂时接受执行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67126" y="2313236"/>
            <a:ext cx="240974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返回 top-k 候选集及分数，附加不确定性提示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007001" y="1536204"/>
            <a:ext cx="2616398" cy="1102072"/>
          </a:xfrm>
          <a:prstGeom prst="rect">
            <a:avLst/>
          </a:prstGeom>
          <a:solidFill>
            <a:srgbClr val="FFEB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007001" y="1555254"/>
            <a:ext cx="2616398" cy="0"/>
          </a:xfrm>
          <a:prstGeom prst="line">
            <a:avLst/>
          </a:prstGeom>
          <a:noFill/>
          <a:ln w="38100">
            <a:solidFill>
              <a:srgbClr val="C6282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10326" y="1701254"/>
            <a:ext cx="24097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10326" y="1917055"/>
            <a:ext cx="240974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s_max &lt; 0.3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110326" y="2115145"/>
            <a:ext cx="240974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拒绝执行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10326" y="2313236"/>
            <a:ext cx="240974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返回完整邻居关系列表和分数的诊断信息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2765227"/>
            <a:ext cx="8229600" cy="431304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81012" y="2765227"/>
            <a:ext cx="0" cy="431304"/>
          </a:xfrm>
          <a:prstGeom prst="line">
            <a:avLst/>
          </a:prstGeom>
          <a:noFill/>
          <a:ln w="47625">
            <a:solidFill>
              <a:srgbClr val="1A3A5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7225" y="2892028"/>
            <a:ext cx="8034719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作用：</a:t>
            </a:r>
            <a:pPr algn="l" indent="0" marL="0">
              <a:lnSpc>
                <a:spcPts val="14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将 LLM 的 schema 幻觉控制在单步级别——高置信自动修正，中置信提示验证，低置信强制重选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07827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KBQA-R1: 实验结果 — 三数据集 SOTA（Llama-3.1-8B）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423243" y="809327"/>
            <a:ext cx="6888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F1</a:t>
            </a:r>
            <a:endParaRPr lang="en-US" sz="1100" dirty="0"/>
          </a:p>
        </p:txBody>
      </p:sp>
      <p:pic>
        <p:nvPicPr>
          <p:cNvPr id="5" name="Image 0" descr="/Users/sunxin/resume/ppt-workspace/slides/images/kbqa-x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934" y="1012478"/>
            <a:ext cx="2286000" cy="169202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47291" y="2755255"/>
            <a:ext cx="1627436" cy="653653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008741" y="2856756"/>
            <a:ext cx="150453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GrailQA: 86.1</a:t>
            </a:r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(+7.6 vs o1)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08741" y="3015407"/>
            <a:ext cx="150453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WebQSP: 83.4</a:t>
            </a:r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(+25.6 vs o1)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08741" y="3174057"/>
            <a:ext cx="150453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GraphQ: 53.8</a:t>
            </a:r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(+5.1 vs o1)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887688" y="809327"/>
            <a:ext cx="13958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Per-Action Accuracy</a:t>
            </a:r>
            <a:endParaRPr lang="en-US" sz="1100" dirty="0"/>
          </a:p>
        </p:txBody>
      </p:sp>
      <p:pic>
        <p:nvPicPr>
          <p:cNvPr id="11" name="Image 1" descr="/Users/sunxin/resume/ppt-workspace/slides/images/kbqa-x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012478"/>
            <a:ext cx="2286000" cy="17756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15402" y="2800796"/>
            <a:ext cx="23130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JOIN/AND/CMP/TC/COUNT/ARG 各动作全面领先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6894016" y="809327"/>
            <a:ext cx="9973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Curve</a:t>
            </a:r>
            <a:endParaRPr lang="en-US" sz="1100" dirty="0"/>
          </a:p>
        </p:txBody>
      </p:sp>
      <p:pic>
        <p:nvPicPr>
          <p:cNvPr id="14" name="Image 2" descr="/Users/sunxin/resume/ppt-workspace/slides/images/kbqa-x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516" y="1012478"/>
            <a:ext cx="2412950" cy="149468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93880" y="2557909"/>
            <a:ext cx="778222" cy="479227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1"/>
          <p:cNvSpPr/>
          <p:nvPr/>
        </p:nvSpPr>
        <p:spPr>
          <a:xfrm>
            <a:off x="7063822" y="2634109"/>
            <a:ext cx="638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ICML 2026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7063822" y="2802285"/>
            <a:ext cx="63833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4 / 4 / 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07827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其他工作 &amp; 实习经历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81000" y="936278"/>
            <a:ext cx="41970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其他代表性工作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81000" y="1209229"/>
            <a:ext cx="4114800" cy="533102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00050" y="1209229"/>
            <a:ext cx="0" cy="533102"/>
          </a:xfrm>
          <a:prstGeom prst="line">
            <a:avLst/>
          </a:prstGeom>
          <a:noFill/>
          <a:ln w="38100">
            <a:solidFill>
              <a:srgbClr val="2E8B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0601" y="1310729"/>
            <a:ext cx="3951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</a:t>
            </a:r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—KDD 2024 | 一作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0601" y="1488430"/>
            <a:ext cx="3951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子图不一致性学习，图 OOD 泛化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81000" y="1780431"/>
            <a:ext cx="4114800" cy="533102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00050" y="1780431"/>
            <a:ext cx="0" cy="533102"/>
          </a:xfrm>
          <a:prstGeom prst="line">
            <a:avLst/>
          </a:prstGeom>
          <a:noFill/>
          <a:ln w="38100">
            <a:solidFill>
              <a:srgbClr val="2E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0601" y="1881932"/>
            <a:ext cx="3951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Uncertainty Calibration</a:t>
            </a:r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—IEEE TKDE | 共一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20601" y="2059632"/>
            <a:ext cx="3951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反事实倾向估计的不确定性校准，提升推荐系统 CVR 预估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81000" y="2351633"/>
            <a:ext cx="4114800" cy="533102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00050" y="2351633"/>
            <a:ext cx="0" cy="533102"/>
          </a:xfrm>
          <a:prstGeom prst="line">
            <a:avLst/>
          </a:prstGeom>
          <a:noFill/>
          <a:ln w="38100">
            <a:solidFill>
              <a:srgbClr val="2E8B8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0601" y="2453134"/>
            <a:ext cx="3951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ToolWeaver</a:t>
            </a:r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—ICLR 2026 | 合作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20601" y="2630835"/>
            <a:ext cx="3951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协作语义编织实现可扩展工具使用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81000" y="2922836"/>
            <a:ext cx="4114800" cy="495002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400050" y="2922836"/>
            <a:ext cx="0" cy="495002"/>
          </a:xfrm>
          <a:prstGeom prst="line">
            <a:avLst/>
          </a:prstGeom>
          <a:noFill/>
          <a:ln w="38100">
            <a:solidFill>
              <a:srgbClr val="2E8B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0601" y="3024336"/>
            <a:ext cx="395117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Multimodal Adaptive RAG</a:t>
            </a:r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—IJCNN 2026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20601" y="3163937"/>
            <a:ext cx="3951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内部表征学习驱动的多模态自适应检索增强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648200" y="936278"/>
            <a:ext cx="41970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蚂蚁集团（2024.11-2026.04）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48200" y="1209229"/>
            <a:ext cx="4114800" cy="710803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667250" y="1209229"/>
            <a:ext cx="0" cy="710803"/>
          </a:xfrm>
          <a:prstGeom prst="line">
            <a:avLst/>
          </a:prstGeom>
          <a:noFill/>
          <a:ln w="38100">
            <a:solidFill>
              <a:srgbClr val="E76F5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87801" y="1310729"/>
            <a:ext cx="3951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机器智能部门 | 算法研究实习生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787801" y="1488430"/>
            <a:ext cx="3951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主导 4 篇 RAG 方向论文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787801" y="1666131"/>
            <a:ext cx="3951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深入参与工业级 RAG 系统研发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648200" y="2021532"/>
            <a:ext cx="41970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字节跳动（2022.02-2022.08）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648200" y="2294483"/>
            <a:ext cx="4114800" cy="533102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4667250" y="2294483"/>
            <a:ext cx="0" cy="533102"/>
          </a:xfrm>
          <a:prstGeom prst="line">
            <a:avLst/>
          </a:prstGeom>
          <a:noFill/>
          <a:ln w="38100">
            <a:solidFill>
              <a:srgbClr val="E76F5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87801" y="2395984"/>
            <a:ext cx="3951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AML | ML 工程师实习生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787801" y="2573685"/>
            <a:ext cx="3951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多变量时间序列 AutoML 平台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648200" y="2929086"/>
            <a:ext cx="41970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学术服务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648200" y="3202037"/>
            <a:ext cx="4114800" cy="355402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Shape 32"/>
          <p:cNvSpPr/>
          <p:nvPr/>
        </p:nvSpPr>
        <p:spPr>
          <a:xfrm>
            <a:off x="4667250" y="3202037"/>
            <a:ext cx="0" cy="355402"/>
          </a:xfrm>
          <a:prstGeom prst="line">
            <a:avLst/>
          </a:prstGeom>
          <a:noFill/>
          <a:ln w="38100">
            <a:solidFill>
              <a:srgbClr val="E76F5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87801" y="3303538"/>
            <a:ext cx="3951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审稿人：ICML, NeurIPS, ACL, EMNLP, KDD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47725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研究规划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07950" y="1101626"/>
            <a:ext cx="401584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短期方向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7950" y="1520726"/>
            <a:ext cx="3937099" cy="939552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31763" y="1520726"/>
            <a:ext cx="0" cy="939552"/>
          </a:xfrm>
          <a:prstGeom prst="line">
            <a:avLst/>
          </a:prstGeom>
          <a:noFill/>
          <a:ln w="47625">
            <a:solidFill>
              <a:srgbClr val="2E8B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7975" y="1673126"/>
            <a:ext cx="36563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E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Search Agent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07975" y="1876276"/>
            <a:ext cx="3656368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将 RAG 从单轮检索升级为多轮自主搜索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07975" y="2092077"/>
            <a:ext cx="3656368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构建能自主规划搜索策略、迭代优化检索结果的深度研究智能体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7950" y="2561779"/>
            <a:ext cx="3937099" cy="723751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31763" y="2561779"/>
            <a:ext cx="0" cy="723751"/>
          </a:xfrm>
          <a:prstGeom prst="line">
            <a:avLst/>
          </a:prstGeom>
          <a:noFill/>
          <a:ln w="47625">
            <a:solidFill>
              <a:srgbClr val="2E8B8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7975" y="2714179"/>
            <a:ext cx="36563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E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RL at Scale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07975" y="2917329"/>
            <a:ext cx="3656368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将 KBQA-R1 的 RL 范式推广到更多工具调用和复杂决策场景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698950" y="1101626"/>
            <a:ext cx="401584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长期愿景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698950" y="1520726"/>
            <a:ext cx="3937099" cy="1078706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722763" y="1520726"/>
            <a:ext cx="0" cy="1078706"/>
          </a:xfrm>
          <a:prstGeom prst="line">
            <a:avLst/>
          </a:prstGeom>
          <a:noFill/>
          <a:ln w="47625">
            <a:solidFill>
              <a:srgbClr val="E76F5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24276" y="1749177"/>
            <a:ext cx="3604754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自主知识获取与推理系统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924276" y="1990279"/>
            <a:ext cx="3604754" cy="38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模型不仅能调用工具，还能自主决定学习策略，在开放环境中持续进化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98950" y="2700933"/>
            <a:ext cx="3937099" cy="1078706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4722763" y="2700933"/>
            <a:ext cx="0" cy="1078706"/>
          </a:xfrm>
          <a:prstGeom prst="line">
            <a:avLst/>
          </a:prstGeom>
          <a:noFill/>
          <a:ln w="47625">
            <a:solidFill>
              <a:srgbClr val="E76F5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24276" y="2929384"/>
            <a:ext cx="3604754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 for LLM Agent 方法论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924276" y="3170486"/>
            <a:ext cx="3604754" cy="38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探索 RL 在大模型智能体后训练中的系统性方法论，从单任务到多任务、从单工具到工具组合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24014" y="1563737"/>
            <a:ext cx="2495973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064050" y="2290763"/>
            <a:ext cx="1015901" cy="38100"/>
          </a:xfrm>
          <a:prstGeom prst="rect">
            <a:avLst/>
          </a:prstGeom>
          <a:solidFill>
            <a:srgbClr val="2E8B8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324014" y="2582763"/>
            <a:ext cx="249597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4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欢迎提问与讨论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324014" y="3084314"/>
            <a:ext cx="249597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8BCA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xin.sun@cripac.ia.ac.cn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324014" y="3331964"/>
            <a:ext cx="249597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8BCA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sunxin000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Interview Presentation - Xin Sun</dc:title>
  <dc:subject>PptxGenJS Presentation</dc:subject>
  <dc:creator>Xin Sun</dc:creator>
  <cp:lastModifiedBy>Xin Sun</cp:lastModifiedBy>
  <cp:revision>1</cp:revision>
  <dcterms:created xsi:type="dcterms:W3CDTF">2026-04-21T06:39:52Z</dcterms:created>
  <dcterms:modified xsi:type="dcterms:W3CDTF">2026-04-21T06:39:52Z</dcterms:modified>
</cp:coreProperties>
</file>