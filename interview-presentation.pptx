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3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9"/>
  </p:normalViewPr>
  <p:slideViewPr>
    <p:cSldViewPr snapToGrid="0">
      <p:cViewPr varScale="1">
        <p:scale>
          <a:sx n="146" d="100"/>
          <a:sy n="146" d="100"/>
        </p:scale>
        <p:origin x="2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KBQA-o1</c:v>
          </c:tx>
          <c:spPr>
            <a:solidFill>
              <a:srgbClr val="6DCBF4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WebQSP</c:v>
              </c:pt>
              <c:pt idx="1">
                <c:v>GraphQ</c:v>
              </c:pt>
              <c:pt idx="2">
                <c:v>GrailQA</c:v>
              </c:pt>
            </c:strLit>
          </c:cat>
          <c:val>
            <c:numLit>
              <c:formatCode>General</c:formatCode>
              <c:ptCount val="3"/>
              <c:pt idx="0">
                <c:v>57.8</c:v>
              </c:pt>
              <c:pt idx="1">
                <c:v>48.7</c:v>
              </c:pt>
              <c:pt idx="2">
                <c:v>78.5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BD-1F47-8FC8-E15F090048FE}"/>
            </c:ext>
          </c:extLst>
        </c:ser>
        <c:ser>
          <c:idx val="1"/>
          <c:order val="1"/>
          <c:tx>
            <c:v>KBQA-R1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WebQSP</c:v>
              </c:pt>
              <c:pt idx="1">
                <c:v>GraphQ</c:v>
              </c:pt>
              <c:pt idx="2">
                <c:v>GrailQA</c:v>
              </c:pt>
            </c:strLit>
          </c:cat>
          <c:val>
            <c:numLit>
              <c:formatCode>General</c:formatCode>
              <c:ptCount val="3"/>
              <c:pt idx="0">
                <c:v>83.4</c:v>
              </c:pt>
              <c:pt idx="1">
                <c:v>53.8</c:v>
              </c:pt>
              <c:pt idx="2">
                <c:v>86.1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BD-1F47-8FC8-E15F090048F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95"/>
          <c:min val="30"/>
        </c:scaling>
        <c:delete val="0"/>
        <c:axPos val="l"/>
        <c:majorGridlines>
          <c:spPr>
            <a:ln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Outcome-only</c:v>
          </c:tx>
          <c:spPr>
            <a:solidFill>
              <a:srgbClr val="6DCBF4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WebQSP</c:v>
              </c:pt>
              <c:pt idx="1">
                <c:v>GrailQA</c:v>
              </c:pt>
              <c:pt idx="2">
                <c:v>GraphQ</c:v>
              </c:pt>
            </c:strLit>
          </c:cat>
          <c:val>
            <c:numLit>
              <c:formatCode>General</c:formatCode>
              <c:ptCount val="3"/>
              <c:pt idx="0">
                <c:v>83.4</c:v>
              </c:pt>
              <c:pt idx="1">
                <c:v>86.1</c:v>
              </c:pt>
              <c:pt idx="2">
                <c:v>53.8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A9E-254E-8411-2269319CF754}"/>
            </c:ext>
          </c:extLst>
        </c:ser>
        <c:ser>
          <c:idx val="1"/>
          <c:order val="1"/>
          <c:tx>
            <c:v>GAPD</c:v>
          </c:tx>
          <c:spPr>
            <a:solidFill>
              <a:srgbClr val="F07B4F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WebQSP</c:v>
              </c:pt>
              <c:pt idx="1">
                <c:v>GrailQA</c:v>
              </c:pt>
              <c:pt idx="2">
                <c:v>GraphQ</c:v>
              </c:pt>
            </c:strLit>
          </c:cat>
          <c:val>
            <c:numLit>
              <c:formatCode>General</c:formatCode>
              <c:ptCount val="3"/>
              <c:pt idx="0">
                <c:v>86.1</c:v>
              </c:pt>
              <c:pt idx="1">
                <c:v>89.5</c:v>
              </c:pt>
              <c:pt idx="2">
                <c:v>55.1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A9E-254E-8411-2269319CF75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95"/>
          <c:min val="45"/>
        </c:scaling>
        <c:delete val="0"/>
        <c:axPos val="l"/>
        <c:majorGridlines>
          <c:spPr>
            <a:ln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No-search TCHR</c:v>
          </c:tx>
          <c:spPr>
            <a:solidFill>
              <a:srgbClr val="6DCBF4"/>
            </a:solidFill>
          </c:spPr>
          <c:invertIfNegative val="1"/>
          <c:dLbls>
            <c:spPr>
              <a:noFill/>
              <a:ln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GPT-5.4</c:v>
              </c:pt>
              <c:pt idx="1">
                <c:v>Claude-Sonnet-5</c:v>
              </c:pt>
              <c:pt idx="2">
                <c:v>Qwen3.5-397B</c:v>
              </c:pt>
              <c:pt idx="3">
                <c:v>Kimi-K2.6</c:v>
              </c:pt>
              <c:pt idx="4">
                <c:v>Qwen3.6-27B</c:v>
              </c:pt>
            </c:strLit>
          </c:cat>
          <c:val>
            <c:numLit>
              <c:formatCode>General</c:formatCode>
              <c:ptCount val="5"/>
              <c:pt idx="0">
                <c:v>28.5</c:v>
              </c:pt>
              <c:pt idx="1">
                <c:v>39.6</c:v>
              </c:pt>
              <c:pt idx="2">
                <c:v>41.4</c:v>
              </c:pt>
              <c:pt idx="3">
                <c:v>36.799999999999997</c:v>
              </c:pt>
              <c:pt idx="4">
                <c:v>34.4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796-5F43-9A09-C4D127B36F03}"/>
            </c:ext>
          </c:extLst>
        </c:ser>
        <c:ser>
          <c:idx val="1"/>
          <c:order val="1"/>
          <c:tx>
            <c:v>Search TCHR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GPT-5.4</c:v>
              </c:pt>
              <c:pt idx="1">
                <c:v>Claude-Sonnet-5</c:v>
              </c:pt>
              <c:pt idx="2">
                <c:v>Qwen3.5-397B</c:v>
              </c:pt>
              <c:pt idx="3">
                <c:v>Kimi-K2.6</c:v>
              </c:pt>
              <c:pt idx="4">
                <c:v>Qwen3.6-27B</c:v>
              </c:pt>
            </c:strLit>
          </c:cat>
          <c:val>
            <c:numLit>
              <c:formatCode>General</c:formatCode>
              <c:ptCount val="5"/>
              <c:pt idx="0">
                <c:v>25.2</c:v>
              </c:pt>
              <c:pt idx="1">
                <c:v>26.8</c:v>
              </c:pt>
              <c:pt idx="2">
                <c:v>42.9</c:v>
              </c:pt>
              <c:pt idx="3">
                <c:v>24</c:v>
              </c:pt>
              <c:pt idx="4">
                <c:v>16.2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796-5F43-9A09-C4D127B36F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50"/>
        </c:scaling>
        <c:delete val="0"/>
        <c:axPos val="l"/>
        <c:majorGridlines>
          <c:spPr>
            <a:ln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ASR@3</c:v>
          </c:tx>
          <c:spPr>
            <a:solidFill>
              <a:srgbClr val="69C2E7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HB std-200</c:v>
              </c:pt>
              <c:pt idx="1">
                <c:v>JailbreakBench</c:v>
              </c:pt>
              <c:pt idx="2">
                <c:v>StrongREJECT</c:v>
              </c:pt>
            </c:strLit>
          </c:cat>
          <c:val>
            <c:numLit>
              <c:formatCode>General</c:formatCode>
              <c:ptCount val="3"/>
              <c:pt idx="0">
                <c:v>92.6</c:v>
              </c:pt>
              <c:pt idx="1">
                <c:v>93.8</c:v>
              </c:pt>
              <c:pt idx="2">
                <c:v>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A9-C149-9EB6-5C647F5E53A4}"/>
            </c:ext>
          </c:extLst>
        </c:ser>
        <c:ser>
          <c:idx val="1"/>
          <c:order val="1"/>
          <c:tx>
            <c:v>mean@3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HB std-200</c:v>
              </c:pt>
              <c:pt idx="1">
                <c:v>JailbreakBench</c:v>
              </c:pt>
              <c:pt idx="2">
                <c:v>StrongREJECT</c:v>
              </c:pt>
            </c:strLit>
          </c:cat>
          <c:val>
            <c:numLit>
              <c:formatCode>General</c:formatCode>
              <c:ptCount val="3"/>
              <c:pt idx="0">
                <c:v>85.6</c:v>
              </c:pt>
              <c:pt idx="1">
                <c:v>88.6</c:v>
              </c:pt>
              <c:pt idx="2">
                <c:v>88.9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A9-C149-9EB6-5C647F5E53A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2E6EA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B7C0CC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endParaRPr lang="zh-CN"/>
          </a:p>
        </c:txPr>
        <c:crossAx val="48650112"/>
        <c:crosses val="autoZero"/>
        <c:crossBetween val="between"/>
        <c:majorUnit val="20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75">
              <a:solidFill>
                <a:srgbClr val="59616D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resume and presentation context — identity, affiliation, research focus, and Ant Star Intern status.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Synthesis across the five primary papers in this presentation.</a:t>
            </a:r>
          </a:p>
          <a:p>
            <a:r>
              <a:t>[/Sources]</a:t>
            </a:r>
          </a:p>
          <a:p>
            <a:endParaRPr/>
          </a:p>
          <a:p>
            <a:r>
              <a:t>Opening claim: knowledge-agent training requires a closed loop spanning knowledge boundaries, executable environments, fine-grained credit, and behavioral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resume and publication status.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publication timeline and primary paper sequence.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Paper grouping based on Divide-Then-Align, KBQA-R1, GAPD, EviSD, and HopRefusalBench.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https://aclanthology.org/2025.acl-long.561/ — Sections 2.1–2.2 and Figure 1.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https://aclanthology.org/2025.acl-long.561/ — Sections 3.1 and 4.1; Table 1; Appendix J and human validation.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https://aclanthology.org/2025.acl-long.561/ — Section 4.3 and Table 2, nine-metric knowledge-boundary evaluation framework.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https://aclanthology.org/2025.acl-long.561/ — Sections 3.2–3.3, Equations 4–6, and Figure 2.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https://aclanthology.org/2025.acl-long.561/ — Section 4.4 and Table 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https://aclanthology.org/2025.acl-long.561/ — Tables 4–5 and Section 4.5.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Sections III–IV.A and Figure 1.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Sections III and IV.A; KG, executor, action parsing, RRCG, logical-form construction, and observation loop.</a:t>
            </a:r>
          </a:p>
          <a:p>
            <a:r>
              <a:t>[/Sources]</a:t>
            </a:r>
          </a:p>
          <a:p>
            <a:endParaRPr/>
          </a:p>
          <a:p>
            <a:r>
              <a:t>The KG harness is the reusable environment layer: different LLMs can be plugged into the same verified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Section IV.A.2 and Table II.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Section IV.A.3, Relation Retrieval and Confidence Gating.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Sections IV.B–IV.C and Figure 2.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Tables III–V and Section V.B.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https://arxiv.org/abs/2512.10999 — Tables VI–VIII and Sections V.C–V.D.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https://arxiv.org/abs/2605.29584 — GAPD problem formulation.</a:t>
            </a:r>
          </a:p>
          <a:p>
            <a:r>
              <a:t>- https://arxiv.org/abs/2608.01359 — EviSD problem formulation.</a:t>
            </a:r>
          </a:p>
          <a:p>
            <a:r>
              <a:t>[/Sources]</a:t>
            </a:r>
          </a:p>
          <a:p>
            <a:endParaRPr/>
          </a:p>
          <a:p>
            <a:r>
              <a:t>Section transition: GAPD and EviSD solve the same credit-assignment problem under different sources of privileged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https://arxiv.org/abs/2605.29584 — Section 2.2, outcome-only RL.</a:t>
            </a:r>
          </a:p>
          <a:p>
            <a:r>
              <a:t>- https://arxiv.org/abs/2608.01359 — credit-assignment motivation and GRPO outcome credit.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https://arxiv.org/abs/2605.29584 — Section 3.3, Equations 6–7, Entity-Anchor Matching and conservative filters.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https://arxiv.org/abs/2605.29584 — Sections 3.2–3.4 and Figure 1.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https://arxiv.org/abs/2605.29584 — Tables 1–4 and Section 4.2–4.3.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https://arxiv.org/abs/2608.01359 — Instance-level privileged context construction, action-dependent evidence/answer routing, and Appendix teacher prefixes.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https://arxiv.org/abs/2608.01359 — Method section and Figure 2: action masks, detached teacher–student gap, bounded outcome-anchored modulation.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https://arxiv.org/abs/2608.01359 — Tables 1–4, Figures 3–6, and RQ1–RQ4 analyses.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https://arxiv.org/abs/2608.01358 — Sections 2.1–2.4, Table 1, and Figure 2.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https://arxiv.org/abs/2608.01358 — Section 3 and Table 2, final-state taxonomy, evidence timeline, and paired shift metrics.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https://arxiv.org/abs/2608.01358 — Tables 3–4, Figures 3–4, and Section 4.2.</a:t>
            </a:r>
          </a:p>
          <a:p>
            <a:r>
              <a:t>[/Sources]</a:t>
            </a:r>
          </a:p>
          <a:p>
            <a:endParaRPr/>
          </a:p>
          <a:p>
            <a:r>
              <a:t>Search lowers TCHR for nine of ten models; topology and cause control show that verification and stopping are distinct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Synthesis based on Divide-Then-Align, KBQA-R1, GAPD, EviSD, and HopRefusalBench.</a:t>
            </a:r>
          </a:p>
          <a:p>
            <a:r>
              <a:t>- User-provided contact information.</a:t>
            </a:r>
          </a:p>
          <a:p>
            <a:r>
              <a:t>[/Sources]</a:t>
            </a:r>
          </a:p>
          <a:p>
            <a:endParaRPr/>
          </a:p>
          <a:p>
            <a:r>
              <a:t>Resolve the opening: reliable knowledge agents need measurement, executable environments, local credit, and calibrated stopping.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Trojail multi-turn attacker design and experiment context.</a:t>
            </a:r>
          </a:p>
          <a:p>
            <a:r>
              <a:t>[/Sources]</a:t>
            </a:r>
          </a:p>
          <a:p>
            <a:endParaRPr/>
          </a:p>
          <a:p>
            <a:r>
              <a:t>Narrative: jailbreak is modeled as sequential policy learning over victim feedback, turns, and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https://yuque.antfin.com/fengyi.sx/kdssqn/gky36g797fxv1r5g — Agentic Jailbreak 双周实验周报 8.14；“小 victim 策略迁移到 122B”与“直接在 122B 上训练”，updated 2026-08-18.</a:t>
            </a:r>
          </a:p>
          <a:p>
            <a:r>
              <a:t>- https://intranetproxy.alipay.com/skylark/lark/0/2026/png/160656393/1786690702406-b9f41a57-e3b2-4e04-aee7-cc92c64d7c79.png — 8B attacker vs. Qwen3.5-122B reward-sparsity training curve.</a:t>
            </a:r>
          </a:p>
          <a:p>
            <a:r>
              <a:t>[/Sources]</a:t>
            </a:r>
          </a:p>
          <a:p>
            <a:endParaRPr/>
          </a:p>
          <a:p>
            <a:r>
              <a:t>[Calculation]</a:t>
            </a:r>
          </a:p>
          <a:p>
            <a:r>
              <a:t>- Small-OOD macro ASR@3: 77.38%.</a:t>
            </a:r>
          </a:p>
          <a:p>
            <a:r>
              <a:t>- Transferred 122B macro ASR@3: 5.63%.</a:t>
            </a:r>
          </a:p>
          <a:p>
            <a:r>
              <a:t>- Transfer drop: 77.38 − 5.63 = 71.75 percentage points.</a:t>
            </a:r>
          </a:p>
          <a:p>
            <a:r>
              <a:t>[/Calculation]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https://yuque.antfin.com/fengyi.sx/kdssqn/gky36g797fxv1r5g — Agentic Jailbreak 双周实验周报 8.14；“直接在 122B 上训练”与“数据集泛化性”，updated 2026-08-18.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https://yuque.antfin.com/fengyi.sx/kdssqn/gky36g797fxv1r5g — Agentic Jailbreak 双周实验周报 8.14；“直接在 122B 上训练”与“数据集泛化性”，updated 2026-08-18.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">
            <a:extLst>
              <a:ext uri="{FF2B5EF4-FFF2-40B4-BE49-F238E27FC236}">
                <a16:creationId xmlns:a16="http://schemas.microsoft.com/office/drawing/2014/main" id="{B69C6A64-3744-473F-BC6E-2BD664C1B5B8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孙鑫 · 研究答辩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F5C0EB07-689F-4A71-9528-54F45BAD90C8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8286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61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知识智能体的训练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6A5296AD-E411-46E7-AB89-4E1CD916C21A}"/>
              </a:ext>
            </a:extLst>
          </p:cNvPr>
          <p:cNvSpPr>
            <a:spLocks noGrp="1"/>
          </p:cNvSpPr>
          <p:nvPr/>
        </p:nvSpPr>
        <p:spPr>
          <a:xfrm>
            <a:off x="400050" y="3390900"/>
            <a:ext cx="781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知识边界 · 可执行交互 · 细粒度信用分配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7A669374-FDDA-46CF-B084-E4E64C50AFA3}"/>
              </a:ext>
            </a:extLst>
          </p:cNvPr>
          <p:cNvSpPr>
            <a:spLocks noGrp="1"/>
          </p:cNvSpPr>
          <p:nvPr/>
        </p:nvSpPr>
        <p:spPr>
          <a:xfrm>
            <a:off x="400050" y="5410200"/>
            <a:ext cx="6858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中国科学技术大学 / 中国科学院自动化研究所</a:t>
            </a:r>
          </a:p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蚂蚁集团机器智能部门 · 蚂蚁星实习生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D4F2CA34-EF3B-4850-A0EB-0DDB9A9604E9}"/>
              </a:ext>
            </a:extLst>
          </p:cNvPr>
          <p:cNvSpPr>
            <a:spLocks noGrp="1"/>
          </p:cNvSpPr>
          <p:nvPr/>
        </p:nvSpPr>
        <p:spPr>
          <a:xfrm>
            <a:off x="8420100" y="1695450"/>
            <a:ext cx="3009900" cy="2800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  <a:p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CREDIT</a:t>
            </a:r>
          </a:p>
          <a:p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6" name="cover-mark">
            <a:extLst>
              <a:ext uri="{FF2B5EF4-FFF2-40B4-BE49-F238E27FC236}">
                <a16:creationId xmlns:a16="http://schemas.microsoft.com/office/drawing/2014/main" id="{268D44E1-8C5B-4FAA-8899-5D2FD937156F}"/>
              </a:ext>
            </a:extLst>
          </p:cNvPr>
          <p:cNvSpPr>
            <a:spLocks noGrp="1"/>
          </p:cNvSpPr>
          <p:nvPr/>
        </p:nvSpPr>
        <p:spPr>
          <a:xfrm>
            <a:off x="11125200" y="361950"/>
            <a:ext cx="266700" cy="2667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1227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">
            <a:extLst>
              <a:ext uri="{FF2B5EF4-FFF2-40B4-BE49-F238E27FC236}">
                <a16:creationId xmlns:a16="http://schemas.microsoft.com/office/drawing/2014/main" id="{37265312-4427-442A-906B-29BC5115B475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研究主线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E6513625-7A33-4AF1-B234-ADEFB84B53AE}"/>
              </a:ext>
            </a:extLst>
          </p:cNvPr>
          <p:cNvSpPr>
            <a:spLocks noGrp="1"/>
          </p:cNvSpPr>
          <p:nvPr/>
        </p:nvSpPr>
        <p:spPr>
          <a:xfrm>
            <a:off x="400050" y="1600200"/>
            <a:ext cx="102870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buNone/>
              <a:def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知识智能体训练，需要把</a:t>
            </a:r>
          </a:p>
          <a:p>
            <a:pPr algn="l">
              <a:lnSpc>
                <a:spcPct val="98000"/>
              </a:lnSpc>
              <a:buNone/>
              <a:def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知识、交互与反馈连成闭环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DFEC5790-8378-44E4-A405-E3A8B8785F1B}"/>
              </a:ext>
            </a:extLst>
          </p:cNvPr>
          <p:cNvSpPr>
            <a:spLocks noGrp="1"/>
          </p:cNvSpPr>
          <p:nvPr/>
        </p:nvSpPr>
        <p:spPr>
          <a:xfrm>
            <a:off x="400050" y="4953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F56F233E-2DC5-4612-AC75-7D10FEABB664}"/>
              </a:ext>
            </a:extLst>
          </p:cNvPr>
          <p:cNvSpPr>
            <a:spLocks noGrp="1"/>
          </p:cNvSpPr>
          <p:nvPr/>
        </p:nvSpPr>
        <p:spPr>
          <a:xfrm>
            <a:off x="990600" y="49149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边界建模</a:t>
            </a:r>
          </a:p>
        </p:txBody>
      </p:sp>
      <p:cxnSp>
        <p:nvCxnSpPr>
          <p:cNvPr id="328" name="rule"/>
          <p:cNvCxnSpPr/>
          <p:nvPr/>
        </p:nvCxnSpPr>
        <p:spPr>
          <a:xfrm>
            <a:off x="400050" y="5505450"/>
            <a:ext cx="23050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6" name="text">
            <a:extLst>
              <a:ext uri="{FF2B5EF4-FFF2-40B4-BE49-F238E27FC236}">
                <a16:creationId xmlns:a16="http://schemas.microsoft.com/office/drawing/2014/main" id="{3ED7B951-9B32-480B-A4C0-D3A300B8FC2C}"/>
              </a:ext>
            </a:extLst>
          </p:cNvPr>
          <p:cNvSpPr>
            <a:spLocks noGrp="1"/>
          </p:cNvSpPr>
          <p:nvPr/>
        </p:nvSpPr>
        <p:spPr>
          <a:xfrm>
            <a:off x="3181350" y="4953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B3536F27-E389-4B1D-B1C9-115BD3670796}"/>
              </a:ext>
            </a:extLst>
          </p:cNvPr>
          <p:cNvSpPr>
            <a:spLocks noGrp="1"/>
          </p:cNvSpPr>
          <p:nvPr/>
        </p:nvSpPr>
        <p:spPr>
          <a:xfrm>
            <a:off x="3771900" y="49149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环境构建</a:t>
            </a:r>
          </a:p>
        </p:txBody>
      </p:sp>
      <p:cxnSp>
        <p:nvCxnSpPr>
          <p:cNvPr id="331" name="rule"/>
          <p:cNvCxnSpPr/>
          <p:nvPr/>
        </p:nvCxnSpPr>
        <p:spPr>
          <a:xfrm>
            <a:off x="3181350" y="5505450"/>
            <a:ext cx="23050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>
              <a:ext uri="{FF2B5EF4-FFF2-40B4-BE49-F238E27FC236}">
                <a16:creationId xmlns:a16="http://schemas.microsoft.com/office/drawing/2014/main" id="{5F7FFD7C-6AEE-4E37-B911-253D99C1EABB}"/>
              </a:ext>
            </a:extLst>
          </p:cNvPr>
          <p:cNvSpPr>
            <a:spLocks noGrp="1"/>
          </p:cNvSpPr>
          <p:nvPr/>
        </p:nvSpPr>
        <p:spPr>
          <a:xfrm>
            <a:off x="5962650" y="4953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A93F1E5-C63B-49AA-AE9B-F6C603B205DB}"/>
              </a:ext>
            </a:extLst>
          </p:cNvPr>
          <p:cNvSpPr>
            <a:spLocks noGrp="1"/>
          </p:cNvSpPr>
          <p:nvPr/>
        </p:nvSpPr>
        <p:spPr>
          <a:xfrm>
            <a:off x="6553200" y="49149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信用分配</a:t>
            </a:r>
          </a:p>
        </p:txBody>
      </p:sp>
      <p:cxnSp>
        <p:nvCxnSpPr>
          <p:cNvPr id="334" name="rule"/>
          <p:cNvCxnSpPr/>
          <p:nvPr/>
        </p:nvCxnSpPr>
        <p:spPr>
          <a:xfrm>
            <a:off x="5962650" y="5505450"/>
            <a:ext cx="23050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>
              <a:ext uri="{FF2B5EF4-FFF2-40B4-BE49-F238E27FC236}">
                <a16:creationId xmlns:a16="http://schemas.microsoft.com/office/drawing/2014/main" id="{5702B1F8-ED0D-4666-B1F5-F6750CED5341}"/>
              </a:ext>
            </a:extLst>
          </p:cNvPr>
          <p:cNvSpPr>
            <a:spLocks noGrp="1"/>
          </p:cNvSpPr>
          <p:nvPr/>
        </p:nvSpPr>
        <p:spPr>
          <a:xfrm>
            <a:off x="8743950" y="4953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6DAAFFD3-11CC-4CF0-B5DB-CB94F9806A52}"/>
              </a:ext>
            </a:extLst>
          </p:cNvPr>
          <p:cNvSpPr>
            <a:spLocks noGrp="1"/>
          </p:cNvSpPr>
          <p:nvPr/>
        </p:nvSpPr>
        <p:spPr>
          <a:xfrm>
            <a:off x="9334500" y="49149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行为评测</a:t>
            </a:r>
          </a:p>
        </p:txBody>
      </p:sp>
      <p:cxnSp>
        <p:nvCxnSpPr>
          <p:cNvPr id="337" name="rule"/>
          <p:cNvCxnSpPr/>
          <p:nvPr/>
        </p:nvCxnSpPr>
        <p:spPr>
          <a:xfrm>
            <a:off x="8743950" y="5505450"/>
            <a:ext cx="23050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090789BC-6C2F-4492-8576-F2BF2E17FA9A}"/>
              </a:ext>
            </a:extLst>
          </p:cNvPr>
          <p:cNvSpPr>
            <a:spLocks noGrp="1"/>
          </p:cNvSpPr>
          <p:nvPr/>
        </p:nvSpPr>
        <p:spPr>
          <a:xfrm>
            <a:off x="7429500" y="419100"/>
            <a:ext cx="436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20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KNOWLEDGE AGENT TRAINING</a:t>
            </a:r>
          </a:p>
        </p:txBody>
      </p:sp>
    </p:spTree>
    <p:extLst>
      <p:ext uri="{BB962C8B-B14F-4D97-AF65-F5344CB8AC3E}">
        <p14:creationId xmlns:p14="http://schemas.microsoft.com/office/powerpoint/2010/main" val="20310522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kicker">
            <a:extLst>
              <a:ext uri="{FF2B5EF4-FFF2-40B4-BE49-F238E27FC236}">
                <a16:creationId xmlns:a16="http://schemas.microsoft.com/office/drawing/2014/main" id="{CC029253-8E61-4228-B9C5-5D78E6D91D51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PROFILE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1727CE36-F840-4231-967C-A2D4BF868C68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个人简介：研究经历与成果概览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4CB25D33-834A-4A69-88AC-6EE759B87CA0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66032A07-03E6-4184-9954-C3FCB2DF8F86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B4C11794-7D45-4870-89AE-6E344E23563D}"/>
              </a:ext>
            </a:extLst>
          </p:cNvPr>
          <p:cNvSpPr>
            <a:spLocks noGrp="1"/>
          </p:cNvSpPr>
          <p:nvPr/>
        </p:nvSpPr>
        <p:spPr>
          <a:xfrm>
            <a:off x="400050" y="1600200"/>
            <a:ext cx="11391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中国科学技术大学博士 · 中科院自动化所 NLPR 联培 · 蚂蚁集团机器智能部门蚂蚁星实习生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7DDCD51-EE2E-4E2C-BE23-E15DC128C5E3}"/>
              </a:ext>
            </a:extLst>
          </p:cNvPr>
          <p:cNvSpPr>
            <a:spLocks noGrp="1"/>
          </p:cNvSpPr>
          <p:nvPr/>
        </p:nvSpPr>
        <p:spPr>
          <a:xfrm>
            <a:off x="400050" y="2095500"/>
            <a:ext cx="1139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导师：王亮 教授（IEEE Fellow）、刘强 副研究员 · 研究生国家奖学金（2024）</a:t>
            </a:r>
          </a:p>
        </p:txBody>
      </p:sp>
      <p:sp>
        <p:nvSpPr>
          <p:cNvPr id="7" name="metric-一作 / 共同一作">
            <a:extLst>
              <a:ext uri="{FF2B5EF4-FFF2-40B4-BE49-F238E27FC236}">
                <a16:creationId xmlns:a16="http://schemas.microsoft.com/office/drawing/2014/main" id="{61A3109A-2C4A-46EF-9977-07003446E1E3}"/>
              </a:ext>
            </a:extLst>
          </p:cNvPr>
          <p:cNvSpPr>
            <a:spLocks noGrp="1"/>
          </p:cNvSpPr>
          <p:nvPr/>
        </p:nvSpPr>
        <p:spPr>
          <a:xfrm>
            <a:off x="400050" y="3143250"/>
            <a:ext cx="3429000" cy="28003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8" name="metric-stat-一作 / 共同一作">
            <a:extLst>
              <a:ext uri="{FF2B5EF4-FFF2-40B4-BE49-F238E27FC236}">
                <a16:creationId xmlns:a16="http://schemas.microsoft.com/office/drawing/2014/main" id="{564BB8A2-BE04-4412-9FE1-F3ED118CA536}"/>
              </a:ext>
            </a:extLst>
          </p:cNvPr>
          <p:cNvSpPr>
            <a:spLocks noGrp="1"/>
          </p:cNvSpPr>
          <p:nvPr/>
        </p:nvSpPr>
        <p:spPr>
          <a:xfrm>
            <a:off x="628650" y="3371850"/>
            <a:ext cx="29718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9" name="metric-label-一作 / 共同一作">
            <a:extLst>
              <a:ext uri="{FF2B5EF4-FFF2-40B4-BE49-F238E27FC236}">
                <a16:creationId xmlns:a16="http://schemas.microsoft.com/office/drawing/2014/main" id="{B903E06F-807E-4176-9317-DE91798CCAA9}"/>
              </a:ext>
            </a:extLst>
          </p:cNvPr>
          <p:cNvSpPr>
            <a:spLocks noGrp="1"/>
          </p:cNvSpPr>
          <p:nvPr/>
        </p:nvSpPr>
        <p:spPr>
          <a:xfrm>
            <a:off x="628650" y="4191000"/>
            <a:ext cx="2971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一作 / 共同一作</a:t>
            </a:r>
          </a:p>
        </p:txBody>
      </p:sp>
      <p:sp>
        <p:nvSpPr>
          <p:cNvPr id="10" name="metric-note-一作 / 共同一作">
            <a:extLst>
              <a:ext uri="{FF2B5EF4-FFF2-40B4-BE49-F238E27FC236}">
                <a16:creationId xmlns:a16="http://schemas.microsoft.com/office/drawing/2014/main" id="{AC801B47-F387-47C7-AB9C-A137AEEBABF1}"/>
              </a:ext>
            </a:extLst>
          </p:cNvPr>
          <p:cNvSpPr>
            <a:spLocks noGrp="1"/>
          </p:cNvSpPr>
          <p:nvPr/>
        </p:nvSpPr>
        <p:spPr>
          <a:xfrm>
            <a:off x="628650" y="4648200"/>
            <a:ext cx="297180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覆盖 RAG、Agent RL、可靠评测</a:t>
            </a:r>
          </a:p>
        </p:txBody>
      </p:sp>
      <p:sp>
        <p:nvSpPr>
          <p:cNvPr id="11" name="metric-已发表一作 / 共一">
            <a:extLst>
              <a:ext uri="{FF2B5EF4-FFF2-40B4-BE49-F238E27FC236}">
                <a16:creationId xmlns:a16="http://schemas.microsoft.com/office/drawing/2014/main" id="{D5D15525-5258-4C1D-8BA9-2B4D2CB384A2}"/>
              </a:ext>
            </a:extLst>
          </p:cNvPr>
          <p:cNvSpPr>
            <a:spLocks noGrp="1"/>
          </p:cNvSpPr>
          <p:nvPr/>
        </p:nvSpPr>
        <p:spPr>
          <a:xfrm>
            <a:off x="4381500" y="3143250"/>
            <a:ext cx="3429000" cy="28003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12" name="metric-stat-已发表一作 / 共一">
            <a:extLst>
              <a:ext uri="{FF2B5EF4-FFF2-40B4-BE49-F238E27FC236}">
                <a16:creationId xmlns:a16="http://schemas.microsoft.com/office/drawing/2014/main" id="{9C34DD12-D8C0-4AB9-900E-A2ACB9B89E75}"/>
              </a:ext>
            </a:extLst>
          </p:cNvPr>
          <p:cNvSpPr>
            <a:spLocks noGrp="1"/>
          </p:cNvSpPr>
          <p:nvPr/>
        </p:nvSpPr>
        <p:spPr>
          <a:xfrm>
            <a:off x="4610100" y="3371850"/>
            <a:ext cx="29718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3" name="metric-label-已发表一作 / 共一">
            <a:extLst>
              <a:ext uri="{FF2B5EF4-FFF2-40B4-BE49-F238E27FC236}">
                <a16:creationId xmlns:a16="http://schemas.microsoft.com/office/drawing/2014/main" id="{1B02DA9B-39FF-45A4-A1B2-62908BE163F5}"/>
              </a:ext>
            </a:extLst>
          </p:cNvPr>
          <p:cNvSpPr>
            <a:spLocks noGrp="1"/>
          </p:cNvSpPr>
          <p:nvPr/>
        </p:nvSpPr>
        <p:spPr>
          <a:xfrm>
            <a:off x="4610100" y="4191000"/>
            <a:ext cx="2971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已发表一作 / 共一</a:t>
            </a:r>
          </a:p>
        </p:txBody>
      </p:sp>
      <p:sp>
        <p:nvSpPr>
          <p:cNvPr id="14" name="metric-note-已发表一作 / 共一">
            <a:extLst>
              <a:ext uri="{FF2B5EF4-FFF2-40B4-BE49-F238E27FC236}">
                <a16:creationId xmlns:a16="http://schemas.microsoft.com/office/drawing/2014/main" id="{560C59E8-D6AE-4D3F-B5A0-E24520456C0F}"/>
              </a:ext>
            </a:extLst>
          </p:cNvPr>
          <p:cNvSpPr>
            <a:spLocks noGrp="1"/>
          </p:cNvSpPr>
          <p:nvPr/>
        </p:nvSpPr>
        <p:spPr>
          <a:xfrm>
            <a:off x="4610100" y="4648200"/>
            <a:ext cx="297180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CCF-A 4 篇 · CCF-B 2 篇</a:t>
            </a:r>
          </a:p>
        </p:txBody>
      </p:sp>
      <p:sp>
        <p:nvSpPr>
          <p:cNvPr id="15" name="metric-当前投稿">
            <a:extLst>
              <a:ext uri="{FF2B5EF4-FFF2-40B4-BE49-F238E27FC236}">
                <a16:creationId xmlns:a16="http://schemas.microsoft.com/office/drawing/2014/main" id="{F2610F6A-39C0-441F-A433-8FC3AC9441C8}"/>
              </a:ext>
            </a:extLst>
          </p:cNvPr>
          <p:cNvSpPr>
            <a:spLocks noGrp="1"/>
          </p:cNvSpPr>
          <p:nvPr/>
        </p:nvSpPr>
        <p:spPr>
          <a:xfrm>
            <a:off x="8362950" y="3143250"/>
            <a:ext cx="3429000" cy="28003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16" name="metric-stat-当前投稿">
            <a:extLst>
              <a:ext uri="{FF2B5EF4-FFF2-40B4-BE49-F238E27FC236}">
                <a16:creationId xmlns:a16="http://schemas.microsoft.com/office/drawing/2014/main" id="{B900CE33-FAF7-4BF8-BF52-7C850AF859EC}"/>
              </a:ext>
            </a:extLst>
          </p:cNvPr>
          <p:cNvSpPr>
            <a:spLocks noGrp="1"/>
          </p:cNvSpPr>
          <p:nvPr/>
        </p:nvSpPr>
        <p:spPr>
          <a:xfrm>
            <a:off x="8591550" y="3371850"/>
            <a:ext cx="29718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metric-label-当前投稿">
            <a:extLst>
              <a:ext uri="{FF2B5EF4-FFF2-40B4-BE49-F238E27FC236}">
                <a16:creationId xmlns:a16="http://schemas.microsoft.com/office/drawing/2014/main" id="{66F1B1E3-1147-4803-93F5-8C598A8C075C}"/>
              </a:ext>
            </a:extLst>
          </p:cNvPr>
          <p:cNvSpPr>
            <a:spLocks noGrp="1"/>
          </p:cNvSpPr>
          <p:nvPr/>
        </p:nvSpPr>
        <p:spPr>
          <a:xfrm>
            <a:off x="8591550" y="4191000"/>
            <a:ext cx="2971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当前投稿</a:t>
            </a:r>
          </a:p>
        </p:txBody>
      </p:sp>
      <p:sp>
        <p:nvSpPr>
          <p:cNvPr id="18" name="metric-note-当前投稿">
            <a:extLst>
              <a:ext uri="{FF2B5EF4-FFF2-40B4-BE49-F238E27FC236}">
                <a16:creationId xmlns:a16="http://schemas.microsoft.com/office/drawing/2014/main" id="{DF9FA69E-9DBE-4223-ABF5-4B1E8880429A}"/>
              </a:ext>
            </a:extLst>
          </p:cNvPr>
          <p:cNvSpPr>
            <a:spLocks noGrp="1"/>
          </p:cNvSpPr>
          <p:nvPr/>
        </p:nvSpPr>
        <p:spPr>
          <a:xfrm>
            <a:off x="8591550" y="4648200"/>
            <a:ext cx="297180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EMNLP 2026 · AAAI 2027 × 2</a:t>
            </a:r>
          </a:p>
        </p:txBody>
      </p:sp>
    </p:spTree>
    <p:extLst>
      <p:ext uri="{BB962C8B-B14F-4D97-AF65-F5344CB8AC3E}">
        <p14:creationId xmlns:p14="http://schemas.microsoft.com/office/powerpoint/2010/main" val="97468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ection-kicker">
            <a:extLst>
              <a:ext uri="{FF2B5EF4-FFF2-40B4-BE49-F238E27FC236}">
                <a16:creationId xmlns:a16="http://schemas.microsoft.com/office/drawing/2014/main" id="{F4B453A0-B893-4E81-9A0D-AF1CA2506A28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RESEARCH ARC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ECB0AF7-476B-4CCA-8F91-02B4B28FD3B2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研究轨迹：从鲁棒学习走向知识智能体训练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6B30B16F-3055-42F5-B48E-456558AE3E22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3384DC8C-A774-4675-AD95-04A2E6FA68F6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7A44674-C298-415F-949B-817C25DB2F28}"/>
              </a:ext>
            </a:extLst>
          </p:cNvPr>
          <p:cNvSpPr>
            <a:spLocks noGrp="1"/>
          </p:cNvSpPr>
          <p:nvPr/>
        </p:nvSpPr>
        <p:spPr>
          <a:xfrm>
            <a:off x="400050" y="2095500"/>
            <a:ext cx="1752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2023–24</a:t>
            </a:r>
          </a:p>
        </p:txBody>
      </p:sp>
      <p:cxnSp>
        <p:nvCxnSpPr>
          <p:cNvPr id="377" name="rule"/>
          <p:cNvCxnSpPr/>
          <p:nvPr/>
        </p:nvCxnSpPr>
        <p:spPr>
          <a:xfrm>
            <a:off x="400050" y="2724150"/>
            <a:ext cx="3143250" cy="95"/>
          </a:xfrm>
          <a:prstGeom prst="straightConnector1">
            <a:avLst/>
          </a:prstGeom>
          <a:ln w="9525">
            <a:solidFill>
              <a:srgbClr val="0A0A0A"/>
            </a:solidFill>
            <a:prstDash val="solid"/>
          </a:ln>
        </p:spPr>
      </p:cxnSp>
      <p:sp>
        <p:nvSpPr>
          <p:cNvPr id="7" name="panel">
            <a:extLst>
              <a:ext uri="{FF2B5EF4-FFF2-40B4-BE49-F238E27FC236}">
                <a16:creationId xmlns:a16="http://schemas.microsoft.com/office/drawing/2014/main" id="{B51AAF10-8576-46DD-B53C-14F4F0F4F105}"/>
              </a:ext>
            </a:extLst>
          </p:cNvPr>
          <p:cNvSpPr>
            <a:spLocks noGrp="1"/>
          </p:cNvSpPr>
          <p:nvPr/>
        </p:nvSpPr>
        <p:spPr>
          <a:xfrm>
            <a:off x="400050" y="2667000"/>
            <a:ext cx="114300" cy="11430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86095B4-5CCB-4D3E-8FED-D7E594793329}"/>
              </a:ext>
            </a:extLst>
          </p:cNvPr>
          <p:cNvSpPr>
            <a:spLocks noGrp="1"/>
          </p:cNvSpPr>
          <p:nvPr/>
        </p:nvSpPr>
        <p:spPr>
          <a:xfrm>
            <a:off x="400050" y="3048000"/>
            <a:ext cx="314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鲁棒泛化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1D949DE-4CA9-4BCC-B44F-8AD718CBEF07}"/>
              </a:ext>
            </a:extLst>
          </p:cNvPr>
          <p:cNvSpPr>
            <a:spLocks noGrp="1"/>
          </p:cNvSpPr>
          <p:nvPr/>
        </p:nvSpPr>
        <p:spPr>
          <a:xfrm>
            <a:off x="400050" y="3790950"/>
            <a:ext cx="31432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从噪声标签与图分布外泛化出发，建立长期可靠学习问题。</a:t>
            </a:r>
          </a:p>
          <a:p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Noise-Robust · EMNLP 2023</a:t>
            </a: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DIVE · KDD 2024</a:t>
            </a: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Uncertainty for IPS · </a:t>
            </a: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TKDE 2025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3D6DEDA-5E3D-4356-98AB-427A64C68511}"/>
              </a:ext>
            </a:extLst>
          </p:cNvPr>
          <p:cNvSpPr>
            <a:spLocks noGrp="1"/>
          </p:cNvSpPr>
          <p:nvPr/>
        </p:nvSpPr>
        <p:spPr>
          <a:xfrm>
            <a:off x="4324350" y="2095500"/>
            <a:ext cx="1752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2025</a:t>
            </a:r>
          </a:p>
        </p:txBody>
      </p:sp>
      <p:cxnSp>
        <p:nvCxnSpPr>
          <p:cNvPr id="382" name="rule"/>
          <p:cNvCxnSpPr/>
          <p:nvPr/>
        </p:nvCxnSpPr>
        <p:spPr>
          <a:xfrm>
            <a:off x="4324350" y="2724150"/>
            <a:ext cx="3143250" cy="95"/>
          </a:xfrm>
          <a:prstGeom prst="straightConnector1">
            <a:avLst/>
          </a:prstGeom>
          <a:ln w="9525">
            <a:solidFill>
              <a:srgbClr val="0A0A0A"/>
            </a:solidFill>
            <a:prstDash val="solid"/>
          </a:ln>
        </p:spPr>
      </p:cxnSp>
      <p:sp>
        <p:nvSpPr>
          <p:cNvPr id="12" name="panel">
            <a:extLst>
              <a:ext uri="{FF2B5EF4-FFF2-40B4-BE49-F238E27FC236}">
                <a16:creationId xmlns:a16="http://schemas.microsoft.com/office/drawing/2014/main" id="{E94D21DD-51A5-43A4-843E-EF82A94FFAD6}"/>
              </a:ext>
            </a:extLst>
          </p:cNvPr>
          <p:cNvSpPr>
            <a:spLocks noGrp="1"/>
          </p:cNvSpPr>
          <p:nvPr/>
        </p:nvSpPr>
        <p:spPr>
          <a:xfrm>
            <a:off x="4324350" y="2667000"/>
            <a:ext cx="114300" cy="114300"/>
          </a:xfrm>
          <a:prstGeom prst="ellipse">
            <a:avLst/>
          </a:prstGeom>
          <a:solidFill>
            <a:srgbClr val="2BA84A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8474492-7B33-444E-BE3F-547545DBA6A9}"/>
              </a:ext>
            </a:extLst>
          </p:cNvPr>
          <p:cNvSpPr>
            <a:spLocks noGrp="1"/>
          </p:cNvSpPr>
          <p:nvPr/>
        </p:nvSpPr>
        <p:spPr>
          <a:xfrm>
            <a:off x="4324350" y="3048000"/>
            <a:ext cx="314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知识边界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1E810EF8-586A-4CEA-823B-70D0E2184990}"/>
              </a:ext>
            </a:extLst>
          </p:cNvPr>
          <p:cNvSpPr>
            <a:spLocks noGrp="1"/>
          </p:cNvSpPr>
          <p:nvPr/>
        </p:nvSpPr>
        <p:spPr>
          <a:xfrm>
            <a:off x="4324350" y="3790950"/>
            <a:ext cx="31432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把“模型是否会答”推进到“模型是否应该答”，研究参数知识与检索知识的联合边界。</a:t>
            </a:r>
          </a:p>
          <a:p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Divide–Then–Align · ACL 2025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B76C264F-4C2C-4A73-ADD9-1E81AEDED7B8}"/>
              </a:ext>
            </a:extLst>
          </p:cNvPr>
          <p:cNvSpPr>
            <a:spLocks noGrp="1"/>
          </p:cNvSpPr>
          <p:nvPr/>
        </p:nvSpPr>
        <p:spPr>
          <a:xfrm>
            <a:off x="8248650" y="2095500"/>
            <a:ext cx="1752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2026</a:t>
            </a:r>
          </a:p>
        </p:txBody>
      </p:sp>
      <p:cxnSp>
        <p:nvCxnSpPr>
          <p:cNvPr id="387" name="rule"/>
          <p:cNvCxnSpPr/>
          <p:nvPr/>
        </p:nvCxnSpPr>
        <p:spPr>
          <a:xfrm>
            <a:off x="8248650" y="2724150"/>
            <a:ext cx="3143250" cy="95"/>
          </a:xfrm>
          <a:prstGeom prst="straightConnector1">
            <a:avLst/>
          </a:prstGeom>
          <a:ln w="9525">
            <a:solidFill>
              <a:srgbClr val="0A0A0A"/>
            </a:solidFill>
            <a:prstDash val="solid"/>
          </a:ln>
        </p:spPr>
      </p:cxnSp>
      <p:sp>
        <p:nvSpPr>
          <p:cNvPr id="17" name="panel">
            <a:extLst>
              <a:ext uri="{FF2B5EF4-FFF2-40B4-BE49-F238E27FC236}">
                <a16:creationId xmlns:a16="http://schemas.microsoft.com/office/drawing/2014/main" id="{5721F991-6D03-4508-B7A5-AF2674D0B036}"/>
              </a:ext>
            </a:extLst>
          </p:cNvPr>
          <p:cNvSpPr>
            <a:spLocks noGrp="1"/>
          </p:cNvSpPr>
          <p:nvPr/>
        </p:nvSpPr>
        <p:spPr>
          <a:xfrm>
            <a:off x="8248650" y="2667000"/>
            <a:ext cx="114300" cy="114300"/>
          </a:xfrm>
          <a:prstGeom prst="ellipse">
            <a:avLst/>
          </a:prstGeom>
          <a:solidFill>
            <a:srgbClr val="F07B4F"/>
          </a:solidFill>
          <a:ln w="0">
            <a:noFill/>
            <a:prstDash val="solid"/>
          </a:ln>
        </p:spPr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442FD416-A705-44B1-82F8-E827F6C56D2C}"/>
              </a:ext>
            </a:extLst>
          </p:cNvPr>
          <p:cNvSpPr>
            <a:spLocks noGrp="1"/>
          </p:cNvSpPr>
          <p:nvPr/>
        </p:nvSpPr>
        <p:spPr>
          <a:xfrm>
            <a:off x="8248650" y="3048000"/>
            <a:ext cx="314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FC99F682-B6E6-4192-8F65-422AE560076F}"/>
              </a:ext>
            </a:extLst>
          </p:cNvPr>
          <p:cNvSpPr>
            <a:spLocks noGrp="1"/>
          </p:cNvSpPr>
          <p:nvPr/>
        </p:nvSpPr>
        <p:spPr>
          <a:xfrm>
            <a:off x="8248650" y="3790950"/>
            <a:ext cx="31432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把检索建模为序列决策，构造可执行环境、细粒度动作信用与多跳行为评测。</a:t>
            </a:r>
          </a:p>
          <a:p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KBQA–R1 · </a:t>
            </a:r>
            <a:r>
              <a:rPr sz="150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ICML 2026</a:t>
            </a:r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GAPD · EMNLP 2026 投稿中</a:t>
            </a:r>
          </a:p>
          <a:p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EviSD · HopRefusal AAAI 2027 投稿中</a:t>
            </a:r>
          </a:p>
        </p:txBody>
      </p:sp>
    </p:spTree>
    <p:extLst>
      <p:ext uri="{BB962C8B-B14F-4D97-AF65-F5344CB8AC3E}">
        <p14:creationId xmlns:p14="http://schemas.microsoft.com/office/powerpoint/2010/main" val="61900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kicker">
            <a:extLst>
              <a:ext uri="{FF2B5EF4-FFF2-40B4-BE49-F238E27FC236}">
                <a16:creationId xmlns:a16="http://schemas.microsoft.com/office/drawing/2014/main" id="{AE3406F8-4C6B-4CE7-A94B-C36EF1C3DE3C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PORTFOLIO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69DBEF1A-F04C-40E5-BCD1-8984ADA9B79A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BCD7B2E2-8433-4B76-A76F-F4E93342582E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645B694F-3B34-43AB-A794-ED05113E34BE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5AC1248-1058-4E1F-84D8-6A1415B3470F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4E1D42F5-82EA-4CAF-9B35-DE025F0192A5}"/>
              </a:ext>
            </a:extLst>
          </p:cNvPr>
          <p:cNvSpPr>
            <a:spLocks noGrp="1"/>
          </p:cNvSpPr>
          <p:nvPr/>
        </p:nvSpPr>
        <p:spPr>
          <a:xfrm>
            <a:off x="1409700" y="171450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知识边界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9639F947-912A-4165-AED6-534FBC66395F}"/>
              </a:ext>
            </a:extLst>
          </p:cNvPr>
          <p:cNvSpPr>
            <a:spLocks noGrp="1"/>
          </p:cNvSpPr>
          <p:nvPr/>
        </p:nvSpPr>
        <p:spPr>
          <a:xfrm>
            <a:off x="4229100" y="17145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Divide–Then–Align：benchmark + 诚实对齐</a:t>
            </a:r>
          </a:p>
        </p:txBody>
      </p:sp>
      <p:cxnSp>
        <p:nvCxnSpPr>
          <p:cNvPr id="469" name="rule"/>
          <p:cNvCxnSpPr/>
          <p:nvPr/>
        </p:nvCxnSpPr>
        <p:spPr>
          <a:xfrm>
            <a:off x="1409700" y="2343150"/>
            <a:ext cx="101536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>
              <a:ext uri="{FF2B5EF4-FFF2-40B4-BE49-F238E27FC236}">
                <a16:creationId xmlns:a16="http://schemas.microsoft.com/office/drawing/2014/main" id="{A402BB35-2560-4527-B1E1-94898FDADB0F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FDF384E-8B14-45D8-A727-1349B4B7F2E8}"/>
              </a:ext>
            </a:extLst>
          </p:cNvPr>
          <p:cNvSpPr>
            <a:spLocks noGrp="1"/>
          </p:cNvSpPr>
          <p:nvPr/>
        </p:nvSpPr>
        <p:spPr>
          <a:xfrm>
            <a:off x="1409700" y="274320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交互环境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F68DD576-5594-44C1-A019-5C5E86B73A96}"/>
              </a:ext>
            </a:extLst>
          </p:cNvPr>
          <p:cNvSpPr>
            <a:spLocks noGrp="1"/>
          </p:cNvSpPr>
          <p:nvPr/>
        </p:nvSpPr>
        <p:spPr>
          <a:xfrm>
            <a:off x="4229100" y="27432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KBQA–R1：KG harness + Agent RL</a:t>
            </a:r>
          </a:p>
        </p:txBody>
      </p:sp>
      <p:cxnSp>
        <p:nvCxnSpPr>
          <p:cNvPr id="473" name="rule"/>
          <p:cNvCxnSpPr/>
          <p:nvPr/>
        </p:nvCxnSpPr>
        <p:spPr>
          <a:xfrm>
            <a:off x="1409700" y="3371850"/>
            <a:ext cx="101536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3" name="text">
            <a:extLst>
              <a:ext uri="{FF2B5EF4-FFF2-40B4-BE49-F238E27FC236}">
                <a16:creationId xmlns:a16="http://schemas.microsoft.com/office/drawing/2014/main" id="{3E64A2A7-06D0-47DF-9671-E05CA088D883}"/>
              </a:ext>
            </a:extLst>
          </p:cNvPr>
          <p:cNvSpPr>
            <a:spLocks noGrp="1"/>
          </p:cNvSpPr>
          <p:nvPr/>
        </p:nvSpPr>
        <p:spPr>
          <a:xfrm>
            <a:off x="457200" y="3771900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EFAA84-86B9-4CB5-B3AD-8ADAA6608F56}"/>
              </a:ext>
            </a:extLst>
          </p:cNvPr>
          <p:cNvSpPr>
            <a:spLocks noGrp="1"/>
          </p:cNvSpPr>
          <p:nvPr/>
        </p:nvSpPr>
        <p:spPr>
          <a:xfrm>
            <a:off x="1409700" y="377190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信用分配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60E8B5AC-32A2-45A2-AD43-BBE26D159919}"/>
              </a:ext>
            </a:extLst>
          </p:cNvPr>
          <p:cNvSpPr>
            <a:spLocks noGrp="1"/>
          </p:cNvSpPr>
          <p:nvPr/>
        </p:nvSpPr>
        <p:spPr>
          <a:xfrm>
            <a:off x="4229100" y="37719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GAPD + EviSD：利用特权信息和OPD给予RL细粒度奖励</a:t>
            </a:r>
          </a:p>
        </p:txBody>
      </p:sp>
      <p:cxnSp>
        <p:nvCxnSpPr>
          <p:cNvPr id="477" name="rule"/>
          <p:cNvCxnSpPr/>
          <p:nvPr/>
        </p:nvCxnSpPr>
        <p:spPr>
          <a:xfrm>
            <a:off x="1409700" y="4400550"/>
            <a:ext cx="101536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7" name="text">
            <a:extLst>
              <a:ext uri="{FF2B5EF4-FFF2-40B4-BE49-F238E27FC236}">
                <a16:creationId xmlns:a16="http://schemas.microsoft.com/office/drawing/2014/main" id="{A26C2A07-650F-4FB3-819E-2707CF0E5F7F}"/>
              </a:ext>
            </a:extLst>
          </p:cNvPr>
          <p:cNvSpPr>
            <a:spLocks noGrp="1"/>
          </p:cNvSpPr>
          <p:nvPr/>
        </p:nvSpPr>
        <p:spPr>
          <a:xfrm>
            <a:off x="457200" y="4800600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97ABD3A6-F68F-48DA-8533-65E47A4357A0}"/>
              </a:ext>
            </a:extLst>
          </p:cNvPr>
          <p:cNvSpPr>
            <a:spLocks noGrp="1"/>
          </p:cNvSpPr>
          <p:nvPr/>
        </p:nvSpPr>
        <p:spPr>
          <a:xfrm>
            <a:off x="1409700" y="480060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行为评测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B6EEE21B-BB96-41EA-B7D5-A39AFF38724A}"/>
              </a:ext>
            </a:extLst>
          </p:cNvPr>
          <p:cNvSpPr>
            <a:spLocks noGrp="1"/>
          </p:cNvSpPr>
          <p:nvPr/>
        </p:nvSpPr>
        <p:spPr>
          <a:xfrm>
            <a:off x="4229100" y="48006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HopRefusalBench：多跳不可回答行为诊断</a:t>
            </a:r>
          </a:p>
        </p:txBody>
      </p:sp>
      <p:cxnSp>
        <p:nvCxnSpPr>
          <p:cNvPr id="481" name="rule"/>
          <p:cNvCxnSpPr/>
          <p:nvPr/>
        </p:nvCxnSpPr>
        <p:spPr>
          <a:xfrm>
            <a:off x="1409700" y="5429250"/>
            <a:ext cx="101536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998934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-kicker">
            <a:extLst>
              <a:ext uri="{FF2B5EF4-FFF2-40B4-BE49-F238E27FC236}">
                <a16:creationId xmlns:a16="http://schemas.microsoft.com/office/drawing/2014/main" id="{41F683B5-3380-4D8E-BA10-EC3F5E77F698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DIVIDE-THEN-ALIGN · ACL 2025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429866AC-807A-481B-AEFC-573D55080E83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RAG 的边界不是检索边界，而是两种知识的并集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988AA4AD-476D-45EF-9A9C-A8432476288E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80A539ED-4FD8-4DFA-9419-FC354A22F822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">
                <a:extLst>
                  <a:ext uri="{FF2B5EF4-FFF2-40B4-BE49-F238E27FC236}">
                    <a16:creationId xmlns:a16="http://schemas.microsoft.com/office/drawing/2014/main" id="{3FCC502B-9C3C-4898-A79C-305D3B7D19A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0050" y="1676400"/>
                <a:ext cx="4953000" cy="590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buNone/>
                  <a:defRPr sz="3000" b="1">
                    <a:solidFill>
                      <a:srgbClr val="3D8DFF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𝐾𝐵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𝑟𝑎𝑔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𝐾𝐵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𝑝𝑎𝑟𝑎𝑚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∪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𝐾𝐵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5" name="text">
                <a:extLst>
                  <a:ext uri="{FF2B5EF4-FFF2-40B4-BE49-F238E27FC236}">
                    <a16:creationId xmlns:a16="http://schemas.microsoft.com/office/drawing/2014/main" id="{3FCC502B-9C3C-4898-A79C-305D3B7D1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50" y="1676400"/>
                <a:ext cx="4953000" cy="590550"/>
              </a:xfrm>
              <a:prstGeom prst="rect">
                <a:avLst/>
              </a:prstGeom>
              <a:blipFill>
                <a:blip r:embed="rId3"/>
                <a:stretch>
                  <a:fillRect b="-2128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bullets">
            <a:extLst>
              <a:ext uri="{FF2B5EF4-FFF2-40B4-BE49-F238E27FC236}">
                <a16:creationId xmlns:a16="http://schemas.microsoft.com/office/drawing/2014/main" id="{0741C679-5959-4939-BD17-CA8759F0F4F1}"/>
              </a:ext>
            </a:extLst>
          </p:cNvPr>
          <p:cNvSpPr>
            <a:spLocks noGrp="1"/>
          </p:cNvSpPr>
          <p:nvPr/>
        </p:nvSpPr>
        <p:spPr>
          <a:xfrm>
            <a:off x="400050" y="2571750"/>
            <a:ext cx="49530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参数知识已知：错误检索可能覆盖正确记忆。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参数知识未知：有证据时应依赖检索，无证据时应拒答。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真正风险：回答策略没有与当前知识象限对齐。</a:t>
            </a:r>
          </a:p>
        </p:txBody>
      </p:sp>
      <p:sp>
        <p:nvSpPr>
          <p:cNvPr id="7" name="panel">
            <a:extLst>
              <a:ext uri="{FF2B5EF4-FFF2-40B4-BE49-F238E27FC236}">
                <a16:creationId xmlns:a16="http://schemas.microsoft.com/office/drawing/2014/main" id="{1220FBD3-F62E-4AC7-9591-8AE544FBAAE8}"/>
              </a:ext>
            </a:extLst>
          </p:cNvPr>
          <p:cNvSpPr>
            <a:spLocks noGrp="1"/>
          </p:cNvSpPr>
          <p:nvPr/>
        </p:nvSpPr>
        <p:spPr>
          <a:xfrm>
            <a:off x="400050" y="5181600"/>
            <a:ext cx="4953000" cy="7810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1140CBEE-1833-4E1D-833D-E06DBE9CA003}"/>
              </a:ext>
            </a:extLst>
          </p:cNvPr>
          <p:cNvSpPr>
            <a:spLocks noGrp="1"/>
          </p:cNvSpPr>
          <p:nvPr/>
        </p:nvSpPr>
        <p:spPr>
          <a:xfrm>
            <a:off x="590550" y="5372100"/>
            <a:ext cx="4572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先判断“知道 / 不知道”，再决定回答、依赖检索或拒答。</a:t>
            </a:r>
          </a:p>
        </p:txBody>
      </p:sp>
      <p:sp>
        <p:nvSpPr>
          <p:cNvPr id="9" name="dta-boundary-backing">
            <a:extLst>
              <a:ext uri="{FF2B5EF4-FFF2-40B4-BE49-F238E27FC236}">
                <a16:creationId xmlns:a16="http://schemas.microsoft.com/office/drawing/2014/main" id="{6AAA83D4-7E54-4BA9-9BDB-A1FEF15817DA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33400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981700" y="1862504"/>
            <a:ext cx="5334000" cy="3856892"/>
          </a:xfrm>
          <a:prstGeom prst="roundRect">
            <a:avLst>
              <a:gd name="adj" fmla="val 2632"/>
            </a:avLst>
          </a:prstGeom>
        </p:spPr>
      </p:pic>
    </p:spTree>
    <p:extLst>
      <p:ext uri="{BB962C8B-B14F-4D97-AF65-F5344CB8AC3E}">
        <p14:creationId xmlns:p14="http://schemas.microsoft.com/office/powerpoint/2010/main" val="220721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ection-kicker">
            <a:extLst>
              <a:ext uri="{FF2B5EF4-FFF2-40B4-BE49-F238E27FC236}">
                <a16:creationId xmlns:a16="http://schemas.microsoft.com/office/drawing/2014/main" id="{11F575EE-F9E8-4124-B795-5D27AA6A0A82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BENCHMARK CONSTRUCTION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29BBC63-6175-4D7D-B8D1-A3F47C995CD6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Benchmark 先回答：样本到底落在哪个知识象限？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82A31E4A-C9FC-4076-AB7E-F047B817506A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D213A6F5-6119-4C3F-9A03-9F35954DE0A2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5" name="label-KBparam">
            <a:extLst>
              <a:ext uri="{FF2B5EF4-FFF2-40B4-BE49-F238E27FC236}">
                <a16:creationId xmlns:a16="http://schemas.microsoft.com/office/drawing/2014/main" id="{C8705BF6-6FF7-43EF-B6F7-25C4F8227BE8}"/>
              </a:ext>
            </a:extLst>
          </p:cNvPr>
          <p:cNvSpPr>
            <a:spLocks noGrp="1"/>
          </p:cNvSpPr>
          <p:nvPr/>
        </p:nvSpPr>
        <p:spPr>
          <a:xfrm>
            <a:off x="400050" y="16002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KBparam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E4F2552-FA63-4D35-9110-4B219E17A9E5}"/>
              </a:ext>
            </a:extLst>
          </p:cNvPr>
          <p:cNvSpPr>
            <a:spLocks noGrp="1"/>
          </p:cNvSpPr>
          <p:nvPr/>
        </p:nvSpPr>
        <p:spPr>
          <a:xfrm>
            <a:off x="400050" y="19621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无检索多次采样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A828251-D0C6-414B-8C89-4336979E9FB9}"/>
              </a:ext>
            </a:extLst>
          </p:cNvPr>
          <p:cNvSpPr>
            <a:spLocks noGrp="1"/>
          </p:cNvSpPr>
          <p:nvPr/>
        </p:nvSpPr>
        <p:spPr>
          <a:xfrm>
            <a:off x="400050" y="2457450"/>
            <a:ext cx="3238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N 次生成中，正确比例超过阈值 δ，视为参数知识已知。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997949B2-4472-4FEC-BC7A-2B27BFF1F703}"/>
              </a:ext>
            </a:extLst>
          </p:cNvPr>
          <p:cNvSpPr>
            <a:spLocks noGrp="1"/>
          </p:cNvSpPr>
          <p:nvPr/>
        </p:nvSpPr>
        <p:spPr>
          <a:xfrm>
            <a:off x="400050" y="35623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≈ 90%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8721567-2543-4D68-8A9A-C11D423A894C}"/>
              </a:ext>
            </a:extLst>
          </p:cNvPr>
          <p:cNvSpPr>
            <a:spLocks noGrp="1"/>
          </p:cNvSpPr>
          <p:nvPr/>
        </p:nvSpPr>
        <p:spPr>
          <a:xfrm>
            <a:off x="400050" y="4171950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lexical match 与人工评估一致率</a:t>
            </a:r>
          </a:p>
        </p:txBody>
      </p:sp>
      <p:cxnSp>
        <p:nvCxnSpPr>
          <p:cNvPr id="258" name="rule"/>
          <p:cNvCxnSpPr/>
          <p:nvPr/>
        </p:nvCxnSpPr>
        <p:spPr>
          <a:xfrm>
            <a:off x="3867150" y="1600200"/>
            <a:ext cx="95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label-KBr">
            <a:extLst>
              <a:ext uri="{FF2B5EF4-FFF2-40B4-BE49-F238E27FC236}">
                <a16:creationId xmlns:a16="http://schemas.microsoft.com/office/drawing/2014/main" id="{0469BB54-FB34-4D89-B829-B465BC57B2BA}"/>
              </a:ext>
            </a:extLst>
          </p:cNvPr>
          <p:cNvSpPr>
            <a:spLocks noGrp="1"/>
          </p:cNvSpPr>
          <p:nvPr/>
        </p:nvSpPr>
        <p:spPr>
          <a:xfrm>
            <a:off x="4305300" y="16002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KBr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84EAA2A6-667D-40A7-BBCD-64BD6ADEB02E}"/>
              </a:ext>
            </a:extLst>
          </p:cNvPr>
          <p:cNvSpPr>
            <a:spLocks noGrp="1"/>
          </p:cNvSpPr>
          <p:nvPr/>
        </p:nvSpPr>
        <p:spPr>
          <a:xfrm>
            <a:off x="4305300" y="19621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判定检索证据是否充分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E2A1C4B3-A433-444B-A9E9-806E143F42CF}"/>
              </a:ext>
            </a:extLst>
          </p:cNvPr>
          <p:cNvSpPr>
            <a:spLocks noGrp="1"/>
          </p:cNvSpPr>
          <p:nvPr/>
        </p:nvSpPr>
        <p:spPr>
          <a:xfrm>
            <a:off x="4305300" y="2457450"/>
            <a:ext cx="3238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GPT-4o 判断 top-3 passage 是否包含或直接蕴含 gold answer；人工审核验证 judge。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457E493A-AFCA-479C-8C3A-B9E046621D59}"/>
              </a:ext>
            </a:extLst>
          </p:cNvPr>
          <p:cNvSpPr>
            <a:spLocks noGrp="1"/>
          </p:cNvSpPr>
          <p:nvPr/>
        </p:nvSpPr>
        <p:spPr>
          <a:xfrm>
            <a:off x="4305300" y="38481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NQ · TriviaQA · WebQ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6F7310BF-DC53-4F6C-B500-75BC5B2E0268}"/>
              </a:ext>
            </a:extLst>
          </p:cNvPr>
          <p:cNvSpPr>
            <a:spLocks noGrp="1"/>
          </p:cNvSpPr>
          <p:nvPr/>
        </p:nvSpPr>
        <p:spPr>
          <a:xfrm>
            <a:off x="4305300" y="43624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DPR × Wikipedia × 3 passages</a:t>
            </a:r>
          </a:p>
        </p:txBody>
      </p:sp>
      <p:sp>
        <p:nvSpPr>
          <p:cNvPr id="16" name="quad-✔✔">
            <a:extLst>
              <a:ext uri="{FF2B5EF4-FFF2-40B4-BE49-F238E27FC236}">
                <a16:creationId xmlns:a16="http://schemas.microsoft.com/office/drawing/2014/main" id="{AA3749A1-DCE4-4269-888E-164F99FB5897}"/>
              </a:ext>
            </a:extLst>
          </p:cNvPr>
          <p:cNvSpPr>
            <a:spLocks noGrp="1"/>
          </p:cNvSpPr>
          <p:nvPr/>
        </p:nvSpPr>
        <p:spPr>
          <a:xfrm>
            <a:off x="7981950" y="1695450"/>
            <a:ext cx="1619250" cy="14859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BB4B7044-FEDC-4776-B841-B5133180CBC6}"/>
              </a:ext>
            </a:extLst>
          </p:cNvPr>
          <p:cNvSpPr>
            <a:spLocks noGrp="1"/>
          </p:cNvSpPr>
          <p:nvPr/>
        </p:nvSpPr>
        <p:spPr>
          <a:xfrm>
            <a:off x="8172450" y="1885950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06E2B058-949F-4A9F-9E01-7A45D9549125}"/>
              </a:ext>
            </a:extLst>
          </p:cNvPr>
          <p:cNvSpPr>
            <a:spLocks noGrp="1"/>
          </p:cNvSpPr>
          <p:nvPr/>
        </p:nvSpPr>
        <p:spPr>
          <a:xfrm>
            <a:off x="8153400" y="2476500"/>
            <a:ext cx="1276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模型与检索都知道</a:t>
            </a:r>
          </a:p>
        </p:txBody>
      </p:sp>
      <p:sp>
        <p:nvSpPr>
          <p:cNvPr id="19" name="quad-✔✘">
            <a:extLst>
              <a:ext uri="{FF2B5EF4-FFF2-40B4-BE49-F238E27FC236}">
                <a16:creationId xmlns:a16="http://schemas.microsoft.com/office/drawing/2014/main" id="{1BD59F33-EA88-4865-8220-B6A46DAA0CCB}"/>
              </a:ext>
            </a:extLst>
          </p:cNvPr>
          <p:cNvSpPr>
            <a:spLocks noGrp="1"/>
          </p:cNvSpPr>
          <p:nvPr/>
        </p:nvSpPr>
        <p:spPr>
          <a:xfrm>
            <a:off x="9791700" y="1695450"/>
            <a:ext cx="1619250" cy="14859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9972FD7C-D66D-4A4C-A28C-FDCCE412E869}"/>
              </a:ext>
            </a:extLst>
          </p:cNvPr>
          <p:cNvSpPr>
            <a:spLocks noGrp="1"/>
          </p:cNvSpPr>
          <p:nvPr/>
        </p:nvSpPr>
        <p:spPr>
          <a:xfrm>
            <a:off x="9982200" y="1885950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98E7B5CA-AAF6-4198-83F9-23F68E7F28EE}"/>
              </a:ext>
            </a:extLst>
          </p:cNvPr>
          <p:cNvSpPr>
            <a:spLocks noGrp="1"/>
          </p:cNvSpPr>
          <p:nvPr/>
        </p:nvSpPr>
        <p:spPr>
          <a:xfrm>
            <a:off x="9963150" y="2476500"/>
            <a:ext cx="1276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信参数知识，忽略噪声</a:t>
            </a:r>
          </a:p>
        </p:txBody>
      </p:sp>
      <p:sp>
        <p:nvSpPr>
          <p:cNvPr id="22" name="quad-✘✔">
            <a:extLst>
              <a:ext uri="{FF2B5EF4-FFF2-40B4-BE49-F238E27FC236}">
                <a16:creationId xmlns:a16="http://schemas.microsoft.com/office/drawing/2014/main" id="{DC567753-4B8E-4748-996C-193029CF25EB}"/>
              </a:ext>
            </a:extLst>
          </p:cNvPr>
          <p:cNvSpPr>
            <a:spLocks noGrp="1"/>
          </p:cNvSpPr>
          <p:nvPr/>
        </p:nvSpPr>
        <p:spPr>
          <a:xfrm>
            <a:off x="7981950" y="3486150"/>
            <a:ext cx="1619250" cy="14859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A6DF8D2F-63DD-418E-9853-DA4EE334B4F0}"/>
              </a:ext>
            </a:extLst>
          </p:cNvPr>
          <p:cNvSpPr>
            <a:spLocks noGrp="1"/>
          </p:cNvSpPr>
          <p:nvPr/>
        </p:nvSpPr>
        <p:spPr>
          <a:xfrm>
            <a:off x="8172450" y="3676650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08899F77-CD50-4842-87F2-345C6BA4FCAC}"/>
              </a:ext>
            </a:extLst>
          </p:cNvPr>
          <p:cNvSpPr>
            <a:spLocks noGrp="1"/>
          </p:cNvSpPr>
          <p:nvPr/>
        </p:nvSpPr>
        <p:spPr>
          <a:xfrm>
            <a:off x="8153400" y="4267200"/>
            <a:ext cx="1276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压制错误记忆，利用检索</a:t>
            </a:r>
          </a:p>
        </p:txBody>
      </p:sp>
      <p:sp>
        <p:nvSpPr>
          <p:cNvPr id="25" name="quad-✘✘">
            <a:extLst>
              <a:ext uri="{FF2B5EF4-FFF2-40B4-BE49-F238E27FC236}">
                <a16:creationId xmlns:a16="http://schemas.microsoft.com/office/drawing/2014/main" id="{D7ABE3CD-3E6E-47FA-891A-7083989F419A}"/>
              </a:ext>
            </a:extLst>
          </p:cNvPr>
          <p:cNvSpPr>
            <a:spLocks noGrp="1"/>
          </p:cNvSpPr>
          <p:nvPr/>
        </p:nvSpPr>
        <p:spPr>
          <a:xfrm>
            <a:off x="9791700" y="3486150"/>
            <a:ext cx="1619250" cy="1485900"/>
          </a:xfrm>
          <a:prstGeom prst="rect">
            <a:avLst/>
          </a:prstGeom>
          <a:solidFill>
            <a:srgbClr val="F0EEFA"/>
          </a:solidFill>
          <a:ln w="0">
            <a:noFill/>
            <a:prstDash val="solid"/>
          </a:ln>
        </p:spPr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EB8C5375-5D13-4C2A-A6CB-2E5DBF27566B}"/>
              </a:ext>
            </a:extLst>
          </p:cNvPr>
          <p:cNvSpPr>
            <a:spLocks noGrp="1"/>
          </p:cNvSpPr>
          <p:nvPr/>
        </p:nvSpPr>
        <p:spPr>
          <a:xfrm>
            <a:off x="9982200" y="3676650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B73AB9F2-3E70-4BB0-8B44-B0A2CD4244F7}"/>
              </a:ext>
            </a:extLst>
          </p:cNvPr>
          <p:cNvSpPr>
            <a:spLocks noGrp="1"/>
          </p:cNvSpPr>
          <p:nvPr/>
        </p:nvSpPr>
        <p:spPr>
          <a:xfrm>
            <a:off x="9963150" y="4267200"/>
            <a:ext cx="1276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两边都不知道，应该拒答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7A1BC20E-4CEF-47E9-8F91-5187F5E8512E}"/>
              </a:ext>
            </a:extLst>
          </p:cNvPr>
          <p:cNvSpPr>
            <a:spLocks noGrp="1"/>
          </p:cNvSpPr>
          <p:nvPr/>
        </p:nvSpPr>
        <p:spPr>
          <a:xfrm>
            <a:off x="7981950" y="5581650"/>
            <a:ext cx="342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rPr>
              <a:t>关键贡献：训练与评测都保留测试集的自然象限分布，而不是只构造“检索成功”的样本。</a:t>
            </a:r>
          </a:p>
        </p:txBody>
      </p:sp>
    </p:spTree>
    <p:extLst>
      <p:ext uri="{BB962C8B-B14F-4D97-AF65-F5344CB8AC3E}">
        <p14:creationId xmlns:p14="http://schemas.microsoft.com/office/powerpoint/2010/main" val="1283686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-kicker">
            <a:extLst>
              <a:ext uri="{FF2B5EF4-FFF2-40B4-BE49-F238E27FC236}">
                <a16:creationId xmlns:a16="http://schemas.microsoft.com/office/drawing/2014/main" id="{75552144-13C3-4721-AB17-98CCCC688D57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EVALUATION FRAMEWORK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F366763-D030-441F-ACC6-3E22B1D9F986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九项指标把“答对”拆成回答、检索处理与拒答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B0D736EC-E947-41B8-8259-98E3F3F2CFE3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0D887CC3-2A28-4740-AC2A-C8D4F6530FBF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AAF3E67-F789-49C1-B860-8445566CB828}"/>
              </a:ext>
            </a:extLst>
          </p:cNvPr>
          <p:cNvSpPr>
            <a:spLocks noGrp="1"/>
          </p:cNvSpPr>
          <p:nvPr/>
        </p:nvSpPr>
        <p:spPr>
          <a:xfrm>
            <a:off x="400050" y="497205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DR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CB784297-83BB-4429-9EB7-95B39C2339F2}"/>
              </a:ext>
            </a:extLst>
          </p:cNvPr>
          <p:cNvSpPr>
            <a:spLocks noGrp="1"/>
          </p:cNvSpPr>
          <p:nvPr/>
        </p:nvSpPr>
        <p:spPr>
          <a:xfrm>
            <a:off x="400050" y="5429250"/>
            <a:ext cx="2305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Denoise Rate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77D733C-68DB-4E12-B6D1-DFACA21BA91D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✔✘ 中仍答对的比例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4B76CD0E-963F-4F5B-917C-1E609CD65BF4}"/>
              </a:ext>
            </a:extLst>
          </p:cNvPr>
          <p:cNvSpPr>
            <a:spLocks noGrp="1"/>
          </p:cNvSpPr>
          <p:nvPr/>
        </p:nvSpPr>
        <p:spPr>
          <a:xfrm>
            <a:off x="3181350" y="497205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CUR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582B893-E608-42DE-9643-7A71AC89D7D9}"/>
              </a:ext>
            </a:extLst>
          </p:cNvPr>
          <p:cNvSpPr>
            <a:spLocks noGrp="1"/>
          </p:cNvSpPr>
          <p:nvPr/>
        </p:nvSpPr>
        <p:spPr>
          <a:xfrm>
            <a:off x="3181350" y="5429250"/>
            <a:ext cx="2305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Context Utilization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F3AAE028-244E-4FEF-87E6-B1497238E58C}"/>
              </a:ext>
            </a:extLst>
          </p:cNvPr>
          <p:cNvSpPr>
            <a:spLocks noGrp="1"/>
          </p:cNvSpPr>
          <p:nvPr/>
        </p:nvSpPr>
        <p:spPr>
          <a:xfrm>
            <a:off x="3181350" y="58102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✘✔ 中利用证据答对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F107D4A9-C748-46CE-9DDD-8452B199A6E7}"/>
              </a:ext>
            </a:extLst>
          </p:cNvPr>
          <p:cNvSpPr>
            <a:spLocks noGrp="1"/>
          </p:cNvSpPr>
          <p:nvPr/>
        </p:nvSpPr>
        <p:spPr>
          <a:xfrm>
            <a:off x="5962650" y="497205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AF1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43A631A-8249-48FA-BC50-41B06FC9A654}"/>
              </a:ext>
            </a:extLst>
          </p:cNvPr>
          <p:cNvSpPr>
            <a:spLocks noGrp="1"/>
          </p:cNvSpPr>
          <p:nvPr/>
        </p:nvSpPr>
        <p:spPr>
          <a:xfrm>
            <a:off x="5962650" y="5429250"/>
            <a:ext cx="2305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Abstain F1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581D9F60-CA2B-405B-A823-8CD0687F3B15}"/>
              </a:ext>
            </a:extLst>
          </p:cNvPr>
          <p:cNvSpPr>
            <a:spLocks noGrp="1"/>
          </p:cNvSpPr>
          <p:nvPr/>
        </p:nvSpPr>
        <p:spPr>
          <a:xfrm>
            <a:off x="5962650" y="58102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拒答 precision 与 recall 的平衡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82FD7534-F70D-424E-8356-D34E989B7B6A}"/>
              </a:ext>
            </a:extLst>
          </p:cNvPr>
          <p:cNvSpPr>
            <a:spLocks noGrp="1"/>
          </p:cNvSpPr>
          <p:nvPr/>
        </p:nvSpPr>
        <p:spPr>
          <a:xfrm>
            <a:off x="8743950" y="497205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ACC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CAD4E9EE-5481-4E7B-8570-F0AC7FEA86D1}"/>
              </a:ext>
            </a:extLst>
          </p:cNvPr>
          <p:cNvSpPr>
            <a:spLocks noGrp="1"/>
          </p:cNvSpPr>
          <p:nvPr/>
        </p:nvSpPr>
        <p:spPr>
          <a:xfrm>
            <a:off x="8743950" y="5429250"/>
            <a:ext cx="2305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Overall Accuracy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BF2A5E64-BF8A-4A43-9485-F9B2B37746A9}"/>
              </a:ext>
            </a:extLst>
          </p:cNvPr>
          <p:cNvSpPr>
            <a:spLocks noGrp="1"/>
          </p:cNvSpPr>
          <p:nvPr/>
        </p:nvSpPr>
        <p:spPr>
          <a:xfrm>
            <a:off x="8743950" y="58102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正确回答 + 正确拒答</a:t>
            </a:r>
          </a:p>
        </p:txBody>
      </p:sp>
      <p:pic>
        <p:nvPicPr>
          <p:cNvPr id="36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1200150"/>
            <a:ext cx="7772400" cy="359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83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ection-kicker">
            <a:extLst>
              <a:ext uri="{FF2B5EF4-FFF2-40B4-BE49-F238E27FC236}">
                <a16:creationId xmlns:a16="http://schemas.microsoft.com/office/drawing/2014/main" id="{7ED1FF66-AD1A-4F2B-92D1-E1273949A0A6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METHOD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1CA32260-F7D3-4CE8-98C8-450AED9BA81D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四个象限，构造四套偏好，再统一对齐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88DF6F67-AA67-4832-A53A-826A20B25BAB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35FDE807-0C11-4EC4-B516-72DA0DAB6C24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54B0A99-7CAE-4FD5-8D0F-F080E4232DFC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66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  <a:endParaRPr sz="1800" b="1" i="0">
              <a:solidFill>
                <a:srgbClr val="3D8D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BD0721D-D7CF-4A13-BBDB-3DD467624C39}"/>
              </a:ext>
            </a:extLst>
          </p:cNvPr>
          <p:cNvSpPr>
            <a:spLocks noGrp="1"/>
          </p:cNvSpPr>
          <p:nvPr/>
        </p:nvSpPr>
        <p:spPr>
          <a:xfrm>
            <a:off x="8820150" y="16192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IDK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7BDA8E7E-0FB4-4109-87FB-C079A8D62664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两边都可靠</a:t>
            </a:r>
          </a:p>
        </p:txBody>
      </p:sp>
      <p:cxnSp>
        <p:nvCxnSpPr>
          <p:cNvPr id="419" name="rule"/>
          <p:cNvCxnSpPr/>
          <p:nvPr/>
        </p:nvCxnSpPr>
        <p:spPr>
          <a:xfrm>
            <a:off x="8058150" y="2438400"/>
            <a:ext cx="3238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>
              <a:ext uri="{FF2B5EF4-FFF2-40B4-BE49-F238E27FC236}">
                <a16:creationId xmlns:a16="http://schemas.microsoft.com/office/drawing/2014/main" id="{EF39A4F6-3075-41B9-BC88-395EA7591282}"/>
              </a:ext>
            </a:extLst>
          </p:cNvPr>
          <p:cNvSpPr>
            <a:spLocks noGrp="1"/>
          </p:cNvSpPr>
          <p:nvPr/>
        </p:nvSpPr>
        <p:spPr>
          <a:xfrm>
            <a:off x="8058150" y="2619375"/>
            <a:ext cx="66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  <a:endParaRPr sz="1800" b="1" i="0">
              <a:solidFill>
                <a:srgbClr val="2BA84A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FEA67EF-FC09-4AE3-8C59-9966025B44B5}"/>
              </a:ext>
            </a:extLst>
          </p:cNvPr>
          <p:cNvSpPr>
            <a:spLocks noGrp="1"/>
          </p:cNvSpPr>
          <p:nvPr/>
        </p:nvSpPr>
        <p:spPr>
          <a:xfrm>
            <a:off x="8820150" y="26193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WA1 / IDK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12EE881-87F8-4D01-9067-A8729DC13D64}"/>
              </a:ext>
            </a:extLst>
          </p:cNvPr>
          <p:cNvSpPr>
            <a:spLocks noGrp="1"/>
          </p:cNvSpPr>
          <p:nvPr/>
        </p:nvSpPr>
        <p:spPr>
          <a:xfrm>
            <a:off x="8820150" y="301942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抵抗噪声检索</a:t>
            </a:r>
          </a:p>
        </p:txBody>
      </p:sp>
      <p:cxnSp>
        <p:nvCxnSpPr>
          <p:cNvPr id="423" name="rule"/>
          <p:cNvCxnSpPr/>
          <p:nvPr/>
        </p:nvCxnSpPr>
        <p:spPr>
          <a:xfrm>
            <a:off x="8058150" y="3438525"/>
            <a:ext cx="3238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009D46FD-223C-4EEC-970F-08500C0C34E2}"/>
              </a:ext>
            </a:extLst>
          </p:cNvPr>
          <p:cNvSpPr>
            <a:spLocks noGrp="1"/>
          </p:cNvSpPr>
          <p:nvPr/>
        </p:nvSpPr>
        <p:spPr>
          <a:xfrm>
            <a:off x="7915275" y="3636553"/>
            <a:ext cx="66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60061048-36BC-4090-B7D7-A52B8EE6D134}"/>
              </a:ext>
            </a:extLst>
          </p:cNvPr>
          <p:cNvSpPr>
            <a:spLocks noGrp="1"/>
          </p:cNvSpPr>
          <p:nvPr/>
        </p:nvSpPr>
        <p:spPr>
          <a:xfrm>
            <a:off x="8820150" y="36195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WA2 / IDK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4F5199C-09D9-4E50-8429-5A7EDEEDE19D}"/>
              </a:ext>
            </a:extLst>
          </p:cNvPr>
          <p:cNvSpPr>
            <a:spLocks noGrp="1"/>
          </p:cNvSpPr>
          <p:nvPr/>
        </p:nvSpPr>
        <p:spPr>
          <a:xfrm>
            <a:off x="8820150" y="40195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覆盖错误参数知识</a:t>
            </a:r>
          </a:p>
        </p:txBody>
      </p:sp>
      <p:cxnSp>
        <p:nvCxnSpPr>
          <p:cNvPr id="427" name="rule"/>
          <p:cNvCxnSpPr/>
          <p:nvPr/>
        </p:nvCxnSpPr>
        <p:spPr>
          <a:xfrm>
            <a:off x="8058150" y="4438650"/>
            <a:ext cx="3238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>
              <a:ext uri="{FF2B5EF4-FFF2-40B4-BE49-F238E27FC236}">
                <a16:creationId xmlns:a16="http://schemas.microsoft.com/office/drawing/2014/main" id="{54D7A0EA-DF65-4F73-9457-971AD6F016A7}"/>
              </a:ext>
            </a:extLst>
          </p:cNvPr>
          <p:cNvSpPr>
            <a:spLocks noGrp="1"/>
          </p:cNvSpPr>
          <p:nvPr/>
        </p:nvSpPr>
        <p:spPr>
          <a:xfrm>
            <a:off x="8058150" y="4619625"/>
            <a:ext cx="66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  <a:endParaRPr sz="1800" b="1" i="0">
              <a:solidFill>
                <a:srgbClr val="6C63B5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73E29F86-B3C2-4AC4-9ADA-2F265490B0F1}"/>
              </a:ext>
            </a:extLst>
          </p:cNvPr>
          <p:cNvSpPr>
            <a:spLocks noGrp="1"/>
          </p:cNvSpPr>
          <p:nvPr/>
        </p:nvSpPr>
        <p:spPr>
          <a:xfrm>
            <a:off x="8820150" y="46196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IDK &gt; GT / WA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4E630F12-579F-4412-9205-5D17D752FB2E}"/>
              </a:ext>
            </a:extLst>
          </p:cNvPr>
          <p:cNvSpPr>
            <a:spLocks noGrp="1"/>
          </p:cNvSpPr>
          <p:nvPr/>
        </p:nvSpPr>
        <p:spPr>
          <a:xfrm>
            <a:off x="8820150" y="50196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学习真正拒答</a:t>
            </a:r>
          </a:p>
        </p:txBody>
      </p:sp>
      <p:sp>
        <p:nvSpPr>
          <p:cNvPr id="22" name="panel">
            <a:extLst>
              <a:ext uri="{FF2B5EF4-FFF2-40B4-BE49-F238E27FC236}">
                <a16:creationId xmlns:a16="http://schemas.microsoft.com/office/drawing/2014/main" id="{FEAD3786-316C-4C92-966C-BF36AFD8C79F}"/>
              </a:ext>
            </a:extLst>
          </p:cNvPr>
          <p:cNvSpPr>
            <a:spLocks noGrp="1"/>
          </p:cNvSpPr>
          <p:nvPr/>
        </p:nvSpPr>
        <p:spPr>
          <a:xfrm>
            <a:off x="8058150" y="5657850"/>
            <a:ext cx="3238500" cy="5524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87BF745B-785A-452E-98A2-3A51CF04B0D4}"/>
              </a:ext>
            </a:extLst>
          </p:cNvPr>
          <p:cNvSpPr>
            <a:spLocks noGrp="1"/>
          </p:cNvSpPr>
          <p:nvPr/>
        </p:nvSpPr>
        <p:spPr>
          <a:xfrm>
            <a:off x="8248650" y="57912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LDPO + β LSFT + γ Lclass</a:t>
            </a:r>
          </a:p>
        </p:txBody>
      </p:sp>
      <p:pic>
        <p:nvPicPr>
          <p:cNvPr id="433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86" y="1644249"/>
            <a:ext cx="7540564" cy="4146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4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ection-kicker">
            <a:extLst>
              <a:ext uri="{FF2B5EF4-FFF2-40B4-BE49-F238E27FC236}">
                <a16:creationId xmlns:a16="http://schemas.microsoft.com/office/drawing/2014/main" id="{C7C2A3B8-1E79-42DC-9C5F-60845EB941EC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MAIN RESULTS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B3D62C3-7A3F-422C-A6DD-AAC3373909EA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DTA 同时提升回答质量与拒答质量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57FDAAA0-3D63-424A-B25C-9C0D9A2E949D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7E97A976-4D92-485F-ADD0-A6D20A393074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6" name="metric-Overall Accuracy">
            <a:extLst>
              <a:ext uri="{FF2B5EF4-FFF2-40B4-BE49-F238E27FC236}">
                <a16:creationId xmlns:a16="http://schemas.microsoft.com/office/drawing/2014/main" id="{A9033573-B92E-473C-8B46-1B6A23D62FDF}"/>
              </a:ext>
            </a:extLst>
          </p:cNvPr>
          <p:cNvSpPr>
            <a:spLocks noGrp="1"/>
          </p:cNvSpPr>
          <p:nvPr/>
        </p:nvSpPr>
        <p:spPr>
          <a:xfrm>
            <a:off x="6931529" y="1413439"/>
            <a:ext cx="3524250" cy="19431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7" name="metric-stat-Overall Accuracy">
            <a:extLst>
              <a:ext uri="{FF2B5EF4-FFF2-40B4-BE49-F238E27FC236}">
                <a16:creationId xmlns:a16="http://schemas.microsoft.com/office/drawing/2014/main" id="{FF47C4F9-163A-4DBD-8EA1-944612140A66}"/>
              </a:ext>
            </a:extLst>
          </p:cNvPr>
          <p:cNvSpPr>
            <a:spLocks noGrp="1"/>
          </p:cNvSpPr>
          <p:nvPr/>
        </p:nvSpPr>
        <p:spPr>
          <a:xfrm>
            <a:off x="7160129" y="1642039"/>
            <a:ext cx="3067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64.1–65.5</a:t>
            </a:r>
          </a:p>
        </p:txBody>
      </p:sp>
      <p:sp>
        <p:nvSpPr>
          <p:cNvPr id="8" name="metric-label-Overall Accuracy">
            <a:extLst>
              <a:ext uri="{FF2B5EF4-FFF2-40B4-BE49-F238E27FC236}">
                <a16:creationId xmlns:a16="http://schemas.microsoft.com/office/drawing/2014/main" id="{81CAC6C1-0573-4472-B4C9-C4B693E10038}"/>
              </a:ext>
            </a:extLst>
          </p:cNvPr>
          <p:cNvSpPr>
            <a:spLocks noGrp="1"/>
          </p:cNvSpPr>
          <p:nvPr/>
        </p:nvSpPr>
        <p:spPr>
          <a:xfrm>
            <a:off x="7160129" y="2461189"/>
            <a:ext cx="3067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Overall Accuracy</a:t>
            </a:r>
          </a:p>
        </p:txBody>
      </p:sp>
      <p:sp>
        <p:nvSpPr>
          <p:cNvPr id="9" name="metric-note-Overall Accuracy">
            <a:extLst>
              <a:ext uri="{FF2B5EF4-FFF2-40B4-BE49-F238E27FC236}">
                <a16:creationId xmlns:a16="http://schemas.microsoft.com/office/drawing/2014/main" id="{A855E278-59E8-4704-A840-3FF44FE20E09}"/>
              </a:ext>
            </a:extLst>
          </p:cNvPr>
          <p:cNvSpPr>
            <a:spLocks noGrp="1"/>
          </p:cNvSpPr>
          <p:nvPr/>
        </p:nvSpPr>
        <p:spPr>
          <a:xfrm>
            <a:off x="7160129" y="2918389"/>
            <a:ext cx="3067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9579" lnSpcReduction="10000"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三个 backbone 均显著领先现有 RAFT / calibration 基线</a:t>
            </a:r>
          </a:p>
        </p:txBody>
      </p:sp>
      <p:sp>
        <p:nvSpPr>
          <p:cNvPr id="10" name="metric-Abstain F1">
            <a:extLst>
              <a:ext uri="{FF2B5EF4-FFF2-40B4-BE49-F238E27FC236}">
                <a16:creationId xmlns:a16="http://schemas.microsoft.com/office/drawing/2014/main" id="{C96C850C-46A6-4C3B-96A1-3A8565265321}"/>
              </a:ext>
            </a:extLst>
          </p:cNvPr>
          <p:cNvSpPr>
            <a:spLocks noGrp="1"/>
          </p:cNvSpPr>
          <p:nvPr/>
        </p:nvSpPr>
        <p:spPr>
          <a:xfrm>
            <a:off x="6931529" y="3661339"/>
            <a:ext cx="3524250" cy="19431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1" name="metric-stat-Abstain F1">
            <a:extLst>
              <a:ext uri="{FF2B5EF4-FFF2-40B4-BE49-F238E27FC236}">
                <a16:creationId xmlns:a16="http://schemas.microsoft.com/office/drawing/2014/main" id="{CE97068F-DC4E-4762-A210-1375656E0DD0}"/>
              </a:ext>
            </a:extLst>
          </p:cNvPr>
          <p:cNvSpPr>
            <a:spLocks noGrp="1"/>
          </p:cNvSpPr>
          <p:nvPr/>
        </p:nvSpPr>
        <p:spPr>
          <a:xfrm>
            <a:off x="7160129" y="3889939"/>
            <a:ext cx="3067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59.9–64.7</a:t>
            </a:r>
          </a:p>
        </p:txBody>
      </p:sp>
      <p:sp>
        <p:nvSpPr>
          <p:cNvPr id="12" name="metric-label-Abstain F1">
            <a:extLst>
              <a:ext uri="{FF2B5EF4-FFF2-40B4-BE49-F238E27FC236}">
                <a16:creationId xmlns:a16="http://schemas.microsoft.com/office/drawing/2014/main" id="{271A23DC-F736-4E9E-9B24-263BCC84DAB7}"/>
              </a:ext>
            </a:extLst>
          </p:cNvPr>
          <p:cNvSpPr>
            <a:spLocks noGrp="1"/>
          </p:cNvSpPr>
          <p:nvPr/>
        </p:nvSpPr>
        <p:spPr>
          <a:xfrm>
            <a:off x="7160129" y="4709089"/>
            <a:ext cx="3067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Abstain F1</a:t>
            </a:r>
          </a:p>
        </p:txBody>
      </p:sp>
      <p:sp>
        <p:nvSpPr>
          <p:cNvPr id="13" name="metric-note-Abstain F1">
            <a:extLst>
              <a:ext uri="{FF2B5EF4-FFF2-40B4-BE49-F238E27FC236}">
                <a16:creationId xmlns:a16="http://schemas.microsoft.com/office/drawing/2014/main" id="{AAEE9411-F8BD-4EAB-822C-E236BF89A5BA}"/>
              </a:ext>
            </a:extLst>
          </p:cNvPr>
          <p:cNvSpPr>
            <a:spLocks noGrp="1"/>
          </p:cNvSpPr>
          <p:nvPr/>
        </p:nvSpPr>
        <p:spPr>
          <a:xfrm>
            <a:off x="7160129" y="5166289"/>
            <a:ext cx="3067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3062" lnSpcReduction="10000"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RAFT 基线常为 0；DTA 学到“只在双边界外拒答”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930E3276-11D6-4A98-ACB4-56DD4F281BBA}"/>
              </a:ext>
            </a:extLst>
          </p:cNvPr>
          <p:cNvSpPr>
            <a:spLocks noGrp="1"/>
          </p:cNvSpPr>
          <p:nvPr/>
        </p:nvSpPr>
        <p:spPr>
          <a:xfrm>
            <a:off x="400050" y="6076950"/>
            <a:ext cx="7124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测试集：NQ + TriviaQA + WebQ，各模型保持自然四象限分布。</a:t>
            </a:r>
          </a:p>
        </p:txBody>
      </p:sp>
      <p:pic>
        <p:nvPicPr>
          <p:cNvPr id="30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975" y="1200150"/>
            <a:ext cx="4903575" cy="48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32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kicker">
            <a:extLst>
              <a:ext uri="{FF2B5EF4-FFF2-40B4-BE49-F238E27FC236}">
                <a16:creationId xmlns:a16="http://schemas.microsoft.com/office/drawing/2014/main" id="{AEB43C78-67B4-4613-81FC-D5E8A509AD4B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ABLATIONS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46E7902-77D9-4D8F-85A1-95109BEA5285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没有双边界或缺少关键象限，系统会学偏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824B9548-CBA5-4160-A16A-0DFEA81DB2F0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E67230FB-5EE8-4B8C-9D92-4EDEA895AAC4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E77BD03-3D13-40E4-B1B0-CE2681FFE222}"/>
              </a:ext>
            </a:extLst>
          </p:cNvPr>
          <p:cNvSpPr>
            <a:spLocks noGrp="1"/>
          </p:cNvSpPr>
          <p:nvPr/>
        </p:nvSpPr>
        <p:spPr>
          <a:xfrm>
            <a:off x="7524750" y="17145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只看 KBr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5B036B05-0C80-4B4F-8831-41E6848AE920}"/>
              </a:ext>
            </a:extLst>
          </p:cNvPr>
          <p:cNvSpPr>
            <a:spLocks noGrp="1"/>
          </p:cNvSpPr>
          <p:nvPr/>
        </p:nvSpPr>
        <p:spPr>
          <a:xfrm>
            <a:off x="9334500" y="1714500"/>
            <a:ext cx="2190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错把“模型知道但检索失败”当作未知，回答 F1 降至 55.3。</a:t>
            </a:r>
          </a:p>
        </p:txBody>
      </p:sp>
      <p:cxnSp>
        <p:nvCxnSpPr>
          <p:cNvPr id="342" name="rule"/>
          <p:cNvCxnSpPr/>
          <p:nvPr/>
        </p:nvCxnSpPr>
        <p:spPr>
          <a:xfrm>
            <a:off x="7524750" y="2533650"/>
            <a:ext cx="4000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>
              <a:ext uri="{FF2B5EF4-FFF2-40B4-BE49-F238E27FC236}">
                <a16:creationId xmlns:a16="http://schemas.microsoft.com/office/drawing/2014/main" id="{C457F735-1018-4A22-AFE9-0E71AB278376}"/>
              </a:ext>
            </a:extLst>
          </p:cNvPr>
          <p:cNvSpPr>
            <a:spLocks noGrp="1"/>
          </p:cNvSpPr>
          <p:nvPr/>
        </p:nvSpPr>
        <p:spPr>
          <a:xfrm>
            <a:off x="7524750" y="27622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去掉 ✔✘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7D57862-4DCA-4F10-8A37-A4ADF3C5C9BE}"/>
              </a:ext>
            </a:extLst>
          </p:cNvPr>
          <p:cNvSpPr>
            <a:spLocks noGrp="1"/>
          </p:cNvSpPr>
          <p:nvPr/>
        </p:nvSpPr>
        <p:spPr>
          <a:xfrm>
            <a:off x="9334500" y="2762250"/>
            <a:ext cx="2190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没有噪声训练，Denoise Rate 从 68.9 降至 47.9。</a:t>
            </a:r>
          </a:p>
        </p:txBody>
      </p:sp>
      <p:cxnSp>
        <p:nvCxnSpPr>
          <p:cNvPr id="345" name="rule"/>
          <p:cNvCxnSpPr/>
          <p:nvPr/>
        </p:nvCxnSpPr>
        <p:spPr>
          <a:xfrm>
            <a:off x="7524750" y="3581400"/>
            <a:ext cx="4000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>
              <a:ext uri="{FF2B5EF4-FFF2-40B4-BE49-F238E27FC236}">
                <a16:creationId xmlns:a16="http://schemas.microsoft.com/office/drawing/2014/main" id="{0EA09D21-7179-4381-93A1-BC7B08FC0B0F}"/>
              </a:ext>
            </a:extLst>
          </p:cNvPr>
          <p:cNvSpPr>
            <a:spLocks noGrp="1"/>
          </p:cNvSpPr>
          <p:nvPr/>
        </p:nvSpPr>
        <p:spPr>
          <a:xfrm>
            <a:off x="7524750" y="3810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去掉 ✘✔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AD4CABF-615C-4CF1-B528-756D6CABAB12}"/>
              </a:ext>
            </a:extLst>
          </p:cNvPr>
          <p:cNvSpPr>
            <a:spLocks noGrp="1"/>
          </p:cNvSpPr>
          <p:nvPr/>
        </p:nvSpPr>
        <p:spPr>
          <a:xfrm>
            <a:off x="9334500" y="3810000"/>
            <a:ext cx="2190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不会在需要时依赖证据，CUR 降至 45.6。</a:t>
            </a:r>
          </a:p>
        </p:txBody>
      </p:sp>
      <p:cxnSp>
        <p:nvCxnSpPr>
          <p:cNvPr id="348" name="rule"/>
          <p:cNvCxnSpPr/>
          <p:nvPr/>
        </p:nvCxnSpPr>
        <p:spPr>
          <a:xfrm>
            <a:off x="7524750" y="4629150"/>
            <a:ext cx="4000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5902CE3C-7E5F-4276-B3D2-F06D53811FBE}"/>
              </a:ext>
            </a:extLst>
          </p:cNvPr>
          <p:cNvSpPr>
            <a:spLocks noGrp="1"/>
          </p:cNvSpPr>
          <p:nvPr/>
        </p:nvSpPr>
        <p:spPr>
          <a:xfrm>
            <a:off x="7524750" y="4857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去掉 ✘✘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5C86D857-BEC7-47B0-BE5B-3717080BF90A}"/>
              </a:ext>
            </a:extLst>
          </p:cNvPr>
          <p:cNvSpPr>
            <a:spLocks noGrp="1"/>
          </p:cNvSpPr>
          <p:nvPr/>
        </p:nvSpPr>
        <p:spPr>
          <a:xfrm>
            <a:off x="9334500" y="4857750"/>
            <a:ext cx="2190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拒答能力完全消失，AF1 = 0。</a:t>
            </a:r>
          </a:p>
        </p:txBody>
      </p:sp>
      <p:sp>
        <p:nvSpPr>
          <p:cNvPr id="17" name="panel">
            <a:extLst>
              <a:ext uri="{FF2B5EF4-FFF2-40B4-BE49-F238E27FC236}">
                <a16:creationId xmlns:a16="http://schemas.microsoft.com/office/drawing/2014/main" id="{2DB27B78-09FA-487C-B211-0B8570E381E6}"/>
              </a:ext>
            </a:extLst>
          </p:cNvPr>
          <p:cNvSpPr>
            <a:spLocks noGrp="1"/>
          </p:cNvSpPr>
          <p:nvPr/>
        </p:nvSpPr>
        <p:spPr>
          <a:xfrm>
            <a:off x="7524750" y="5867400"/>
            <a:ext cx="4000500" cy="40005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5BC66B37-B6DF-4C06-A1D3-A81609AB9D90}"/>
              </a:ext>
            </a:extLst>
          </p:cNvPr>
          <p:cNvSpPr>
            <a:spLocks noGrp="1"/>
          </p:cNvSpPr>
          <p:nvPr/>
        </p:nvSpPr>
        <p:spPr>
          <a:xfrm>
            <a:off x="7677150" y="5943600"/>
            <a:ext cx="3695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rPr>
              <a:t>九项指标揭示：模型学成了“谨慎”，还是“有选择地可靠”。</a:t>
            </a:r>
          </a:p>
        </p:txBody>
      </p:sp>
      <p:pic>
        <p:nvPicPr>
          <p:cNvPr id="353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590" y="1507966"/>
            <a:ext cx="5529841" cy="485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270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-kicker">
            <a:extLst>
              <a:ext uri="{FF2B5EF4-FFF2-40B4-BE49-F238E27FC236}">
                <a16:creationId xmlns:a16="http://schemas.microsoft.com/office/drawing/2014/main" id="{6D7B5D3C-A50D-4635-9AD6-08EB00C50878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ICML 2026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FC2FF68E-574C-4F93-9017-0F8296640D91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KBQA 不是生成一个程序，而是在知识库里学习决策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B3B35A63-0783-4F71-939F-D559111B92B1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597F5D91-8EF7-47D2-A953-9E9EBCAF8B9F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D41262FF-EE8B-4939-B534-FCD394215AA8}"/>
              </a:ext>
            </a:extLst>
          </p:cNvPr>
          <p:cNvSpPr>
            <a:spLocks noGrp="1"/>
          </p:cNvSpPr>
          <p:nvPr/>
        </p:nvSpPr>
        <p:spPr>
          <a:xfrm>
            <a:off x="400050" y="1676400"/>
            <a:ext cx="1200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State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3D7BDCB-6E7F-4239-8872-48556A1752B8}"/>
              </a:ext>
            </a:extLst>
          </p:cNvPr>
          <p:cNvSpPr>
            <a:spLocks noGrp="1"/>
          </p:cNvSpPr>
          <p:nvPr/>
        </p:nvSpPr>
        <p:spPr>
          <a:xfrm>
            <a:off x="1600200" y="16954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问题 + 既往 think/action + KB observation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06CBDF6F-8191-4B15-9B5A-CEA95E775205}"/>
              </a:ext>
            </a:extLst>
          </p:cNvPr>
          <p:cNvSpPr>
            <a:spLocks noGrp="1"/>
          </p:cNvSpPr>
          <p:nvPr/>
        </p:nvSpPr>
        <p:spPr>
          <a:xfrm>
            <a:off x="400050" y="2190750"/>
            <a:ext cx="1200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Action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FF11D1C-118D-4205-B6B6-60BCB334E4EA}"/>
              </a:ext>
            </a:extLst>
          </p:cNvPr>
          <p:cNvSpPr>
            <a:spLocks noGrp="1"/>
          </p:cNvSpPr>
          <p:nvPr/>
        </p:nvSpPr>
        <p:spPr>
          <a:xfrm>
            <a:off x="1600200" y="22098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可执行的原子操作，而不是整棵 S-Expression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182D7E3C-A88E-4A70-9912-F0C2AF4E8462}"/>
              </a:ext>
            </a:extLst>
          </p:cNvPr>
          <p:cNvSpPr>
            <a:spLocks noGrp="1"/>
          </p:cNvSpPr>
          <p:nvPr/>
        </p:nvSpPr>
        <p:spPr>
          <a:xfrm>
            <a:off x="400050" y="27051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0C50E205-D3A6-4584-A77F-FD33C1AE76DB}"/>
              </a:ext>
            </a:extLst>
          </p:cNvPr>
          <p:cNvSpPr>
            <a:spLocks noGrp="1"/>
          </p:cNvSpPr>
          <p:nvPr/>
        </p:nvSpPr>
        <p:spPr>
          <a:xfrm>
            <a:off x="1828800" y="2724150"/>
            <a:ext cx="3771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实体集合、候选关系、执行结果和诊断反馈</a:t>
            </a:r>
          </a:p>
        </p:txBody>
      </p:sp>
      <p:sp>
        <p:nvSpPr>
          <p:cNvPr id="11" name="bullets">
            <a:extLst>
              <a:ext uri="{FF2B5EF4-FFF2-40B4-BE49-F238E27FC236}">
                <a16:creationId xmlns:a16="http://schemas.microsoft.com/office/drawing/2014/main" id="{B5151398-AA26-439E-AF4D-2D26C94892DF}"/>
              </a:ext>
            </a:extLst>
          </p:cNvPr>
          <p:cNvSpPr>
            <a:spLocks noGrp="1"/>
          </p:cNvSpPr>
          <p:nvPr/>
        </p:nvSpPr>
        <p:spPr>
          <a:xfrm>
            <a:off x="400050" y="3676650"/>
            <a:ext cx="48577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3"/>
              </a:spcAft>
              <a:buNone/>
            </a:pPr>
            <a:r>
              <a:rPr sz="14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  决策闭环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think → action → execute → observe → revise</a:t>
            </a:r>
          </a:p>
          <a:p>
            <a:pPr algn="l">
              <a:spcAft>
                <a:spcPts val="13"/>
              </a:spcAft>
              <a:buNone/>
            </a:pPr>
            <a:r>
              <a:rPr sz="1450" b="1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02  学习目标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最终答案 F1 + 结构正确性 → 单一 policy</a:t>
            </a:r>
          </a:p>
          <a:p>
            <a:pPr algn="l">
              <a:buNone/>
            </a:pPr>
            <a:r>
              <a:rPr sz="1450" b="1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03  范式升级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Text Imitation → Interaction Optimization</a:t>
            </a:r>
          </a:p>
        </p:txBody>
      </p:sp>
      <p:sp>
        <p:nvSpPr>
          <p:cNvPr id="12" name="kbqa-loop-backing">
            <a:extLst>
              <a:ext uri="{FF2B5EF4-FFF2-40B4-BE49-F238E27FC236}">
                <a16:creationId xmlns:a16="http://schemas.microsoft.com/office/drawing/2014/main" id="{1D4FDC97-0D7A-4577-B4AB-52DC5949874E}"/>
              </a:ext>
            </a:extLst>
          </p:cNvPr>
          <p:cNvSpPr>
            <a:spLocks noGrp="1"/>
          </p:cNvSpPr>
          <p:nvPr/>
        </p:nvSpPr>
        <p:spPr>
          <a:xfrm>
            <a:off x="5753100" y="1581150"/>
            <a:ext cx="5753100" cy="44196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53100" y="2140470"/>
            <a:ext cx="5753100" cy="3300959"/>
          </a:xfrm>
          <a:prstGeom prst="roundRect">
            <a:avLst>
              <a:gd name="adj" fmla="val 2586"/>
            </a:avLst>
          </a:prstGeom>
        </p:spPr>
      </p:pic>
    </p:spTree>
    <p:extLst>
      <p:ext uri="{BB962C8B-B14F-4D97-AF65-F5344CB8AC3E}">
        <p14:creationId xmlns:p14="http://schemas.microsoft.com/office/powerpoint/2010/main" val="1561334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ection-kicker">
            <a:extLst>
              <a:ext uri="{FF2B5EF4-FFF2-40B4-BE49-F238E27FC236}">
                <a16:creationId xmlns:a16="http://schemas.microsoft.com/office/drawing/2014/main" id="{C580764F-872F-4B09-9C4C-E090385A8EAF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SYSTEM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690E4F96-270C-4756-A3D2-7FCE7E573E15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KG </a:t>
            </a:r>
            <a:r>
              <a:rPr sz="34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H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arness 把语言模型输出变成可验证的计算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2F2D9F69-75D5-4FF9-9A4D-D2D990B5A159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7855CD2B-58A8-46DF-AA23-5C5A9C8169BE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cxnSp>
        <p:nvCxnSpPr>
          <p:cNvPr id="153" name="rule"/>
          <p:cNvCxnSpPr/>
          <p:nvPr/>
        </p:nvCxnSpPr>
        <p:spPr>
          <a:xfrm>
            <a:off x="895350" y="3257550"/>
            <a:ext cx="10363200" cy="95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6" name="harness-01">
            <a:extLst>
              <a:ext uri="{FF2B5EF4-FFF2-40B4-BE49-F238E27FC236}">
                <a16:creationId xmlns:a16="http://schemas.microsoft.com/office/drawing/2014/main" id="{9A7B4C70-3E55-4C07-96CF-D71A7F02E559}"/>
              </a:ext>
            </a:extLst>
          </p:cNvPr>
          <p:cNvSpPr>
            <a:spLocks noGrp="1"/>
          </p:cNvSpPr>
          <p:nvPr/>
        </p:nvSpPr>
        <p:spPr>
          <a:xfrm>
            <a:off x="400050" y="2076450"/>
            <a:ext cx="1676400" cy="23622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D3F95B7-98FF-4E9F-AC4F-2A81DBE53214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2ABAD2C5-4809-450F-8B94-FCD656C5AC17}"/>
              </a:ext>
            </a:extLst>
          </p:cNvPr>
          <p:cNvSpPr>
            <a:spLocks noGrp="1"/>
          </p:cNvSpPr>
          <p:nvPr/>
        </p:nvSpPr>
        <p:spPr>
          <a:xfrm>
            <a:off x="571500" y="2743200"/>
            <a:ext cx="133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1520"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Prompt / State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45ABF95E-17FA-44E0-B875-21B57A928255}"/>
              </a:ext>
            </a:extLst>
          </p:cNvPr>
          <p:cNvSpPr>
            <a:spLocks noGrp="1"/>
          </p:cNvSpPr>
          <p:nvPr/>
        </p:nvSpPr>
        <p:spPr>
          <a:xfrm>
            <a:off x="571500" y="3390900"/>
            <a:ext cx="1333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问题、候选实体、历史 observation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D363E99-4E82-4D55-9126-D4B202297AB2}"/>
              </a:ext>
            </a:extLst>
          </p:cNvPr>
          <p:cNvSpPr>
            <a:spLocks noGrp="1"/>
          </p:cNvSpPr>
          <p:nvPr/>
        </p:nvSpPr>
        <p:spPr>
          <a:xfrm>
            <a:off x="2076450" y="299085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harness-02">
            <a:extLst>
              <a:ext uri="{FF2B5EF4-FFF2-40B4-BE49-F238E27FC236}">
                <a16:creationId xmlns:a16="http://schemas.microsoft.com/office/drawing/2014/main" id="{6C827883-DA20-4EBF-BE3A-73F0154F3C3F}"/>
              </a:ext>
            </a:extLst>
          </p:cNvPr>
          <p:cNvSpPr>
            <a:spLocks noGrp="1"/>
          </p:cNvSpPr>
          <p:nvPr/>
        </p:nvSpPr>
        <p:spPr>
          <a:xfrm>
            <a:off x="2324100" y="2076450"/>
            <a:ext cx="1676400" cy="23622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02A4A6A7-56E2-41D5-A1ED-63EC40D9E402}"/>
              </a:ext>
            </a:extLst>
          </p:cNvPr>
          <p:cNvSpPr>
            <a:spLocks noGrp="1"/>
          </p:cNvSpPr>
          <p:nvPr/>
        </p:nvSpPr>
        <p:spPr>
          <a:xfrm>
            <a:off x="2495550" y="22479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48A7B05C-8B14-4D36-96AB-9318D8ECE09C}"/>
              </a:ext>
            </a:extLst>
          </p:cNvPr>
          <p:cNvSpPr>
            <a:spLocks noGrp="1"/>
          </p:cNvSpPr>
          <p:nvPr/>
        </p:nvSpPr>
        <p:spPr>
          <a:xfrm>
            <a:off x="2495550" y="2743200"/>
            <a:ext cx="133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293"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Action Parser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C452965-969F-4C83-B447-76C13B51C8D9}"/>
              </a:ext>
            </a:extLst>
          </p:cNvPr>
          <p:cNvSpPr>
            <a:spLocks noGrp="1"/>
          </p:cNvSpPr>
          <p:nvPr/>
        </p:nvSpPr>
        <p:spPr>
          <a:xfrm>
            <a:off x="2495550" y="3390900"/>
            <a:ext cx="1333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解析 think / action / answer 标签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5C4E1FE0-AD32-4987-AF0A-365E776E5E75}"/>
              </a:ext>
            </a:extLst>
          </p:cNvPr>
          <p:cNvSpPr>
            <a:spLocks noGrp="1"/>
          </p:cNvSpPr>
          <p:nvPr/>
        </p:nvSpPr>
        <p:spPr>
          <a:xfrm>
            <a:off x="4000500" y="299085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harness-03">
            <a:extLst>
              <a:ext uri="{FF2B5EF4-FFF2-40B4-BE49-F238E27FC236}">
                <a16:creationId xmlns:a16="http://schemas.microsoft.com/office/drawing/2014/main" id="{69803D1C-B67E-4FD2-9A58-02186011D4B2}"/>
              </a:ext>
            </a:extLst>
          </p:cNvPr>
          <p:cNvSpPr>
            <a:spLocks noGrp="1"/>
          </p:cNvSpPr>
          <p:nvPr/>
        </p:nvSpPr>
        <p:spPr>
          <a:xfrm>
            <a:off x="4248150" y="2076450"/>
            <a:ext cx="1676400" cy="23622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23A74A32-9BB9-4EA6-A20B-E729A3BC6EB5}"/>
              </a:ext>
            </a:extLst>
          </p:cNvPr>
          <p:cNvSpPr>
            <a:spLocks noGrp="1"/>
          </p:cNvSpPr>
          <p:nvPr/>
        </p:nvSpPr>
        <p:spPr>
          <a:xfrm>
            <a:off x="4419600" y="22479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9DA38509-7F7E-408C-A3A1-2E9DDE4320D7}"/>
              </a:ext>
            </a:extLst>
          </p:cNvPr>
          <p:cNvSpPr>
            <a:spLocks noGrp="1"/>
          </p:cNvSpPr>
          <p:nvPr/>
        </p:nvSpPr>
        <p:spPr>
          <a:xfrm>
            <a:off x="4419600" y="2743200"/>
            <a:ext cx="133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RRCG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2CE88EC1-FD8B-49F1-840B-9F1FE7910D44}"/>
              </a:ext>
            </a:extLst>
          </p:cNvPr>
          <p:cNvSpPr>
            <a:spLocks noGrp="1"/>
          </p:cNvSpPr>
          <p:nvPr/>
        </p:nvSpPr>
        <p:spPr>
          <a:xfrm>
            <a:off x="4419600" y="3390900"/>
            <a:ext cx="1333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检索邻接 schema relation 并置信门控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BCC106A7-D5B0-4C17-9EE7-9B9DD0EC8DC3}"/>
              </a:ext>
            </a:extLst>
          </p:cNvPr>
          <p:cNvSpPr>
            <a:spLocks noGrp="1"/>
          </p:cNvSpPr>
          <p:nvPr/>
        </p:nvSpPr>
        <p:spPr>
          <a:xfrm>
            <a:off x="5924550" y="299085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harness-04">
            <a:extLst>
              <a:ext uri="{FF2B5EF4-FFF2-40B4-BE49-F238E27FC236}">
                <a16:creationId xmlns:a16="http://schemas.microsoft.com/office/drawing/2014/main" id="{99F83A4A-2F41-4984-AA26-BDA80BE6555D}"/>
              </a:ext>
            </a:extLst>
          </p:cNvPr>
          <p:cNvSpPr>
            <a:spLocks noGrp="1"/>
          </p:cNvSpPr>
          <p:nvPr/>
        </p:nvSpPr>
        <p:spPr>
          <a:xfrm>
            <a:off x="6172200" y="2076450"/>
            <a:ext cx="1676400" cy="2362200"/>
          </a:xfrm>
          <a:prstGeom prst="rect">
            <a:avLst/>
          </a:prstGeom>
          <a:solidFill>
            <a:srgbClr val="F0EEFA"/>
          </a:solidFill>
          <a:ln w="0">
            <a:noFill/>
            <a:prstDash val="solid"/>
          </a:ln>
        </p:spPr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BDE0C067-51B2-4C34-8E09-F3AE34ED05D4}"/>
              </a:ext>
            </a:extLst>
          </p:cNvPr>
          <p:cNvSpPr>
            <a:spLocks noGrp="1"/>
          </p:cNvSpPr>
          <p:nvPr/>
        </p:nvSpPr>
        <p:spPr>
          <a:xfrm>
            <a:off x="6343650" y="22479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24AC42A0-E57B-4979-8D20-D37C5E10C8C1}"/>
              </a:ext>
            </a:extLst>
          </p:cNvPr>
          <p:cNvSpPr>
            <a:spLocks noGrp="1"/>
          </p:cNvSpPr>
          <p:nvPr/>
        </p:nvSpPr>
        <p:spPr>
          <a:xfrm>
            <a:off x="6343650" y="2743200"/>
            <a:ext cx="133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LF Builder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F816F4FD-1209-486D-A2E0-7196A8C8E258}"/>
              </a:ext>
            </a:extLst>
          </p:cNvPr>
          <p:cNvSpPr>
            <a:spLocks noGrp="1"/>
          </p:cNvSpPr>
          <p:nvPr/>
        </p:nvSpPr>
        <p:spPr>
          <a:xfrm>
            <a:off x="6343650" y="3390900"/>
            <a:ext cx="1333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维护 START / JOIN / AND / ARG / CMP…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A2F7F90B-A3C6-42B1-ACFF-D08A13750E70}"/>
              </a:ext>
            </a:extLst>
          </p:cNvPr>
          <p:cNvSpPr>
            <a:spLocks noGrp="1"/>
          </p:cNvSpPr>
          <p:nvPr/>
        </p:nvSpPr>
        <p:spPr>
          <a:xfrm>
            <a:off x="7848600" y="299085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harness-05">
            <a:extLst>
              <a:ext uri="{FF2B5EF4-FFF2-40B4-BE49-F238E27FC236}">
                <a16:creationId xmlns:a16="http://schemas.microsoft.com/office/drawing/2014/main" id="{578A8147-39BB-40B3-9801-9CED834B98C1}"/>
              </a:ext>
            </a:extLst>
          </p:cNvPr>
          <p:cNvSpPr>
            <a:spLocks noGrp="1"/>
          </p:cNvSpPr>
          <p:nvPr/>
        </p:nvSpPr>
        <p:spPr>
          <a:xfrm>
            <a:off x="8096250" y="2076450"/>
            <a:ext cx="1676400" cy="236220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CD131C08-633E-4ADA-A7B5-CFD64B6F732B}"/>
              </a:ext>
            </a:extLst>
          </p:cNvPr>
          <p:cNvSpPr>
            <a:spLocks noGrp="1"/>
          </p:cNvSpPr>
          <p:nvPr/>
        </p:nvSpPr>
        <p:spPr>
          <a:xfrm>
            <a:off x="8267700" y="22479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061DD7EC-7436-4C7D-9562-9466C6994A39}"/>
              </a:ext>
            </a:extLst>
          </p:cNvPr>
          <p:cNvSpPr>
            <a:spLocks noGrp="1"/>
          </p:cNvSpPr>
          <p:nvPr/>
        </p:nvSpPr>
        <p:spPr>
          <a:xfrm>
            <a:off x="8267700" y="2743200"/>
            <a:ext cx="133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Executor</a:t>
            </a:r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5FEAF2CD-ED07-48E3-ACA0-D3461194E355}"/>
              </a:ext>
            </a:extLst>
          </p:cNvPr>
          <p:cNvSpPr>
            <a:spLocks noGrp="1"/>
          </p:cNvSpPr>
          <p:nvPr/>
        </p:nvSpPr>
        <p:spPr>
          <a:xfrm>
            <a:off x="8267700" y="3390900"/>
            <a:ext cx="1333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S-Expression → SPARQL → Virtuoso</a:t>
            </a:r>
          </a:p>
        </p:txBody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611789A0-A5B4-40E4-ABAB-6B7B1F78B916}"/>
              </a:ext>
            </a:extLst>
          </p:cNvPr>
          <p:cNvSpPr>
            <a:spLocks noGrp="1"/>
          </p:cNvSpPr>
          <p:nvPr/>
        </p:nvSpPr>
        <p:spPr>
          <a:xfrm>
            <a:off x="9772650" y="299085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31" name="harness-06">
            <a:extLst>
              <a:ext uri="{FF2B5EF4-FFF2-40B4-BE49-F238E27FC236}">
                <a16:creationId xmlns:a16="http://schemas.microsoft.com/office/drawing/2014/main" id="{29A0F930-E9E7-4278-87FE-5EC8133DB7A0}"/>
              </a:ext>
            </a:extLst>
          </p:cNvPr>
          <p:cNvSpPr>
            <a:spLocks noGrp="1"/>
          </p:cNvSpPr>
          <p:nvPr/>
        </p:nvSpPr>
        <p:spPr>
          <a:xfrm>
            <a:off x="10020300" y="2076450"/>
            <a:ext cx="1676400" cy="23622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32" name="text">
            <a:extLst>
              <a:ext uri="{FF2B5EF4-FFF2-40B4-BE49-F238E27FC236}">
                <a16:creationId xmlns:a16="http://schemas.microsoft.com/office/drawing/2014/main" id="{A5A46976-1B6D-4EB3-AC2C-A6447B1A6D08}"/>
              </a:ext>
            </a:extLst>
          </p:cNvPr>
          <p:cNvSpPr>
            <a:spLocks noGrp="1"/>
          </p:cNvSpPr>
          <p:nvPr/>
        </p:nvSpPr>
        <p:spPr>
          <a:xfrm>
            <a:off x="10191750" y="22479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34B9FF88-2F2D-43BF-B5D7-72F1C160DB08}"/>
              </a:ext>
            </a:extLst>
          </p:cNvPr>
          <p:cNvSpPr>
            <a:spLocks noGrp="1"/>
          </p:cNvSpPr>
          <p:nvPr/>
        </p:nvSpPr>
        <p:spPr>
          <a:xfrm>
            <a:off x="10191750" y="2743200"/>
            <a:ext cx="133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F56770CE-E2A6-4430-91A3-F347F3F96AE5}"/>
              </a:ext>
            </a:extLst>
          </p:cNvPr>
          <p:cNvSpPr>
            <a:spLocks noGrp="1"/>
          </p:cNvSpPr>
          <p:nvPr/>
        </p:nvSpPr>
        <p:spPr>
          <a:xfrm>
            <a:off x="10191750" y="3390900"/>
            <a:ext cx="1333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实体集合、候选关系、错误诊断</a:t>
            </a:r>
          </a:p>
        </p:txBody>
      </p:sp>
      <p:sp>
        <p:nvSpPr>
          <p:cNvPr id="35" name="panel">
            <a:extLst>
              <a:ext uri="{FF2B5EF4-FFF2-40B4-BE49-F238E27FC236}">
                <a16:creationId xmlns:a16="http://schemas.microsoft.com/office/drawing/2014/main" id="{6ACE34B0-ABBA-4BAB-B3D1-7BC863DE3117}"/>
              </a:ext>
            </a:extLst>
          </p:cNvPr>
          <p:cNvSpPr>
            <a:spLocks noGrp="1"/>
          </p:cNvSpPr>
          <p:nvPr/>
        </p:nvSpPr>
        <p:spPr>
          <a:xfrm>
            <a:off x="2324100" y="4953000"/>
            <a:ext cx="9372600" cy="8763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817F5BAB-4BBF-485D-BDC0-466810D4A478}"/>
              </a:ext>
            </a:extLst>
          </p:cNvPr>
          <p:cNvSpPr>
            <a:spLocks noGrp="1"/>
          </p:cNvSpPr>
          <p:nvPr/>
        </p:nvSpPr>
        <p:spPr>
          <a:xfrm>
            <a:off x="2571750" y="5181600"/>
            <a:ext cx="8877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闭环不只返回答案：每一步都能验证 schema、执行 logical form、暴露中间实体集合，并把诊断反馈写回下一轮 context。</a:t>
            </a:r>
          </a:p>
        </p:txBody>
      </p:sp>
      <p:sp>
        <p:nvSpPr>
          <p:cNvPr id="37" name="text">
            <a:extLst>
              <a:ext uri="{FF2B5EF4-FFF2-40B4-BE49-F238E27FC236}">
                <a16:creationId xmlns:a16="http://schemas.microsoft.com/office/drawing/2014/main" id="{5446973F-AD9A-45CB-BC41-D328E36576F9}"/>
              </a:ext>
            </a:extLst>
          </p:cNvPr>
          <p:cNvSpPr>
            <a:spLocks noGrp="1"/>
          </p:cNvSpPr>
          <p:nvPr/>
        </p:nvSpPr>
        <p:spPr>
          <a:xfrm>
            <a:off x="400050" y="5105400"/>
            <a:ext cx="1676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Policy</a:t>
            </a:r>
          </a:p>
        </p:txBody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C3A5E07F-042F-49BF-A302-EC0AB85BA3F0}"/>
              </a:ext>
            </a:extLst>
          </p:cNvPr>
          <p:cNvSpPr>
            <a:spLocks noGrp="1"/>
          </p:cNvSpPr>
          <p:nvPr/>
        </p:nvSpPr>
        <p:spPr>
          <a:xfrm>
            <a:off x="400050" y="5524500"/>
            <a:ext cx="1676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444" lnSpcReduction="10000"/>
          </a:bodyPr>
          <a:lstStyle/>
          <a:p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learns from executable feedback</a:t>
            </a:r>
          </a:p>
        </p:txBody>
      </p:sp>
    </p:spTree>
    <p:extLst>
      <p:ext uri="{BB962C8B-B14F-4D97-AF65-F5344CB8AC3E}">
        <p14:creationId xmlns:p14="http://schemas.microsoft.com/office/powerpoint/2010/main" val="20310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-kicker">
            <a:extLst>
              <a:ext uri="{FF2B5EF4-FFF2-40B4-BE49-F238E27FC236}">
                <a16:creationId xmlns:a16="http://schemas.microsoft.com/office/drawing/2014/main" id="{F3ACE71D-764E-4068-9C20-271717B449C0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ACTION SPACE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747BD0A-5E09-405E-941B-759C85E2BF08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Action Space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18B81FDD-2578-4818-AC8F-A177A7E7ABFF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C0AF9B6D-523A-4145-B7E8-6625AC53EB36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20" name="表格 19"/>
          <p:cNvGraphicFramePr/>
          <p:nvPr/>
        </p:nvGraphicFramePr>
        <p:xfrm>
          <a:off x="400050" y="1619250"/>
          <a:ext cx="11391900" cy="4095749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Action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Arguments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Target update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Equivalent logical form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Find_relation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entity | 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JOIN(relation, START(entity))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(JOIN relation entity)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Merge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expression1 | expression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AND(expression1, expression)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(AND expr1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Order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MAX/MIN | expr | 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ARG(mode, expr, relation)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(mode expr relation)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Compare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le/lt/ge/gt | relation | number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CMP(mode, relation, number,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(mode relation number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Time_constraint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relation | time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TC(expr, relation, time)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(TC expr relation time)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Count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expression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COUNT(expression)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(COUNT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217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ection-kicker">
            <a:extLst>
              <a:ext uri="{FF2B5EF4-FFF2-40B4-BE49-F238E27FC236}">
                <a16:creationId xmlns:a16="http://schemas.microsoft.com/office/drawing/2014/main" id="{99B609D8-B0F6-42E2-819A-C4DD7C1C266B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RELATION GATING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8108A57-80B9-4593-B780-2DB96EBE90E6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RRCG 在执行前校正 hallucinated relation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3935E5E9-9D11-4D8A-8A8B-A10D811D2797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61CCDE9E-1AD3-4EF8-8B82-B49E995CBD2B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">
                <a:extLst>
                  <a:ext uri="{FF2B5EF4-FFF2-40B4-BE49-F238E27FC236}">
                    <a16:creationId xmlns:a16="http://schemas.microsoft.com/office/drawing/2014/main" id="{DCC680CE-85F8-47FC-AF9C-188792D71EA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0050" y="1714500"/>
                <a:ext cx="1524000" cy="5143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ctr">
                  <a:buNone/>
                  <a:defRPr sz="2550" b="1">
                    <a:solidFill>
                      <a:srgbClr val="0A0A0A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𝑎𝑔𝑒𝑛𝑡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5" name="text">
                <a:extLst>
                  <a:ext uri="{FF2B5EF4-FFF2-40B4-BE49-F238E27FC236}">
                    <a16:creationId xmlns:a16="http://schemas.microsoft.com/office/drawing/2014/main" id="{DCC680CE-85F8-47FC-AF9C-188792D71E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50" y="1714500"/>
                <a:ext cx="1524000" cy="514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">
                <a:extLst>
                  <a:ext uri="{FF2B5EF4-FFF2-40B4-BE49-F238E27FC236}">
                    <a16:creationId xmlns:a16="http://schemas.microsoft.com/office/drawing/2014/main" id="{49E5F012-3A82-47E0-9F6F-33414AF4474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266950" y="1790700"/>
                <a:ext cx="2857500" cy="3619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ctr">
                  <a:buNone/>
                  <a:defRPr sz="1650">
                    <a:solidFill>
                      <a:srgbClr val="59616D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𝑑𝑒𝑛𝑠𝑒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𝑟𝑒𝑡𝑟𝑖𝑒𝑣𝑎𝑙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𝑜𝑣𝑒𝑟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" name="text">
                <a:extLst>
                  <a:ext uri="{FF2B5EF4-FFF2-40B4-BE49-F238E27FC236}">
                    <a16:creationId xmlns:a16="http://schemas.microsoft.com/office/drawing/2014/main" id="{49E5F012-3A82-47E0-9F6F-33414AF447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950" y="1790700"/>
                <a:ext cx="2857500" cy="361950"/>
              </a:xfrm>
              <a:prstGeom prst="rect">
                <a:avLst/>
              </a:prstGeom>
              <a:blipFill>
                <a:blip r:embed="rId4"/>
                <a:stretch>
                  <a:fillRect t="-6897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">
                <a:extLst>
                  <a:ext uri="{FF2B5EF4-FFF2-40B4-BE49-F238E27FC236}">
                    <a16:creationId xmlns:a16="http://schemas.microsoft.com/office/drawing/2014/main" id="{0902008E-A204-4679-96AB-AB0200B4410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67349" y="1714500"/>
                <a:ext cx="3657601" cy="4953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ctr">
                  <a:buNone/>
                  <a:defRPr sz="2025" b="1">
                    <a:solidFill>
                      <a:srgbClr val="3D8DFF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𝑚𝑎𝑥𝑆𝑖𝑚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𝑎𝑔𝑒𝑛𝑡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" name="text">
                <a:extLst>
                  <a:ext uri="{FF2B5EF4-FFF2-40B4-BE49-F238E27FC236}">
                    <a16:creationId xmlns:a16="http://schemas.microsoft.com/office/drawing/2014/main" id="{0902008E-A204-4679-96AB-AB0200B441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349" y="1714500"/>
                <a:ext cx="3657601" cy="495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">
            <a:extLst>
              <a:ext uri="{FF2B5EF4-FFF2-40B4-BE49-F238E27FC236}">
                <a16:creationId xmlns:a16="http://schemas.microsoft.com/office/drawing/2014/main" id="{9DD343FB-C576-43D3-9930-D1665F8258D3}"/>
              </a:ext>
            </a:extLst>
          </p:cNvPr>
          <p:cNvSpPr>
            <a:spLocks noGrp="1"/>
          </p:cNvSpPr>
          <p:nvPr/>
        </p:nvSpPr>
        <p:spPr>
          <a:xfrm>
            <a:off x="1924050" y="1771650"/>
            <a:ext cx="342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4F66A5B-C772-49B7-B536-4DE978B27FED}"/>
              </a:ext>
            </a:extLst>
          </p:cNvPr>
          <p:cNvSpPr>
            <a:spLocks noGrp="1"/>
          </p:cNvSpPr>
          <p:nvPr/>
        </p:nvSpPr>
        <p:spPr>
          <a:xfrm>
            <a:off x="5124450" y="1771650"/>
            <a:ext cx="342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rrcg-HIGH">
            <a:extLst>
              <a:ext uri="{FF2B5EF4-FFF2-40B4-BE49-F238E27FC236}">
                <a16:creationId xmlns:a16="http://schemas.microsoft.com/office/drawing/2014/main" id="{B7B39A16-31EB-44E3-9054-FF1605DB757A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3371850" cy="27241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125B799-5AFE-4A3F-8A44-1200001AB29F}"/>
              </a:ext>
            </a:extLst>
          </p:cNvPr>
          <p:cNvSpPr>
            <a:spLocks noGrp="1"/>
          </p:cNvSpPr>
          <p:nvPr/>
        </p:nvSpPr>
        <p:spPr>
          <a:xfrm>
            <a:off x="628650" y="30861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HIGH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">
                <a:extLst>
                  <a:ext uri="{FF2B5EF4-FFF2-40B4-BE49-F238E27FC236}">
                    <a16:creationId xmlns:a16="http://schemas.microsoft.com/office/drawing/2014/main" id="{3DA83ECA-4316-4B8A-80B6-85077FC58F1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57350" y="3086100"/>
                <a:ext cx="1885950" cy="3238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r">
                  <a:buNone/>
                  <a:defRPr sz="1350" b="1">
                    <a:solidFill>
                      <a:srgbClr val="2BA84A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h𝑖𝑔h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" name="text">
                <a:extLst>
                  <a:ext uri="{FF2B5EF4-FFF2-40B4-BE49-F238E27FC236}">
                    <a16:creationId xmlns:a16="http://schemas.microsoft.com/office/drawing/2014/main" id="{3DA83ECA-4316-4B8A-80B6-85077FC58F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7350" y="3086100"/>
                <a:ext cx="1885950" cy="3238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">
            <a:extLst>
              <a:ext uri="{FF2B5EF4-FFF2-40B4-BE49-F238E27FC236}">
                <a16:creationId xmlns:a16="http://schemas.microsoft.com/office/drawing/2014/main" id="{F663230C-C8C7-41D0-9F50-43CCBA81CC2F}"/>
              </a:ext>
            </a:extLst>
          </p:cNvPr>
          <p:cNvSpPr>
            <a:spLocks noGrp="1"/>
          </p:cNvSpPr>
          <p:nvPr/>
        </p:nvSpPr>
        <p:spPr>
          <a:xfrm>
            <a:off x="628650" y="36957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Auto-validation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7B3D7D3-C9F9-4727-A860-8624E60342D9}"/>
              </a:ext>
            </a:extLst>
          </p:cNvPr>
          <p:cNvSpPr>
            <a:spLocks noGrp="1"/>
          </p:cNvSpPr>
          <p:nvPr/>
        </p:nvSpPr>
        <p:spPr>
          <a:xfrm>
            <a:off x="628650" y="4343400"/>
            <a:ext cx="2914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用最佳 schema relation 替换并执行</a:t>
            </a:r>
          </a:p>
        </p:txBody>
      </p:sp>
      <p:sp>
        <p:nvSpPr>
          <p:cNvPr id="15" name="rrcg-MEDIUM">
            <a:extLst>
              <a:ext uri="{FF2B5EF4-FFF2-40B4-BE49-F238E27FC236}">
                <a16:creationId xmlns:a16="http://schemas.microsoft.com/office/drawing/2014/main" id="{F82AFE9C-8833-4B0C-B05A-BE8E6C88BCB6}"/>
              </a:ext>
            </a:extLst>
          </p:cNvPr>
          <p:cNvSpPr>
            <a:spLocks noGrp="1"/>
          </p:cNvSpPr>
          <p:nvPr/>
        </p:nvSpPr>
        <p:spPr>
          <a:xfrm>
            <a:off x="4171950" y="2857500"/>
            <a:ext cx="3371850" cy="27241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5C90D64D-8225-4107-90D4-D94C353F1886}"/>
              </a:ext>
            </a:extLst>
          </p:cNvPr>
          <p:cNvSpPr>
            <a:spLocks noGrp="1"/>
          </p:cNvSpPr>
          <p:nvPr/>
        </p:nvSpPr>
        <p:spPr>
          <a:xfrm>
            <a:off x="4400550" y="30861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MEDIUM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">
                <a:extLst>
                  <a:ext uri="{FF2B5EF4-FFF2-40B4-BE49-F238E27FC236}">
                    <a16:creationId xmlns:a16="http://schemas.microsoft.com/office/drawing/2014/main" id="{236A7C75-807E-4BB9-9AAE-187ED59C786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429250" y="3086100"/>
                <a:ext cx="1885950" cy="3238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r">
                  <a:buNone/>
                  <a:defRPr sz="1350" b="1">
                    <a:solidFill>
                      <a:srgbClr val="F07B4F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𝑙𝑜𝑤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h𝑖𝑔h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7" name="text">
                <a:extLst>
                  <a:ext uri="{FF2B5EF4-FFF2-40B4-BE49-F238E27FC236}">
                    <a16:creationId xmlns:a16="http://schemas.microsoft.com/office/drawing/2014/main" id="{236A7C75-807E-4BB9-9AAE-187ED59C78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50" y="3086100"/>
                <a:ext cx="1885950" cy="3238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">
            <a:extLst>
              <a:ext uri="{FF2B5EF4-FFF2-40B4-BE49-F238E27FC236}">
                <a16:creationId xmlns:a16="http://schemas.microsoft.com/office/drawing/2014/main" id="{27EFAE13-68E2-41A1-ACF4-B69952E0675C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Tentative acceptance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A7F1271D-421A-4E64-89AC-AC53E10AB6DA}"/>
              </a:ext>
            </a:extLst>
          </p:cNvPr>
          <p:cNvSpPr>
            <a:spLocks noGrp="1"/>
          </p:cNvSpPr>
          <p:nvPr/>
        </p:nvSpPr>
        <p:spPr>
          <a:xfrm>
            <a:off x="4400550" y="4343400"/>
            <a:ext cx="2914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返回 top-k 候选和不确定性，允许下一轮修正</a:t>
            </a:r>
          </a:p>
        </p:txBody>
      </p:sp>
      <p:sp>
        <p:nvSpPr>
          <p:cNvPr id="20" name="rrcg-LOW">
            <a:extLst>
              <a:ext uri="{FF2B5EF4-FFF2-40B4-BE49-F238E27FC236}">
                <a16:creationId xmlns:a16="http://schemas.microsoft.com/office/drawing/2014/main" id="{7D854297-5F90-489C-8CDE-87281FEBB0D6}"/>
              </a:ext>
            </a:extLst>
          </p:cNvPr>
          <p:cNvSpPr>
            <a:spLocks noGrp="1"/>
          </p:cNvSpPr>
          <p:nvPr/>
        </p:nvSpPr>
        <p:spPr>
          <a:xfrm>
            <a:off x="7943850" y="2857500"/>
            <a:ext cx="3371850" cy="272415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31665263-1279-4DBC-AD1D-8EC8485F2141}"/>
              </a:ext>
            </a:extLst>
          </p:cNvPr>
          <p:cNvSpPr>
            <a:spLocks noGrp="1"/>
          </p:cNvSpPr>
          <p:nvPr/>
        </p:nvSpPr>
        <p:spPr>
          <a:xfrm>
            <a:off x="8172450" y="30861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">
                <a:extLst>
                  <a:ext uri="{FF2B5EF4-FFF2-40B4-BE49-F238E27FC236}">
                    <a16:creationId xmlns:a16="http://schemas.microsoft.com/office/drawing/2014/main" id="{9A79FCD2-3F7E-4D71-9181-5AA3D708896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01150" y="3086100"/>
                <a:ext cx="1885950" cy="3238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r">
                  <a:buNone/>
                  <a:defRPr sz="1350" b="1">
                    <a:solidFill>
                      <a:srgbClr val="D84A4A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𝑙𝑜𝑤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2" name="text">
                <a:extLst>
                  <a:ext uri="{FF2B5EF4-FFF2-40B4-BE49-F238E27FC236}">
                    <a16:creationId xmlns:a16="http://schemas.microsoft.com/office/drawing/2014/main" id="{9A79FCD2-3F7E-4D71-9181-5AA3D7088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1150" y="3086100"/>
                <a:ext cx="1885950" cy="32385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">
            <a:extLst>
              <a:ext uri="{FF2B5EF4-FFF2-40B4-BE49-F238E27FC236}">
                <a16:creationId xmlns:a16="http://schemas.microsoft.com/office/drawing/2014/main" id="{439C259E-2EEA-4841-A8A3-ABB442880256}"/>
              </a:ext>
            </a:extLst>
          </p:cNvPr>
          <p:cNvSpPr>
            <a:spLocks noGrp="1"/>
          </p:cNvSpPr>
          <p:nvPr/>
        </p:nvSpPr>
        <p:spPr>
          <a:xfrm>
            <a:off x="8172450" y="36957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Rejection + diagnostic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AF9D7F1D-C4ED-427B-AA5E-6458A6BB72F2}"/>
              </a:ext>
            </a:extLst>
          </p:cNvPr>
          <p:cNvSpPr>
            <a:spLocks noGrp="1"/>
          </p:cNvSpPr>
          <p:nvPr/>
        </p:nvSpPr>
        <p:spPr>
          <a:xfrm>
            <a:off x="8172450" y="4343400"/>
            <a:ext cx="2914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拒绝执行，并返回邻接关系及相似度列表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D2F315A3-1764-4FF3-AE19-535E8C1C7138}"/>
              </a:ext>
            </a:extLst>
          </p:cNvPr>
          <p:cNvSpPr>
            <a:spLocks noGrp="1"/>
          </p:cNvSpPr>
          <p:nvPr/>
        </p:nvSpPr>
        <p:spPr>
          <a:xfrm>
            <a:off x="400050" y="5905500"/>
            <a:ext cx="10915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42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RRCG 只检索 top-k，而非全量注入候选 schema：既节省 context，也将 relation 错误转化为可学习的 observation。</a:t>
            </a:r>
          </a:p>
        </p:txBody>
      </p:sp>
    </p:spTree>
    <p:extLst>
      <p:ext uri="{BB962C8B-B14F-4D97-AF65-F5344CB8AC3E}">
        <p14:creationId xmlns:p14="http://schemas.microsoft.com/office/powerpoint/2010/main" val="588117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ction-kicker">
            <a:extLst>
              <a:ext uri="{FF2B5EF4-FFF2-40B4-BE49-F238E27FC236}">
                <a16:creationId xmlns:a16="http://schemas.microsoft.com/office/drawing/2014/main" id="{9C817129-29A2-4C16-910E-2DCCA3728785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TRAINING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DCA8042-D68C-4BB8-B754-F21002486857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RRS 解决冷启动，GRPO 把执行结果变成策略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ED8268F1-9E26-4561-8CB4-957762A52EC2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96C74785-35B5-4F82-AA8B-0C27A2EC49FC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5" name="kbqa-training-backing">
            <a:extLst>
              <a:ext uri="{FF2B5EF4-FFF2-40B4-BE49-F238E27FC236}">
                <a16:creationId xmlns:a16="http://schemas.microsoft.com/office/drawing/2014/main" id="{EC2E97ED-BAE1-4EB7-9398-83EAF001D4BD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11391900" cy="41148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2738" y="1466850"/>
            <a:ext cx="9106525" cy="4114800"/>
          </a:xfrm>
          <a:prstGeom prst="roundRect">
            <a:avLst>
              <a:gd name="adj" fmla="val 2778"/>
            </a:avLst>
          </a:prstGeom>
        </p:spPr>
      </p:pic>
      <p:sp>
        <p:nvSpPr>
          <p:cNvPr id="7" name="text">
            <a:extLst>
              <a:ext uri="{FF2B5EF4-FFF2-40B4-BE49-F238E27FC236}">
                <a16:creationId xmlns:a16="http://schemas.microsoft.com/office/drawing/2014/main" id="{4A590F4A-3F9A-4968-A7BF-A7A966674AD2}"/>
              </a:ext>
            </a:extLst>
          </p:cNvPr>
          <p:cNvSpPr>
            <a:spLocks noGrp="1"/>
          </p:cNvSpPr>
          <p:nvPr/>
        </p:nvSpPr>
        <p:spPr>
          <a:xfrm>
            <a:off x="400050" y="5791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C46D271E-BB33-4C59-8748-9840512E16F4}"/>
              </a:ext>
            </a:extLst>
          </p:cNvPr>
          <p:cNvSpPr>
            <a:spLocks noGrp="1"/>
          </p:cNvSpPr>
          <p:nvPr/>
        </p:nvSpPr>
        <p:spPr>
          <a:xfrm>
            <a:off x="857250" y="57721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Action extraction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36A4920E-82C9-4FBD-989C-1A24F5E4C346}"/>
              </a:ext>
            </a:extLst>
          </p:cNvPr>
          <p:cNvSpPr>
            <a:spLocks noGrp="1"/>
          </p:cNvSpPr>
          <p:nvPr/>
        </p:nvSpPr>
        <p:spPr>
          <a:xfrm>
            <a:off x="857250" y="6076950"/>
            <a:ext cx="215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从 gold S-Expression 解析 reference action list。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6BB232F-2FF3-4415-8B42-5A848952CBA4}"/>
              </a:ext>
            </a:extLst>
          </p:cNvPr>
          <p:cNvSpPr>
            <a:spLocks noGrp="1"/>
          </p:cNvSpPr>
          <p:nvPr/>
        </p:nvSpPr>
        <p:spPr>
          <a:xfrm>
            <a:off x="3257550" y="5791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9BA8D5E3-7D5B-4D2D-A1CF-A826EA8DB8BF}"/>
              </a:ext>
            </a:extLst>
          </p:cNvPr>
          <p:cNvSpPr>
            <a:spLocks noGrp="1"/>
          </p:cNvSpPr>
          <p:nvPr/>
        </p:nvSpPr>
        <p:spPr>
          <a:xfrm>
            <a:off x="3714750" y="57721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Referenced rollout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816DB05B-7638-4235-A9EA-5EDA1E0D0A62}"/>
              </a:ext>
            </a:extLst>
          </p:cNvPr>
          <p:cNvSpPr>
            <a:spLocks noGrp="1"/>
          </p:cNvSpPr>
          <p:nvPr/>
        </p:nvSpPr>
        <p:spPr>
          <a:xfrm>
            <a:off x="3714750" y="6076950"/>
            <a:ext cx="215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模型看动作列表，但必须自己生成自然 reasoning。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9EC6A98-3DFE-40EA-BF7B-08DB357415B0}"/>
              </a:ext>
            </a:extLst>
          </p:cNvPr>
          <p:cNvSpPr>
            <a:spLocks noGrp="1"/>
          </p:cNvSpPr>
          <p:nvPr/>
        </p:nvSpPr>
        <p:spPr>
          <a:xfrm>
            <a:off x="6115050" y="5791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48E654D-E29C-4BFC-90BC-9EF3AA3D2942}"/>
              </a:ext>
            </a:extLst>
          </p:cNvPr>
          <p:cNvSpPr>
            <a:spLocks noGrp="1"/>
          </p:cNvSpPr>
          <p:nvPr/>
        </p:nvSpPr>
        <p:spPr>
          <a:xfrm>
            <a:off x="6572250" y="57721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Execution filter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EBE0CD33-1C19-479B-9F85-6F97AB4FA9B8}"/>
              </a:ext>
            </a:extLst>
          </p:cNvPr>
          <p:cNvSpPr>
            <a:spLocks noGrp="1"/>
          </p:cNvSpPr>
          <p:nvPr/>
        </p:nvSpPr>
        <p:spPr>
          <a:xfrm>
            <a:off x="6572250" y="6076950"/>
            <a:ext cx="215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保留答案正确、结构合法的轨迹并移除 reference。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8D249A27-1181-48C8-AC87-D3328EF2E2CD}"/>
              </a:ext>
            </a:extLst>
          </p:cNvPr>
          <p:cNvSpPr>
            <a:spLocks noGrp="1"/>
          </p:cNvSpPr>
          <p:nvPr/>
        </p:nvSpPr>
        <p:spPr>
          <a:xfrm>
            <a:off x="8972550" y="5791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0E9C3E52-3545-41A5-9584-15940CA0B050}"/>
              </a:ext>
            </a:extLst>
          </p:cNvPr>
          <p:cNvSpPr>
            <a:spLocks noGrp="1"/>
          </p:cNvSpPr>
          <p:nvPr/>
        </p:nvSpPr>
        <p:spPr>
          <a:xfrm>
            <a:off x="9429750" y="57721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GRPO refinement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186C6C5-DBA3-40A8-B794-9E1436961507}"/>
              </a:ext>
            </a:extLst>
          </p:cNvPr>
          <p:cNvSpPr>
            <a:spLocks noGrp="1"/>
          </p:cNvSpPr>
          <p:nvPr/>
        </p:nvSpPr>
        <p:spPr>
          <a:xfrm>
            <a:off x="9429750" y="6076950"/>
            <a:ext cx="215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5 条 rollout 分组，用 outcome + gated format reward 更新。</a:t>
            </a:r>
          </a:p>
        </p:txBody>
      </p:sp>
    </p:spTree>
    <p:extLst>
      <p:ext uri="{BB962C8B-B14F-4D97-AF65-F5344CB8AC3E}">
        <p14:creationId xmlns:p14="http://schemas.microsoft.com/office/powerpoint/2010/main" val="2056484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ection-kicker">
            <a:extLst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MAIN RESULTS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 dirty="0" err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交互策略在三类</a:t>
            </a:r>
            <a:r>
              <a:rPr sz="3450" b="1" i="0" dirty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KBQA </a:t>
            </a:r>
            <a:r>
              <a:rPr sz="3450" b="1" i="0" dirty="0" err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上同时提高准确率与泛化</a:t>
            </a:r>
            <a:endParaRPr sz="3450" b="1" i="0" dirty="0">
              <a:solidFill>
                <a:srgbClr val="0A0A0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400050" y="1695450"/>
          <a:ext cx="65151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">
            <a:extLst>
              <a:ext uri="{FF2B5EF4-FFF2-40B4-BE49-F238E27FC236}">
                <a16:creationId xmlns:a16="http://schemas.microsoft.com/office/drawing/2014/main" id="{B35331B8-AE4E-46D1-82CC-B2A6AE32ED15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6515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Overall F1（Llama-3.1-8B）</a:t>
            </a:r>
          </a:p>
        </p:txBody>
      </p:sp>
      <p:sp>
        <p:nvSpPr>
          <p:cNvPr id="7" name="metric-GrailQA Zero-shot">
            <a:extLst>
              <a:ext uri="{FF2B5EF4-FFF2-40B4-BE49-F238E27FC236}">
                <a16:creationId xmlns:a16="http://schemas.microsoft.com/office/drawing/2014/main" id="{9EE6178B-4C00-4C85-9BAE-D44035D205D2}"/>
              </a:ext>
            </a:extLst>
          </p:cNvPr>
          <p:cNvSpPr>
            <a:spLocks noGrp="1"/>
          </p:cNvSpPr>
          <p:nvPr/>
        </p:nvSpPr>
        <p:spPr>
          <a:xfrm>
            <a:off x="7334250" y="1695450"/>
            <a:ext cx="4095750" cy="16002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8" name="metric-stat-GrailQA Zero-shot">
            <a:extLst>
              <a:ext uri="{FF2B5EF4-FFF2-40B4-BE49-F238E27FC236}">
                <a16:creationId xmlns:a16="http://schemas.microsoft.com/office/drawing/2014/main" id="{BDFBA2EA-4422-4793-930A-B193A93BEACC}"/>
              </a:ext>
            </a:extLst>
          </p:cNvPr>
          <p:cNvSpPr>
            <a:spLocks noGrp="1"/>
          </p:cNvSpPr>
          <p:nvPr/>
        </p:nvSpPr>
        <p:spPr>
          <a:xfrm>
            <a:off x="7562850" y="1847850"/>
            <a:ext cx="3638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l">
              <a:buNone/>
              <a:def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+15.5 EM</a:t>
            </a:r>
          </a:p>
        </p:txBody>
      </p:sp>
      <p:sp>
        <p:nvSpPr>
          <p:cNvPr id="9" name="metric-label-GrailQA Zero-shot">
            <a:extLst>
              <a:ext uri="{FF2B5EF4-FFF2-40B4-BE49-F238E27FC236}">
                <a16:creationId xmlns:a16="http://schemas.microsoft.com/office/drawing/2014/main" id="{817B546F-8932-4707-A04E-A5851E4DF623}"/>
              </a:ext>
            </a:extLst>
          </p:cNvPr>
          <p:cNvSpPr>
            <a:spLocks noGrp="1"/>
          </p:cNvSpPr>
          <p:nvPr/>
        </p:nvSpPr>
        <p:spPr>
          <a:xfrm>
            <a:off x="7562850" y="2419350"/>
            <a:ext cx="3638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GrailQA Zero-shot</a:t>
            </a:r>
          </a:p>
        </p:txBody>
      </p:sp>
      <p:sp>
        <p:nvSpPr>
          <p:cNvPr id="10" name="metric-note-GrailQA Zero-shot">
            <a:extLst>
              <a:ext uri="{FF2B5EF4-FFF2-40B4-BE49-F238E27FC236}">
                <a16:creationId xmlns:a16="http://schemas.microsoft.com/office/drawing/2014/main" id="{3262EC3C-E6FC-4E6A-9CC2-B9040DD2E1F7}"/>
              </a:ext>
            </a:extLst>
          </p:cNvPr>
          <p:cNvSpPr>
            <a:spLocks noGrp="1"/>
          </p:cNvSpPr>
          <p:nvPr/>
        </p:nvSpPr>
        <p:spPr>
          <a:xfrm>
            <a:off x="7562850" y="280035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F1 同时提升 +9.1；最难的 unseen schema 获益最大</a:t>
            </a:r>
          </a:p>
        </p:txBody>
      </p:sp>
      <p:sp>
        <p:nvSpPr>
          <p:cNvPr id="11" name="metric-GrailQA Overall">
            <a:extLst>
              <a:ext uri="{FF2B5EF4-FFF2-40B4-BE49-F238E27FC236}">
                <a16:creationId xmlns:a16="http://schemas.microsoft.com/office/drawing/2014/main" id="{1C00EDA5-3577-41E8-BDF9-22C237215ED9}"/>
              </a:ext>
            </a:extLst>
          </p:cNvPr>
          <p:cNvSpPr>
            <a:spLocks noGrp="1"/>
          </p:cNvSpPr>
          <p:nvPr/>
        </p:nvSpPr>
        <p:spPr>
          <a:xfrm>
            <a:off x="7334250" y="3524250"/>
            <a:ext cx="4095750" cy="16002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12" name="metric-stat-GrailQA Overall">
            <a:extLst>
              <a:ext uri="{FF2B5EF4-FFF2-40B4-BE49-F238E27FC236}">
                <a16:creationId xmlns:a16="http://schemas.microsoft.com/office/drawing/2014/main" id="{AA63BD23-2EE3-43DB-9607-F4C42E4C1F3A}"/>
              </a:ext>
            </a:extLst>
          </p:cNvPr>
          <p:cNvSpPr>
            <a:spLocks noGrp="1"/>
          </p:cNvSpPr>
          <p:nvPr/>
        </p:nvSpPr>
        <p:spPr>
          <a:xfrm>
            <a:off x="7562850" y="3676650"/>
            <a:ext cx="3638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83.9 / 86.1</a:t>
            </a:r>
          </a:p>
        </p:txBody>
      </p:sp>
      <p:sp>
        <p:nvSpPr>
          <p:cNvPr id="13" name="metric-label-GrailQA Overall">
            <a:extLst>
              <a:ext uri="{FF2B5EF4-FFF2-40B4-BE49-F238E27FC236}">
                <a16:creationId xmlns:a16="http://schemas.microsoft.com/office/drawing/2014/main" id="{27F8FF7E-33EC-49F6-B924-2C6826C1C63E}"/>
              </a:ext>
            </a:extLst>
          </p:cNvPr>
          <p:cNvSpPr>
            <a:spLocks noGrp="1"/>
          </p:cNvSpPr>
          <p:nvPr/>
        </p:nvSpPr>
        <p:spPr>
          <a:xfrm>
            <a:off x="7562850" y="4248150"/>
            <a:ext cx="3638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 dirty="0" err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GrailQA</a:t>
            </a:r>
            <a:r>
              <a:rPr sz="1425" b="1" i="0" dirty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Overall</a:t>
            </a:r>
          </a:p>
        </p:txBody>
      </p:sp>
      <p:sp>
        <p:nvSpPr>
          <p:cNvPr id="14" name="metric-note-GrailQA Overall">
            <a:extLst>
              <a:ext uri="{FF2B5EF4-FFF2-40B4-BE49-F238E27FC236}">
                <a16:creationId xmlns:a16="http://schemas.microsoft.com/office/drawing/2014/main" id="{4ECC02BE-CD45-42B9-830A-3C75F9BAAA02}"/>
              </a:ext>
            </a:extLst>
          </p:cNvPr>
          <p:cNvSpPr>
            <a:spLocks noGrp="1"/>
          </p:cNvSpPr>
          <p:nvPr/>
        </p:nvSpPr>
        <p:spPr>
          <a:xfrm>
            <a:off x="7562850" y="462915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EM / F1；在 i.i.d.、compositional、zero-shot 全部领先</a:t>
            </a:r>
          </a:p>
        </p:txBody>
      </p:sp>
      <p:sp>
        <p:nvSpPr>
          <p:cNvPr id="15" name="panel">
            <a:extLst>
              <a:ext uri="{FF2B5EF4-FFF2-40B4-BE49-F238E27FC236}">
                <a16:creationId xmlns:a16="http://schemas.microsoft.com/office/drawing/2014/main" id="{3D040734-FB26-4001-810D-AEA5B5C00C33}"/>
              </a:ext>
            </a:extLst>
          </p:cNvPr>
          <p:cNvSpPr>
            <a:spLocks noGrp="1"/>
          </p:cNvSpPr>
          <p:nvPr/>
        </p:nvSpPr>
        <p:spPr>
          <a:xfrm>
            <a:off x="7334250" y="5353050"/>
            <a:ext cx="4095750" cy="6667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B3889D17-1B8C-4B00-BF7E-E9936141C89F}"/>
              </a:ext>
            </a:extLst>
          </p:cNvPr>
          <p:cNvSpPr>
            <a:spLocks noGrp="1"/>
          </p:cNvSpPr>
          <p:nvPr/>
        </p:nvSpPr>
        <p:spPr>
          <a:xfrm>
            <a:off x="7524750" y="55435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250" lnSpcReduction="20000"/>
          </a:bodyPr>
          <a:lstStyle/>
          <a:p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推理阶段不需要 MCTS：训练出的单一 policy 直接执行。</a:t>
            </a:r>
          </a:p>
        </p:txBody>
      </p:sp>
    </p:spTree>
    <p:extLst>
      <p:ext uri="{BB962C8B-B14F-4D97-AF65-F5344CB8AC3E}">
        <p14:creationId xmlns:p14="http://schemas.microsoft.com/office/powerpoint/2010/main" val="13026710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ection-kicker">
            <a:extLst>
              <a:ext uri="{FF2B5EF4-FFF2-40B4-BE49-F238E27FC236}">
                <a16:creationId xmlns:a16="http://schemas.microsoft.com/office/drawing/2014/main" id="{123EDE02-5563-4DF6-A222-F34776D72751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ABLATIONS &amp; EFFICIENCY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D761CE1-1174-4E2F-BC7D-0860F4C49EE9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真正决定性能的是可执行交互架构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2134FEEB-EA42-4236-B0F1-09B983E7C2A9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E7D66E4A-114B-42BA-A4A7-41D931A9C910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26" name="表格 25"/>
          <p:cNvGraphicFramePr/>
          <p:nvPr/>
        </p:nvGraphicFramePr>
        <p:xfrm>
          <a:off x="400050" y="1657350"/>
          <a:ext cx="6591300" cy="4095752"/>
        </p:xfrm>
        <a:graphic>
          <a:graphicData uri="http://schemas.openxmlformats.org/drawingml/2006/table">
            <a:tbl>
              <a:tblPr/>
              <a:tblGrid>
                <a:gridCol w="272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196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Variant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WebQSP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GraphQ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GrailQA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Full KBQA-R1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83.4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RRCG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64.1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37.7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67.1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Multi-turn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63.2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34.1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RRS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78.9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SFT warm-start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47.3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GRPO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72.1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47.8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Format Reward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81.1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51.6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metric-RRCG 平均贡献">
            <a:extLst>
              <a:ext uri="{FF2B5EF4-FFF2-40B4-BE49-F238E27FC236}">
                <a16:creationId xmlns:a16="http://schemas.microsoft.com/office/drawing/2014/main" id="{FA601878-BEDE-4918-8D26-E45F3E49FB16}"/>
              </a:ext>
            </a:extLst>
          </p:cNvPr>
          <p:cNvSpPr>
            <a:spLocks noGrp="1"/>
          </p:cNvSpPr>
          <p:nvPr/>
        </p:nvSpPr>
        <p:spPr>
          <a:xfrm>
            <a:off x="7372350" y="1657350"/>
            <a:ext cx="1924050" cy="196215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7" name="metric-stat-RRCG 平均贡献">
            <a:extLst>
              <a:ext uri="{FF2B5EF4-FFF2-40B4-BE49-F238E27FC236}">
                <a16:creationId xmlns:a16="http://schemas.microsoft.com/office/drawing/2014/main" id="{0DD0DC60-2DC4-4914-9C01-2381140EFE59}"/>
              </a:ext>
            </a:extLst>
          </p:cNvPr>
          <p:cNvSpPr>
            <a:spLocks noGrp="1"/>
          </p:cNvSpPr>
          <p:nvPr/>
        </p:nvSpPr>
        <p:spPr>
          <a:xfrm>
            <a:off x="7600950" y="1885950"/>
            <a:ext cx="1466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≈18 pt</a:t>
            </a:r>
          </a:p>
        </p:txBody>
      </p:sp>
      <p:sp>
        <p:nvSpPr>
          <p:cNvPr id="8" name="metric-label-RRCG 平均贡献">
            <a:extLst>
              <a:ext uri="{FF2B5EF4-FFF2-40B4-BE49-F238E27FC236}">
                <a16:creationId xmlns:a16="http://schemas.microsoft.com/office/drawing/2014/main" id="{33012B44-31CE-4E36-8DAC-5E0CBCD05CBD}"/>
              </a:ext>
            </a:extLst>
          </p:cNvPr>
          <p:cNvSpPr>
            <a:spLocks noGrp="1"/>
          </p:cNvSpPr>
          <p:nvPr/>
        </p:nvSpPr>
        <p:spPr>
          <a:xfrm>
            <a:off x="7600950" y="2705100"/>
            <a:ext cx="1466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298"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RRCG 平均贡献</a:t>
            </a:r>
          </a:p>
        </p:txBody>
      </p:sp>
      <p:sp>
        <p:nvSpPr>
          <p:cNvPr id="9" name="metric-note-RRCG 平均贡献">
            <a:extLst>
              <a:ext uri="{FF2B5EF4-FFF2-40B4-BE49-F238E27FC236}">
                <a16:creationId xmlns:a16="http://schemas.microsoft.com/office/drawing/2014/main" id="{16AADD9C-75F2-4951-A05D-D6227C78D56C}"/>
              </a:ext>
            </a:extLst>
          </p:cNvPr>
          <p:cNvSpPr>
            <a:spLocks noGrp="1"/>
          </p:cNvSpPr>
          <p:nvPr/>
        </p:nvSpPr>
        <p:spPr>
          <a:xfrm>
            <a:off x="7600950" y="3162300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1891" lnSpcReduction="20000"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去掉 relation retrieval 与 gating 后三数据集平均大幅下降</a:t>
            </a:r>
          </a:p>
        </p:txBody>
      </p:sp>
      <p:sp>
        <p:nvSpPr>
          <p:cNvPr id="10" name="metric-Multi-turn 贡献">
            <a:extLst>
              <a:ext uri="{FF2B5EF4-FFF2-40B4-BE49-F238E27FC236}">
                <a16:creationId xmlns:a16="http://schemas.microsoft.com/office/drawing/2014/main" id="{B0E209E1-5EAB-48E4-9D50-A290C254F17F}"/>
              </a:ext>
            </a:extLst>
          </p:cNvPr>
          <p:cNvSpPr>
            <a:spLocks noGrp="1"/>
          </p:cNvSpPr>
          <p:nvPr/>
        </p:nvSpPr>
        <p:spPr>
          <a:xfrm>
            <a:off x="9505950" y="1657350"/>
            <a:ext cx="1924050" cy="19621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1" name="metric-stat-Multi-turn 贡献">
            <a:extLst>
              <a:ext uri="{FF2B5EF4-FFF2-40B4-BE49-F238E27FC236}">
                <a16:creationId xmlns:a16="http://schemas.microsoft.com/office/drawing/2014/main" id="{DCF332CE-273D-48F5-AFF5-606339088CBF}"/>
              </a:ext>
            </a:extLst>
          </p:cNvPr>
          <p:cNvSpPr>
            <a:spLocks noGrp="1"/>
          </p:cNvSpPr>
          <p:nvPr/>
        </p:nvSpPr>
        <p:spPr>
          <a:xfrm>
            <a:off x="9734550" y="1885950"/>
            <a:ext cx="1466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≈25 pt</a:t>
            </a:r>
          </a:p>
        </p:txBody>
      </p:sp>
      <p:sp>
        <p:nvSpPr>
          <p:cNvPr id="12" name="metric-label-Multi-turn 贡献">
            <a:extLst>
              <a:ext uri="{FF2B5EF4-FFF2-40B4-BE49-F238E27FC236}">
                <a16:creationId xmlns:a16="http://schemas.microsoft.com/office/drawing/2014/main" id="{A7D37BA8-5F96-48E6-B0EB-E1B887304126}"/>
              </a:ext>
            </a:extLst>
          </p:cNvPr>
          <p:cNvSpPr>
            <a:spLocks noGrp="1"/>
          </p:cNvSpPr>
          <p:nvPr/>
        </p:nvSpPr>
        <p:spPr>
          <a:xfrm>
            <a:off x="9734550" y="2705100"/>
            <a:ext cx="1466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728"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Multi-turn 贡献</a:t>
            </a:r>
          </a:p>
        </p:txBody>
      </p:sp>
      <p:sp>
        <p:nvSpPr>
          <p:cNvPr id="13" name="metric-note-Multi-turn 贡献">
            <a:extLst>
              <a:ext uri="{FF2B5EF4-FFF2-40B4-BE49-F238E27FC236}">
                <a16:creationId xmlns:a16="http://schemas.microsoft.com/office/drawing/2014/main" id="{918C0662-C53A-4389-A960-8E2837768807}"/>
              </a:ext>
            </a:extLst>
          </p:cNvPr>
          <p:cNvSpPr>
            <a:spLocks noGrp="1"/>
          </p:cNvSpPr>
          <p:nvPr/>
        </p:nvSpPr>
        <p:spPr>
          <a:xfrm>
            <a:off x="9734550" y="3162300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8725" lnSpcReduction="20000"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单轮动作生成导致级联错误；GrailQA 降至 49.8</a:t>
            </a:r>
          </a:p>
        </p:txBody>
      </p:sp>
      <p:sp>
        <p:nvSpPr>
          <p:cNvPr id="14" name="panel">
            <a:extLst>
              <a:ext uri="{FF2B5EF4-FFF2-40B4-BE49-F238E27FC236}">
                <a16:creationId xmlns:a16="http://schemas.microsoft.com/office/drawing/2014/main" id="{94CFD6F3-61AE-4E13-AB38-62D09EF9C3E5}"/>
              </a:ext>
            </a:extLst>
          </p:cNvPr>
          <p:cNvSpPr>
            <a:spLocks noGrp="1"/>
          </p:cNvSpPr>
          <p:nvPr/>
        </p:nvSpPr>
        <p:spPr>
          <a:xfrm>
            <a:off x="7372350" y="3886200"/>
            <a:ext cx="4057650" cy="18669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6A167FA1-40E5-470B-87F9-A5A7F94515DB}"/>
              </a:ext>
            </a:extLst>
          </p:cNvPr>
          <p:cNvSpPr>
            <a:spLocks noGrp="1"/>
          </p:cNvSpPr>
          <p:nvPr/>
        </p:nvSpPr>
        <p:spPr>
          <a:xfrm>
            <a:off x="7600950" y="4095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推理调用效率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419EA10A-6A2A-401E-856D-787E954B68FE}"/>
              </a:ext>
            </a:extLst>
          </p:cNvPr>
          <p:cNvSpPr>
            <a:spLocks noGrp="1"/>
          </p:cNvSpPr>
          <p:nvPr/>
        </p:nvSpPr>
        <p:spPr>
          <a:xfrm>
            <a:off x="7600950" y="4552950"/>
            <a:ext cx="238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2.65 / 3.08 / 3.16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63A69CC1-C068-4CDE-A706-0B7237303647}"/>
              </a:ext>
            </a:extLst>
          </p:cNvPr>
          <p:cNvSpPr>
            <a:spLocks noGrp="1"/>
          </p:cNvSpPr>
          <p:nvPr/>
        </p:nvSpPr>
        <p:spPr>
          <a:xfrm>
            <a:off x="7600950" y="50101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WebQSP / GrailQA / GraphQ 平均 LLM calls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3034E86F-ECA2-4355-8BEE-01ECE48C6182}"/>
              </a:ext>
            </a:extLst>
          </p:cNvPr>
          <p:cNvSpPr>
            <a:spLocks noGrp="1"/>
          </p:cNvSpPr>
          <p:nvPr/>
        </p:nvSpPr>
        <p:spPr>
          <a:xfrm>
            <a:off x="7600950" y="54292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155.6 vs 5.9 questions/min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34770FB6-079A-4A8A-BE7A-02A2FFE8D4BC}"/>
              </a:ext>
            </a:extLst>
          </p:cNvPr>
          <p:cNvSpPr>
            <a:spLocks noGrp="1"/>
          </p:cNvSpPr>
          <p:nvPr/>
        </p:nvSpPr>
        <p:spPr>
          <a:xfrm>
            <a:off x="400050" y="5943600"/>
            <a:ext cx="659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20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KBQA-o1 调用：28.8 / 32.3 / 78.0</a:t>
            </a:r>
          </a:p>
        </p:txBody>
      </p:sp>
    </p:spTree>
    <p:extLst>
      <p:ext uri="{BB962C8B-B14F-4D97-AF65-F5344CB8AC3E}">
        <p14:creationId xmlns:p14="http://schemas.microsoft.com/office/powerpoint/2010/main" val="1727298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-kicker">
            <a:extLst>
              <a:ext uri="{FF2B5EF4-FFF2-40B4-BE49-F238E27FC236}">
                <a16:creationId xmlns:a16="http://schemas.microsoft.com/office/drawing/2014/main" id="{C4275210-2F28-421E-B38C-FB3466FA8B45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CREDIT ASSIGNMENT · GAPD + EviSD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404A63A-EA2B-464E-B166-4719055AB6AF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同一个瓶颈：最终奖励不知道中间哪里错了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77B0B4E5-DE74-49E8-AFA8-9102E368F8CC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8C869D20-F06D-476D-807B-5E775C81C507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5" name="panel">
            <a:extLst>
              <a:ext uri="{FF2B5EF4-FFF2-40B4-BE49-F238E27FC236}">
                <a16:creationId xmlns:a16="http://schemas.microsoft.com/office/drawing/2014/main" id="{02713856-54E8-4ECF-8347-649A6E47E52E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219700" cy="36195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92D4441-BBAA-41FA-B003-EA5912D58460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STRUCTURED KBQA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47AD68AD-F50E-4BB7-9FDF-5CB163BFD04C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GAPD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D1E3F34-C61B-43BD-911E-6543EE747610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Gold action + executable entity state</a:t>
            </a:r>
          </a:p>
        </p:txBody>
      </p:sp>
      <p:sp>
        <p:nvSpPr>
          <p:cNvPr id="9" name="bullets">
            <a:extLst>
              <a:ext uri="{FF2B5EF4-FFF2-40B4-BE49-F238E27FC236}">
                <a16:creationId xmlns:a16="http://schemas.microsoft.com/office/drawing/2014/main" id="{3F2DEAC1-76D6-43E4-861A-6B02A26BB95F}"/>
              </a:ext>
            </a:extLst>
          </p:cNvPr>
          <p:cNvSpPr>
            <a:spLocks noGrp="1"/>
          </p:cNvSpPr>
          <p:nvPr/>
        </p:nvSpPr>
        <p:spPr>
          <a:xfrm>
            <a:off x="666750" y="3810000"/>
            <a:ext cx="4476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对齐单位：中间实体集合 / gold execution state。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监督目标：定位错误 relation token。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关键机制：Entity-Anchor Matching。</a:t>
            </a:r>
          </a:p>
        </p:txBody>
      </p:sp>
      <p:sp>
        <p:nvSpPr>
          <p:cNvPr id="10" name="panel">
            <a:extLst>
              <a:ext uri="{FF2B5EF4-FFF2-40B4-BE49-F238E27FC236}">
                <a16:creationId xmlns:a16="http://schemas.microsoft.com/office/drawing/2014/main" id="{33FABCF5-B2C3-45A3-9F6F-264AD0C7488A}"/>
              </a:ext>
            </a:extLst>
          </p:cNvPr>
          <p:cNvSpPr>
            <a:spLocks noGrp="1"/>
          </p:cNvSpPr>
          <p:nvPr/>
        </p:nvSpPr>
        <p:spPr>
          <a:xfrm>
            <a:off x="6172200" y="1714500"/>
            <a:ext cx="5219700" cy="36195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A02A726-EA3D-43F5-B0F4-F4D98EA1E6C5}"/>
              </a:ext>
            </a:extLst>
          </p:cNvPr>
          <p:cNvSpPr>
            <a:spLocks noGrp="1"/>
          </p:cNvSpPr>
          <p:nvPr/>
        </p:nvSpPr>
        <p:spPr>
          <a:xfrm>
            <a:off x="6438900" y="20002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OPEN-DOCUMENT SEARCH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67E44A0D-3AC4-4A69-AD4F-3978314C1B4E}"/>
              </a:ext>
            </a:extLst>
          </p:cNvPr>
          <p:cNvSpPr>
            <a:spLocks noGrp="1"/>
          </p:cNvSpPr>
          <p:nvPr/>
        </p:nvSpPr>
        <p:spPr>
          <a:xfrm>
            <a:off x="6438900" y="245745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EviSD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1A50B476-46FB-4160-A744-4997B96BCCEE}"/>
              </a:ext>
            </a:extLst>
          </p:cNvPr>
          <p:cNvSpPr>
            <a:spLocks noGrp="1"/>
          </p:cNvSpPr>
          <p:nvPr/>
        </p:nvSpPr>
        <p:spPr>
          <a:xfrm>
            <a:off x="6438900" y="31432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Supporting evidence + answer aliases</a:t>
            </a:r>
          </a:p>
        </p:txBody>
      </p:sp>
      <p:sp>
        <p:nvSpPr>
          <p:cNvPr id="14" name="bullets">
            <a:extLst>
              <a:ext uri="{FF2B5EF4-FFF2-40B4-BE49-F238E27FC236}">
                <a16:creationId xmlns:a16="http://schemas.microsoft.com/office/drawing/2014/main" id="{F4308090-34C1-42A1-B38F-CC4FAE0EAC7B}"/>
              </a:ext>
            </a:extLst>
          </p:cNvPr>
          <p:cNvSpPr>
            <a:spLocks noGrp="1"/>
          </p:cNvSpPr>
          <p:nvPr/>
        </p:nvSpPr>
        <p:spPr>
          <a:xfrm>
            <a:off x="6438900" y="3810000"/>
            <a:ext cx="4476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对齐单位：search / answer action span。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监督目标：定位高质量 query 与 answer token。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关键机制：instance-level privilege routing。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57FDAE17-A2FF-4660-94EE-706E0461A4AC}"/>
              </a:ext>
            </a:extLst>
          </p:cNvPr>
          <p:cNvSpPr>
            <a:spLocks noGrp="1"/>
          </p:cNvSpPr>
          <p:nvPr/>
        </p:nvSpPr>
        <p:spPr>
          <a:xfrm>
            <a:off x="400050" y="5753100"/>
            <a:ext cx="10991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共同范式：当前 policy 在原始上下文采样；同一 policy 在 privileged context 下充当 stop-gradient teacher。</a:t>
            </a:r>
          </a:p>
        </p:txBody>
      </p:sp>
    </p:spTree>
    <p:extLst>
      <p:ext uri="{BB962C8B-B14F-4D97-AF65-F5344CB8AC3E}">
        <p14:creationId xmlns:p14="http://schemas.microsoft.com/office/powerpoint/2010/main" val="103396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ection-kicker">
            <a:extLst>
              <a:ext uri="{FF2B5EF4-FFF2-40B4-BE49-F238E27FC236}">
                <a16:creationId xmlns:a16="http://schemas.microsoft.com/office/drawing/2014/main" id="{60E0238A-016E-4BD2-B731-7C61E1D78737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CREDIT ASSIGNMENT · PROBLEM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730B13A-6B94-404D-8794-616179A04B7E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一条 trajectory 一个分数，无法定位中间错误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233CA22A-BDB4-4D4A-B44A-0AB02B161957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7B8E26F1-7532-42F1-BB8A-BF7AE12D2863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">
                <a:extLst>
                  <a:ext uri="{FF2B5EF4-FFF2-40B4-BE49-F238E27FC236}">
                    <a16:creationId xmlns:a16="http://schemas.microsoft.com/office/drawing/2014/main" id="{ED46134D-ED02-4EAE-9FA2-DC635EDB2C9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00050" y="1619250"/>
                <a:ext cx="5810250" cy="5143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buNone/>
                  <a:defRPr sz="2400" b="1">
                    <a:solidFill>
                      <a:srgbClr val="3D8DFF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𝑚𝑒𝑎𝑛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5" name="text">
                <a:extLst>
                  <a:ext uri="{FF2B5EF4-FFF2-40B4-BE49-F238E27FC236}">
                    <a16:creationId xmlns:a16="http://schemas.microsoft.com/office/drawing/2014/main" id="{ED46134D-ED02-4EAE-9FA2-DC635EDB2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50" y="1619250"/>
                <a:ext cx="5810250" cy="514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rule"/>
          <p:cNvCxnSpPr/>
          <p:nvPr/>
        </p:nvCxnSpPr>
        <p:spPr>
          <a:xfrm>
            <a:off x="990600" y="2952750"/>
            <a:ext cx="9906000" cy="95"/>
          </a:xfrm>
          <a:prstGeom prst="straightConnector1">
            <a:avLst/>
          </a:prstGeom>
          <a:ln w="28575">
            <a:solidFill>
              <a:srgbClr val="B8BCC4"/>
            </a:solidFill>
            <a:prstDash val="solid"/>
          </a:ln>
        </p:spPr>
      </p:cxnSp>
      <p:sp>
        <p:nvSpPr>
          <p:cNvPr id="7" name="tok-think">
            <a:extLst>
              <a:ext uri="{FF2B5EF4-FFF2-40B4-BE49-F238E27FC236}">
                <a16:creationId xmlns:a16="http://schemas.microsoft.com/office/drawing/2014/main" id="{EAF68574-5D3A-41FA-B9FC-AE071C03B6D1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1257300" cy="762000"/>
          </a:xfrm>
          <a:prstGeom prst="rect">
            <a:avLst/>
          </a:prstGeom>
          <a:solidFill>
            <a:srgbClr val="E8EAED"/>
          </a:solidFill>
          <a:ln w="0">
            <a:noFill/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F6D5702C-2E54-40B6-A5E7-8D2076133075}"/>
              </a:ext>
            </a:extLst>
          </p:cNvPr>
          <p:cNvSpPr>
            <a:spLocks noGrp="1"/>
          </p:cNvSpPr>
          <p:nvPr/>
        </p:nvSpPr>
        <p:spPr>
          <a:xfrm>
            <a:off x="628650" y="27813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think</a:t>
            </a:r>
          </a:p>
        </p:txBody>
      </p:sp>
      <p:sp>
        <p:nvSpPr>
          <p:cNvPr id="9" name="tok-Find_relation">
            <a:extLst>
              <a:ext uri="{FF2B5EF4-FFF2-40B4-BE49-F238E27FC236}">
                <a16:creationId xmlns:a16="http://schemas.microsoft.com/office/drawing/2014/main" id="{B15AB133-4F8A-42B0-AF0C-F04F68190AD7}"/>
              </a:ext>
            </a:extLst>
          </p:cNvPr>
          <p:cNvSpPr>
            <a:spLocks noGrp="1"/>
          </p:cNvSpPr>
          <p:nvPr/>
        </p:nvSpPr>
        <p:spPr>
          <a:xfrm>
            <a:off x="1885950" y="2571750"/>
            <a:ext cx="1790700" cy="7620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64E8B0EE-3AAA-4BA0-AB75-D4A5041D2FC9}"/>
              </a:ext>
            </a:extLst>
          </p:cNvPr>
          <p:cNvSpPr>
            <a:spLocks noGrp="1"/>
          </p:cNvSpPr>
          <p:nvPr/>
        </p:nvSpPr>
        <p:spPr>
          <a:xfrm>
            <a:off x="1981200" y="2781300"/>
            <a:ext cx="160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Find_relation</a:t>
            </a:r>
          </a:p>
        </p:txBody>
      </p:sp>
      <p:sp>
        <p:nvSpPr>
          <p:cNvPr id="11" name="tok-wrong.relation">
            <a:extLst>
              <a:ext uri="{FF2B5EF4-FFF2-40B4-BE49-F238E27FC236}">
                <a16:creationId xmlns:a16="http://schemas.microsoft.com/office/drawing/2014/main" id="{378E399D-B3CB-44A1-9308-7773AEE19548}"/>
              </a:ext>
            </a:extLst>
          </p:cNvPr>
          <p:cNvSpPr>
            <a:spLocks noGrp="1"/>
          </p:cNvSpPr>
          <p:nvPr/>
        </p:nvSpPr>
        <p:spPr>
          <a:xfrm>
            <a:off x="3905250" y="2571750"/>
            <a:ext cx="1790700" cy="76200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975D5CBB-A807-4FA5-9A21-A3CF56E15140}"/>
              </a:ext>
            </a:extLst>
          </p:cNvPr>
          <p:cNvSpPr>
            <a:spLocks noGrp="1"/>
          </p:cNvSpPr>
          <p:nvPr/>
        </p:nvSpPr>
        <p:spPr>
          <a:xfrm>
            <a:off x="4000500" y="2781300"/>
            <a:ext cx="160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wrong.relation</a:t>
            </a:r>
          </a:p>
        </p:txBody>
      </p:sp>
      <p:sp>
        <p:nvSpPr>
          <p:cNvPr id="13" name="tok-information">
            <a:extLst>
              <a:ext uri="{FF2B5EF4-FFF2-40B4-BE49-F238E27FC236}">
                <a16:creationId xmlns:a16="http://schemas.microsoft.com/office/drawing/2014/main" id="{EC133BD0-9DC9-4524-A533-AFAEB8C1A97A}"/>
              </a:ext>
            </a:extLst>
          </p:cNvPr>
          <p:cNvSpPr>
            <a:spLocks noGrp="1"/>
          </p:cNvSpPr>
          <p:nvPr/>
        </p:nvSpPr>
        <p:spPr>
          <a:xfrm>
            <a:off x="6134100" y="2571750"/>
            <a:ext cx="1257300" cy="762000"/>
          </a:xfrm>
          <a:prstGeom prst="rect">
            <a:avLst/>
          </a:prstGeom>
          <a:solidFill>
            <a:srgbClr val="E8EAED"/>
          </a:solidFill>
          <a:ln w="0">
            <a:noFill/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1B17C970-1FCF-47E8-B6C4-E7F918123E09}"/>
              </a:ext>
            </a:extLst>
          </p:cNvPr>
          <p:cNvSpPr>
            <a:spLocks noGrp="1"/>
          </p:cNvSpPr>
          <p:nvPr/>
        </p:nvSpPr>
        <p:spPr>
          <a:xfrm>
            <a:off x="6229350" y="27813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information</a:t>
            </a:r>
          </a:p>
        </p:txBody>
      </p:sp>
      <p:sp>
        <p:nvSpPr>
          <p:cNvPr id="15" name="tok-answer">
            <a:extLst>
              <a:ext uri="{FF2B5EF4-FFF2-40B4-BE49-F238E27FC236}">
                <a16:creationId xmlns:a16="http://schemas.microsoft.com/office/drawing/2014/main" id="{EEB85510-4287-4DD6-BF60-E58618F5FFD5}"/>
              </a:ext>
            </a:extLst>
          </p:cNvPr>
          <p:cNvSpPr>
            <a:spLocks noGrp="1"/>
          </p:cNvSpPr>
          <p:nvPr/>
        </p:nvSpPr>
        <p:spPr>
          <a:xfrm>
            <a:off x="7886700" y="2571750"/>
            <a:ext cx="1257300" cy="7620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55943821-AF10-4A8C-981A-EF3DA1EB811F}"/>
              </a:ext>
            </a:extLst>
          </p:cNvPr>
          <p:cNvSpPr>
            <a:spLocks noGrp="1"/>
          </p:cNvSpPr>
          <p:nvPr/>
        </p:nvSpPr>
        <p:spPr>
          <a:xfrm>
            <a:off x="7981950" y="27813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answer</a:t>
            </a:r>
          </a:p>
        </p:txBody>
      </p:sp>
      <p:sp>
        <p:nvSpPr>
          <p:cNvPr id="17" name="tok-wrong">
            <a:extLst>
              <a:ext uri="{FF2B5EF4-FFF2-40B4-BE49-F238E27FC236}">
                <a16:creationId xmlns:a16="http://schemas.microsoft.com/office/drawing/2014/main" id="{C3DB2063-E2A2-4F81-BAF7-761B776EA2A2}"/>
              </a:ext>
            </a:extLst>
          </p:cNvPr>
          <p:cNvSpPr>
            <a:spLocks noGrp="1"/>
          </p:cNvSpPr>
          <p:nvPr/>
        </p:nvSpPr>
        <p:spPr>
          <a:xfrm>
            <a:off x="9525000" y="2571750"/>
            <a:ext cx="1257300" cy="76200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78A6DB6-5E2C-4F92-B992-5FAD589916C0}"/>
              </a:ext>
            </a:extLst>
          </p:cNvPr>
          <p:cNvSpPr>
            <a:spLocks noGrp="1"/>
          </p:cNvSpPr>
          <p:nvPr/>
        </p:nvSpPr>
        <p:spPr>
          <a:xfrm>
            <a:off x="9620250" y="27813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wrong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03828066-74F3-4109-B160-2F77779C489F}"/>
              </a:ext>
            </a:extLst>
          </p:cNvPr>
          <p:cNvSpPr>
            <a:spLocks noGrp="1"/>
          </p:cNvSpPr>
          <p:nvPr/>
        </p:nvSpPr>
        <p:spPr>
          <a:xfrm>
            <a:off x="533400" y="3638550"/>
            <a:ext cx="10248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85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−0.45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C04B26BA-3CB1-4B59-B162-0E6F263F298C}"/>
              </a:ext>
            </a:extLst>
          </p:cNvPr>
          <p:cNvSpPr>
            <a:spLocks noGrp="1"/>
          </p:cNvSpPr>
          <p:nvPr/>
        </p:nvSpPr>
        <p:spPr>
          <a:xfrm>
            <a:off x="1905000" y="4305300"/>
            <a:ext cx="838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GRPO 广播同一个负优势：正确动作、错误 relation、最终答案都被同样惩罚。</a:t>
            </a:r>
          </a:p>
        </p:txBody>
      </p:sp>
      <p:sp>
        <p:nvSpPr>
          <p:cNvPr id="21" name="panel">
            <a:extLst>
              <a:ext uri="{FF2B5EF4-FFF2-40B4-BE49-F238E27FC236}">
                <a16:creationId xmlns:a16="http://schemas.microsoft.com/office/drawing/2014/main" id="{1898D20E-7E24-405D-8ABC-7682FB2A7866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5219700" cy="8191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352B4A61-4968-4163-B88B-E44CCF0AB7EC}"/>
              </a:ext>
            </a:extLst>
          </p:cNvPr>
          <p:cNvSpPr>
            <a:spLocks noGrp="1"/>
          </p:cNvSpPr>
          <p:nvPr/>
        </p:nvSpPr>
        <p:spPr>
          <a:xfrm>
            <a:off x="609600" y="5448300"/>
            <a:ext cx="480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GAPD：用 gold execution state 判断“当前应该执行哪个 action”。</a:t>
            </a:r>
          </a:p>
        </p:txBody>
      </p:sp>
      <p:sp>
        <p:nvSpPr>
          <p:cNvPr id="23" name="panel">
            <a:extLst>
              <a:ext uri="{FF2B5EF4-FFF2-40B4-BE49-F238E27FC236}">
                <a16:creationId xmlns:a16="http://schemas.microsoft.com/office/drawing/2014/main" id="{FCE10508-144E-4D6D-BF52-717F735176F6}"/>
              </a:ext>
            </a:extLst>
          </p:cNvPr>
          <p:cNvSpPr>
            <a:spLocks noGrp="1"/>
          </p:cNvSpPr>
          <p:nvPr/>
        </p:nvSpPr>
        <p:spPr>
          <a:xfrm>
            <a:off x="6172200" y="5219700"/>
            <a:ext cx="5219700" cy="8191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3B4B2596-0271-4B28-87DA-B271F04296C7}"/>
              </a:ext>
            </a:extLst>
          </p:cNvPr>
          <p:cNvSpPr>
            <a:spLocks noGrp="1"/>
          </p:cNvSpPr>
          <p:nvPr/>
        </p:nvSpPr>
        <p:spPr>
          <a:xfrm>
            <a:off x="6381750" y="5448300"/>
            <a:ext cx="4800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ctr">
              <a:buNone/>
              <a:defRPr sz="142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EviSD：用 supporting evidence 判断“当前 query 是否在搜对东西”。</a:t>
            </a:r>
          </a:p>
        </p:txBody>
      </p:sp>
    </p:spTree>
    <p:extLst>
      <p:ext uri="{BB962C8B-B14F-4D97-AF65-F5344CB8AC3E}">
        <p14:creationId xmlns:p14="http://schemas.microsoft.com/office/powerpoint/2010/main" val="16664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ection-kicker">
            <a:extLst>
              <a:ext uri="{FF2B5EF4-FFF2-40B4-BE49-F238E27FC236}">
                <a16:creationId xmlns:a16="http://schemas.microsoft.com/office/drawing/2014/main" id="{732DE522-ACF6-49D7-A9D0-1F9A25745DC3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ENTITY-ANCHOR MATCHING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2108AC71-5EDE-441D-864D-E9358927AE63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GAPD 先按执行状态对齐，再选择下一条 gold action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6293C13B-5BB0-48F1-BF4C-08C41DAF86F1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BEE445CC-1726-4F6D-97B2-69935E472A85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B78B0B79-4AFA-412C-8E0D-A506848DC2CD}"/>
              </a:ext>
            </a:extLst>
          </p:cNvPr>
          <p:cNvSpPr>
            <a:spLocks noGrp="1"/>
          </p:cNvSpPr>
          <p:nvPr/>
        </p:nvSpPr>
        <p:spPr>
          <a:xfrm>
            <a:off x="400050" y="167640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Student state sₜ</a:t>
            </a:r>
          </a:p>
        </p:txBody>
      </p:sp>
      <p:sp>
        <p:nvSpPr>
          <p:cNvPr id="6" name="panel">
            <a:extLst>
              <a:ext uri="{FF2B5EF4-FFF2-40B4-BE49-F238E27FC236}">
                <a16:creationId xmlns:a16="http://schemas.microsoft.com/office/drawing/2014/main" id="{E38B26B0-06C1-4344-9C66-E0B802BE83E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3143250" cy="17335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">
                <a:extLst>
                  <a:ext uri="{FF2B5EF4-FFF2-40B4-BE49-F238E27FC236}">
                    <a16:creationId xmlns:a16="http://schemas.microsoft.com/office/drawing/2014/main" id="{962A9C57-602D-4923-B33C-07CB85058A5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8650" y="2457450"/>
                <a:ext cx="2686050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ctr">
                  <a:buNone/>
                  <a:defRPr sz="1950" b="1">
                    <a:solidFill>
                      <a:srgbClr val="0A0A0A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)={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" name="text">
                <a:extLst>
                  <a:ext uri="{FF2B5EF4-FFF2-40B4-BE49-F238E27FC236}">
                    <a16:creationId xmlns:a16="http://schemas.microsoft.com/office/drawing/2014/main" id="{962A9C57-602D-4923-B33C-07CB85058A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457450"/>
                <a:ext cx="2686050" cy="4000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">
            <a:extLst>
              <a:ext uri="{FF2B5EF4-FFF2-40B4-BE49-F238E27FC236}">
                <a16:creationId xmlns:a16="http://schemas.microsoft.com/office/drawing/2014/main" id="{1145D31A-C1E6-4B38-94E2-63B45F900271}"/>
              </a:ext>
            </a:extLst>
          </p:cNvPr>
          <p:cNvSpPr>
            <a:spLocks noGrp="1"/>
          </p:cNvSpPr>
          <p:nvPr/>
        </p:nvSpPr>
        <p:spPr>
          <a:xfrm>
            <a:off x="628650" y="3124200"/>
            <a:ext cx="2686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on-policy 执行得到的中间实体集合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53FC36DA-AD6C-42C2-997C-E533660347C3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Gold states uₘ</a:t>
            </a:r>
          </a:p>
        </p:txBody>
      </p:sp>
      <p:sp>
        <p:nvSpPr>
          <p:cNvPr id="10" name="gold-u1">
            <a:extLst>
              <a:ext uri="{FF2B5EF4-FFF2-40B4-BE49-F238E27FC236}">
                <a16:creationId xmlns:a16="http://schemas.microsoft.com/office/drawing/2014/main" id="{56C8BC34-7C0E-4937-8CEC-6A51CD7C302B}"/>
              </a:ext>
            </a:extLst>
          </p:cNvPr>
          <p:cNvSpPr>
            <a:spLocks noGrp="1"/>
          </p:cNvSpPr>
          <p:nvPr/>
        </p:nvSpPr>
        <p:spPr>
          <a:xfrm>
            <a:off x="8420100" y="2152650"/>
            <a:ext cx="2971800" cy="7429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133A6002-2F5B-41FD-9FB6-828054DACA30}"/>
              </a:ext>
            </a:extLst>
          </p:cNvPr>
          <p:cNvSpPr>
            <a:spLocks noGrp="1"/>
          </p:cNvSpPr>
          <p:nvPr/>
        </p:nvSpPr>
        <p:spPr>
          <a:xfrm>
            <a:off x="8591550" y="2343150"/>
            <a:ext cx="419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u₁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FD65F2-7A68-4F53-8D97-C6AE2CCFEAC8}"/>
              </a:ext>
            </a:extLst>
          </p:cNvPr>
          <p:cNvSpPr>
            <a:spLocks noGrp="1"/>
          </p:cNvSpPr>
          <p:nvPr/>
        </p:nvSpPr>
        <p:spPr>
          <a:xfrm>
            <a:off x="9105900" y="2343150"/>
            <a:ext cx="2019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{a,b}</a:t>
            </a:r>
          </a:p>
        </p:txBody>
      </p:sp>
      <p:sp>
        <p:nvSpPr>
          <p:cNvPr id="13" name="gold-u2">
            <a:extLst>
              <a:ext uri="{FF2B5EF4-FFF2-40B4-BE49-F238E27FC236}">
                <a16:creationId xmlns:a16="http://schemas.microsoft.com/office/drawing/2014/main" id="{1CBE8784-6159-46BF-B24B-30B593288304}"/>
              </a:ext>
            </a:extLst>
          </p:cNvPr>
          <p:cNvSpPr>
            <a:spLocks noGrp="1"/>
          </p:cNvSpPr>
          <p:nvPr/>
        </p:nvSpPr>
        <p:spPr>
          <a:xfrm>
            <a:off x="8420100" y="3124200"/>
            <a:ext cx="2971800" cy="7429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D134422-429E-4CDD-B7AC-0F88ACD51BD0}"/>
              </a:ext>
            </a:extLst>
          </p:cNvPr>
          <p:cNvSpPr>
            <a:spLocks noGrp="1"/>
          </p:cNvSpPr>
          <p:nvPr/>
        </p:nvSpPr>
        <p:spPr>
          <a:xfrm>
            <a:off x="8591550" y="3314700"/>
            <a:ext cx="419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u₂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334268F-12CD-4072-B656-546BD596C21B}"/>
              </a:ext>
            </a:extLst>
          </p:cNvPr>
          <p:cNvSpPr>
            <a:spLocks noGrp="1"/>
          </p:cNvSpPr>
          <p:nvPr/>
        </p:nvSpPr>
        <p:spPr>
          <a:xfrm>
            <a:off x="9105900" y="3314700"/>
            <a:ext cx="2019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{e₁,e₂,e₃}</a:t>
            </a:r>
          </a:p>
        </p:txBody>
      </p:sp>
      <p:sp>
        <p:nvSpPr>
          <p:cNvPr id="16" name="gold-u3">
            <a:extLst>
              <a:ext uri="{FF2B5EF4-FFF2-40B4-BE49-F238E27FC236}">
                <a16:creationId xmlns:a16="http://schemas.microsoft.com/office/drawing/2014/main" id="{A8E184F5-8B16-48C9-873A-13A7D39D9BBF}"/>
              </a:ext>
            </a:extLst>
          </p:cNvPr>
          <p:cNvSpPr>
            <a:spLocks noGrp="1"/>
          </p:cNvSpPr>
          <p:nvPr/>
        </p:nvSpPr>
        <p:spPr>
          <a:xfrm>
            <a:off x="8420100" y="4095750"/>
            <a:ext cx="2971800" cy="7429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F7C40E8C-57D5-4926-9C04-BF9E6F06BB70}"/>
              </a:ext>
            </a:extLst>
          </p:cNvPr>
          <p:cNvSpPr>
            <a:spLocks noGrp="1"/>
          </p:cNvSpPr>
          <p:nvPr/>
        </p:nvSpPr>
        <p:spPr>
          <a:xfrm>
            <a:off x="8591550" y="4286250"/>
            <a:ext cx="419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u₃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C82F90F8-9BE4-4C28-976D-87387C6490F2}"/>
              </a:ext>
            </a:extLst>
          </p:cNvPr>
          <p:cNvSpPr>
            <a:spLocks noGrp="1"/>
          </p:cNvSpPr>
          <p:nvPr/>
        </p:nvSpPr>
        <p:spPr>
          <a:xfrm>
            <a:off x="9105900" y="4286250"/>
            <a:ext cx="2019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{x,y}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BA933130-CBA9-406A-819F-22A3F2E07BCF}"/>
              </a:ext>
            </a:extLst>
          </p:cNvPr>
          <p:cNvSpPr>
            <a:spLocks noGrp="1"/>
          </p:cNvSpPr>
          <p:nvPr/>
        </p:nvSpPr>
        <p:spPr>
          <a:xfrm>
            <a:off x="4038600" y="2286000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Jaccard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>
                <a:extLst>
                  <a:ext uri="{FF2B5EF4-FFF2-40B4-BE49-F238E27FC236}">
                    <a16:creationId xmlns:a16="http://schemas.microsoft.com/office/drawing/2014/main" id="{6EE24DF2-AE81-4EB0-B948-3B35C6BD247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924300" y="2857500"/>
                <a:ext cx="3943350" cy="6286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ctr">
                  <a:buNone/>
                  <a:defRPr sz="1650" b="1">
                    <a:solidFill>
                      <a:srgbClr val="0A0A0A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𝑠𝑖𝑚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)∩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)|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)∪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" name="text">
                <a:extLst>
                  <a:ext uri="{FF2B5EF4-FFF2-40B4-BE49-F238E27FC236}">
                    <a16:creationId xmlns:a16="http://schemas.microsoft.com/office/drawing/2014/main" id="{6EE24DF2-AE81-4EB0-B948-3B35C6BD24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4300" y="2857500"/>
                <a:ext cx="3943350" cy="628650"/>
              </a:xfrm>
              <a:prstGeom prst="rect">
                <a:avLst/>
              </a:prstGeom>
              <a:blipFill>
                <a:blip r:embed="rId4"/>
                <a:stretch>
                  <a:fillRect t="-2000" b="-2000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">
                <a:extLst>
                  <a:ext uri="{FF2B5EF4-FFF2-40B4-BE49-F238E27FC236}">
                    <a16:creationId xmlns:a16="http://schemas.microsoft.com/office/drawing/2014/main" id="{5109CEF2-8612-41B6-8433-3830E8DB83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43400" y="3714750"/>
                <a:ext cx="3143250" cy="4191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ctr">
                  <a:buNone/>
                  <a:defRPr sz="2100" b="1">
                    <a:solidFill>
                      <a:srgbClr val="2BA84A"/>
                    </a:solidFill>
                    <a:latin typeface="Helvetica Neue"/>
                    <a:ea typeface="Helvetica Neue"/>
                    <a:cs typeface="Helvetica Neue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𝑎𝑟𝑔𝑚𝑎𝑥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1" name="text">
                <a:extLst>
                  <a:ext uri="{FF2B5EF4-FFF2-40B4-BE49-F238E27FC236}">
                    <a16:creationId xmlns:a16="http://schemas.microsoft.com/office/drawing/2014/main" id="{5109CEF2-8612-41B6-8433-3830E8DB83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3714750"/>
                <a:ext cx="3143250" cy="419100"/>
              </a:xfrm>
              <a:prstGeom prst="rect">
                <a:avLst/>
              </a:prstGeom>
              <a:blipFill>
                <a:blip r:embed="rId5"/>
                <a:stretch>
                  <a:fillRect b="-2941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panel">
            <a:extLst>
              <a:ext uri="{FF2B5EF4-FFF2-40B4-BE49-F238E27FC236}">
                <a16:creationId xmlns:a16="http://schemas.microsoft.com/office/drawing/2014/main" id="{E8848943-DA1C-4A9B-AC39-AAB98967CD65}"/>
              </a:ext>
            </a:extLst>
          </p:cNvPr>
          <p:cNvSpPr>
            <a:spLocks noGrp="1"/>
          </p:cNvSpPr>
          <p:nvPr/>
        </p:nvSpPr>
        <p:spPr>
          <a:xfrm>
            <a:off x="400050" y="5048250"/>
            <a:ext cx="10991850" cy="9906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F52962AB-0031-4A68-A608-FD442E8A8DBB}"/>
              </a:ext>
            </a:extLst>
          </p:cNvPr>
          <p:cNvSpPr>
            <a:spLocks noGrp="1"/>
          </p:cNvSpPr>
          <p:nvPr/>
        </p:nvSpPr>
        <p:spPr>
          <a:xfrm>
            <a:off x="723900" y="5276850"/>
            <a:ext cx="1034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选择 u₂ 之后，teacher 注入 g₃（u₂ 的下一条 gold action），而不是按 turn index 生硬注入 g₂。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A006A003-47AD-43E4-937C-A9E5DAAE3EA5}"/>
              </a:ext>
            </a:extLst>
          </p:cNvPr>
          <p:cNvSpPr>
            <a:spLocks noGrp="1"/>
          </p:cNvSpPr>
          <p:nvPr/>
        </p:nvSpPr>
        <p:spPr>
          <a:xfrm>
            <a:off x="723900" y="5676900"/>
            <a:ext cx="10344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同一 next-state 的等价路径不蒸馏；answer turn 仍由最终 reward 监督。</a:t>
            </a:r>
          </a:p>
        </p:txBody>
      </p:sp>
    </p:spTree>
    <p:extLst>
      <p:ext uri="{BB962C8B-B14F-4D97-AF65-F5344CB8AC3E}">
        <p14:creationId xmlns:p14="http://schemas.microsoft.com/office/powerpoint/2010/main" val="2068568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ection-kicker">
            <a:extLst>
              <a:ext uri="{FF2B5EF4-FFF2-40B4-BE49-F238E27FC236}">
                <a16:creationId xmlns:a16="http://schemas.microsoft.com/office/drawing/2014/main" id="{D92F234F-F0D2-407D-8CAC-9D99F84E2337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LOCAL CREDIT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ADB5654-C9DC-4DF3-84D4-86C8779DEDA0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Self-teacher assigns token-level credit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B782F182-03ED-4A8D-8001-8EAF99337476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49AA308C-16CF-44C8-BC2B-6DC41DB6FF43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5" name="gapd-framework-backing">
            <a:extLst>
              <a:ext uri="{FF2B5EF4-FFF2-40B4-BE49-F238E27FC236}">
                <a16:creationId xmlns:a16="http://schemas.microsoft.com/office/drawing/2014/main" id="{75AC7A6D-5164-40FD-B7A4-3D18A95D585A}"/>
              </a:ext>
            </a:extLst>
          </p:cNvPr>
          <p:cNvSpPr>
            <a:spLocks noGrp="1"/>
          </p:cNvSpPr>
          <p:nvPr/>
        </p:nvSpPr>
        <p:spPr>
          <a:xfrm>
            <a:off x="400050" y="1485900"/>
            <a:ext cx="7277100" cy="451485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355" name="图片 1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3707" y="1485900"/>
            <a:ext cx="6449786" cy="4514850"/>
          </a:xfrm>
          <a:prstGeom prst="roundRect">
            <a:avLst>
              <a:gd name="adj" fmla="val 2532"/>
            </a:avLst>
          </a:prstGeom>
        </p:spPr>
      </p:pic>
      <p:sp>
        <p:nvSpPr>
          <p:cNvPr id="7" name="text">
            <a:extLst>
              <a:ext uri="{FF2B5EF4-FFF2-40B4-BE49-F238E27FC236}">
                <a16:creationId xmlns:a16="http://schemas.microsoft.com/office/drawing/2014/main" id="{B4AD49D6-7FFA-45A5-9F37-04E8DBC65042}"/>
              </a:ext>
            </a:extLst>
          </p:cNvPr>
          <p:cNvSpPr>
            <a:spLocks noGrp="1"/>
          </p:cNvSpPr>
          <p:nvPr/>
        </p:nvSpPr>
        <p:spPr>
          <a:xfrm>
            <a:off x="8077200" y="16383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3D7D7C96-027E-4AA2-9C52-0F15DF29DBBB}"/>
              </a:ext>
            </a:extLst>
          </p:cNvPr>
          <p:cNvSpPr>
            <a:spLocks noGrp="1"/>
          </p:cNvSpPr>
          <p:nvPr/>
        </p:nvSpPr>
        <p:spPr>
          <a:xfrm>
            <a:off x="8667750" y="163830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Self-teacher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FADD180-170B-4B27-B52A-02404549BE2C}"/>
              </a:ext>
            </a:extLst>
          </p:cNvPr>
          <p:cNvSpPr>
            <a:spLocks noGrp="1"/>
          </p:cNvSpPr>
          <p:nvPr/>
        </p:nvSpPr>
        <p:spPr>
          <a:xfrm>
            <a:off x="8667750" y="2095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同一 policy 加入 aligned gold action，stop-gradient 重打分 student token。</a:t>
            </a:r>
          </a:p>
        </p:txBody>
      </p:sp>
      <p:cxnSp>
        <p:nvCxnSpPr>
          <p:cNvPr id="359" name="rule"/>
          <p:cNvCxnSpPr/>
          <p:nvPr/>
        </p:nvCxnSpPr>
        <p:spPr>
          <a:xfrm>
            <a:off x="8077200" y="2800350"/>
            <a:ext cx="3238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>
              <a:ext uri="{FF2B5EF4-FFF2-40B4-BE49-F238E27FC236}">
                <a16:creationId xmlns:a16="http://schemas.microsoft.com/office/drawing/2014/main" id="{B66B0877-CFEA-49BA-8B02-E7FC6093D3E5}"/>
              </a:ext>
            </a:extLst>
          </p:cNvPr>
          <p:cNvSpPr>
            <a:spLocks noGrp="1"/>
          </p:cNvSpPr>
          <p:nvPr/>
        </p:nvSpPr>
        <p:spPr>
          <a:xfrm>
            <a:off x="8077200" y="299085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318D4758-8F7F-4DC8-8A9C-7852E2A93D9B}"/>
              </a:ext>
            </a:extLst>
          </p:cNvPr>
          <p:cNvSpPr>
            <a:spLocks noGrp="1"/>
          </p:cNvSpPr>
          <p:nvPr/>
        </p:nvSpPr>
        <p:spPr>
          <a:xfrm>
            <a:off x="8667750" y="29908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Token gap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">
                <a:extLst>
                  <a:ext uri="{FF2B5EF4-FFF2-40B4-BE49-F238E27FC236}">
                    <a16:creationId xmlns:a16="http://schemas.microsoft.com/office/drawing/2014/main" id="{FA4409B8-AB45-401D-94FD-12C8ACA0634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667750" y="3448050"/>
                <a:ext cx="2571750" cy="590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l">
                  <a:buNone/>
                  <a:defRPr sz="1275">
                    <a:solidFill>
                      <a:srgbClr val="59616D"/>
                    </a:solidFill>
                    <a:latin typeface="PingFang SC"/>
                    <a:ea typeface="PingFang SC"/>
                    <a:cs typeface="PingFang SC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𝐺𝐴𝑃𝐷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𝑡𝑒𝑎𝑐h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𝑠𝑡𝑢𝑑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3" name="text">
                <a:extLst>
                  <a:ext uri="{FF2B5EF4-FFF2-40B4-BE49-F238E27FC236}">
                    <a16:creationId xmlns:a16="http://schemas.microsoft.com/office/drawing/2014/main" id="{FA4409B8-AB45-401D-94FD-12C8ACA063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750" y="3448050"/>
                <a:ext cx="2571750" cy="590550"/>
              </a:xfrm>
              <a:prstGeom prst="rect">
                <a:avLst/>
              </a:prstGeom>
              <a:blipFill>
                <a:blip r:embed="rId4"/>
                <a:stretch>
                  <a:fillRect l="-490" r="-1471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3" name="rule"/>
          <p:cNvCxnSpPr/>
          <p:nvPr/>
        </p:nvCxnSpPr>
        <p:spPr>
          <a:xfrm>
            <a:off x="8077200" y="4152900"/>
            <a:ext cx="32385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CE4FFBF7-4FC2-4F4F-9313-3FC57249B017}"/>
              </a:ext>
            </a:extLst>
          </p:cNvPr>
          <p:cNvSpPr>
            <a:spLocks noGrp="1"/>
          </p:cNvSpPr>
          <p:nvPr/>
        </p:nvSpPr>
        <p:spPr>
          <a:xfrm>
            <a:off x="8077200" y="43434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70670D25-C9B8-4033-A1FF-D9CBE89276A7}"/>
              </a:ext>
            </a:extLst>
          </p:cNvPr>
          <p:cNvSpPr>
            <a:spLocks noGrp="1"/>
          </p:cNvSpPr>
          <p:nvPr/>
        </p:nvSpPr>
        <p:spPr>
          <a:xfrm>
            <a:off x="8667750" y="434340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Advantage fusion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">
                <a:extLst>
                  <a:ext uri="{FF2B5EF4-FFF2-40B4-BE49-F238E27FC236}">
                    <a16:creationId xmlns:a16="http://schemas.microsoft.com/office/drawing/2014/main" id="{8E20F76A-17BB-4B4D-BABD-C171C851A71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667750" y="4800600"/>
                <a:ext cx="2571750" cy="590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l">
                  <a:buNone/>
                  <a:defRPr sz="1275">
                    <a:solidFill>
                      <a:srgbClr val="59616D"/>
                    </a:solidFill>
                    <a:latin typeface="PingFang SC"/>
                    <a:ea typeface="PingFang SC"/>
                    <a:cs typeface="PingFang SC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ˆ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𝐺𝑅𝑃𝑂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𝐺𝐴𝑃𝐷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𝐺𝐴𝑃𝐷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7" name="text">
                <a:extLst>
                  <a:ext uri="{FF2B5EF4-FFF2-40B4-BE49-F238E27FC236}">
                    <a16:creationId xmlns:a16="http://schemas.microsoft.com/office/drawing/2014/main" id="{8E20F76A-17BB-4B4D-BABD-C171C851A7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750" y="4800600"/>
                <a:ext cx="2571750" cy="590550"/>
              </a:xfrm>
              <a:prstGeom prst="rect">
                <a:avLst/>
              </a:prstGeom>
              <a:blipFill>
                <a:blip r:embed="rId5"/>
                <a:stretch>
                  <a:fillRect t="-8511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panel">
            <a:extLst>
              <a:ext uri="{FF2B5EF4-FFF2-40B4-BE49-F238E27FC236}">
                <a16:creationId xmlns:a16="http://schemas.microsoft.com/office/drawing/2014/main" id="{A8452769-D339-45EA-BCE0-FA2C758D4114}"/>
              </a:ext>
            </a:extLst>
          </p:cNvPr>
          <p:cNvSpPr>
            <a:spLocks noGrp="1"/>
          </p:cNvSpPr>
          <p:nvPr/>
        </p:nvSpPr>
        <p:spPr>
          <a:xfrm>
            <a:off x="8077200" y="5753100"/>
            <a:ext cx="3238500" cy="4762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6630DF54-74DB-4564-A147-F3FEDF130402}"/>
              </a:ext>
            </a:extLst>
          </p:cNvPr>
          <p:cNvSpPr>
            <a:spLocks noGrp="1"/>
          </p:cNvSpPr>
          <p:nvPr/>
        </p:nvSpPr>
        <p:spPr>
          <a:xfrm>
            <a:off x="8229600" y="58864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097" lnSpcReduction="10000"/>
          </a:bodyPr>
          <a:lstStyle/>
          <a:p>
            <a:pPr algn="ctr">
              <a:buNone/>
              <a:defRPr sz="120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训练时使用 gold action；推理时仍是原始 policy。</a:t>
            </a:r>
          </a:p>
        </p:txBody>
      </p:sp>
    </p:spTree>
    <p:extLst>
      <p:ext uri="{BB962C8B-B14F-4D97-AF65-F5344CB8AC3E}">
        <p14:creationId xmlns:p14="http://schemas.microsoft.com/office/powerpoint/2010/main" val="11085955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-kicker">
            <a:extLst>
              <a:ext uri="{FF2B5EF4-FFF2-40B4-BE49-F238E27FC236}">
                <a16:creationId xmlns:a16="http://schemas.microsoft.com/office/drawing/2014/main" id="{718EE007-A943-4B3A-A723-DA678774E8DB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RESULTS &amp; ABLATIONS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F47051A9-14D0-4E20-9E6B-0A517A5CF484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状态对齐后的细粒度信用，在三类 KBQA 上稳定增益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149054D8-0892-4279-9044-556426F3FB65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868E4D42-8A05-4E7C-89D3-73AABFC93651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400050" y="1657350"/>
          <a:ext cx="5715000" cy="350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表格 23"/>
          <p:cNvGraphicFramePr/>
          <p:nvPr/>
        </p:nvGraphicFramePr>
        <p:xfrm>
          <a:off x="6515100" y="1657350"/>
          <a:ext cx="4914900" cy="3143250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Variant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WebQSP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GrailQA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GraphQ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GAPD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89.5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Outcome reward only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83.4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53.8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Qwen3-32B teacher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87.2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Turn-index alignment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79.3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81.2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First-turn only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85.0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87.9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54.7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metric-interactions / query">
            <a:extLst>
              <a:ext uri="{FF2B5EF4-FFF2-40B4-BE49-F238E27FC236}">
                <a16:creationId xmlns:a16="http://schemas.microsoft.com/office/drawing/2014/main" id="{43EAD9AF-5008-40A7-A7A5-B9B6952EFEFD}"/>
              </a:ext>
            </a:extLst>
          </p:cNvPr>
          <p:cNvSpPr>
            <a:spLocks noGrp="1"/>
          </p:cNvSpPr>
          <p:nvPr/>
        </p:nvSpPr>
        <p:spPr>
          <a:xfrm>
            <a:off x="6515100" y="5029200"/>
            <a:ext cx="2362200" cy="11049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8" name="metric-stat-interactions / query">
            <a:extLst>
              <a:ext uri="{FF2B5EF4-FFF2-40B4-BE49-F238E27FC236}">
                <a16:creationId xmlns:a16="http://schemas.microsoft.com/office/drawing/2014/main" id="{AB264620-4EF8-4957-931C-4D3A11F21DBE}"/>
              </a:ext>
            </a:extLst>
          </p:cNvPr>
          <p:cNvSpPr>
            <a:spLocks noGrp="1"/>
          </p:cNvSpPr>
          <p:nvPr/>
        </p:nvSpPr>
        <p:spPr>
          <a:xfrm>
            <a:off x="6705600" y="5124450"/>
            <a:ext cx="1981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/>
          </a:bodyPr>
          <a:lstStyle/>
          <a:p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2.68</a:t>
            </a:r>
          </a:p>
        </p:txBody>
      </p:sp>
      <p:sp>
        <p:nvSpPr>
          <p:cNvPr id="9" name="metric-label-interactions / query">
            <a:extLst>
              <a:ext uri="{FF2B5EF4-FFF2-40B4-BE49-F238E27FC236}">
                <a16:creationId xmlns:a16="http://schemas.microsoft.com/office/drawing/2014/main" id="{7CE50A9A-AF9B-419F-8026-EC9B4A8C8C81}"/>
              </a:ext>
            </a:extLst>
          </p:cNvPr>
          <p:cNvSpPr>
            <a:spLocks noGrp="1"/>
          </p:cNvSpPr>
          <p:nvPr/>
        </p:nvSpPr>
        <p:spPr>
          <a:xfrm>
            <a:off x="6705600" y="5543550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interactions / query</a:t>
            </a:r>
          </a:p>
        </p:txBody>
      </p:sp>
      <p:sp>
        <p:nvSpPr>
          <p:cNvPr id="10" name="metric-note-interactions / query">
            <a:extLst>
              <a:ext uri="{FF2B5EF4-FFF2-40B4-BE49-F238E27FC236}">
                <a16:creationId xmlns:a16="http://schemas.microsoft.com/office/drawing/2014/main" id="{B90D9450-3F63-42F3-8E83-7141FA0BB7A3}"/>
              </a:ext>
            </a:extLst>
          </p:cNvPr>
          <p:cNvSpPr>
            <a:spLocks noGrp="1"/>
          </p:cNvSpPr>
          <p:nvPr/>
        </p:nvSpPr>
        <p:spPr>
          <a:xfrm>
            <a:off x="6705600" y="5848350"/>
            <a:ext cx="1981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KBQA-R1：2.91</a:t>
            </a:r>
          </a:p>
        </p:txBody>
      </p:sp>
      <p:sp>
        <p:nvSpPr>
          <p:cNvPr id="11" name="metric-average F1">
            <a:extLst>
              <a:ext uri="{FF2B5EF4-FFF2-40B4-BE49-F238E27FC236}">
                <a16:creationId xmlns:a16="http://schemas.microsoft.com/office/drawing/2014/main" id="{5B3808A4-1EE5-4CE1-9886-2C1928442B5D}"/>
              </a:ext>
            </a:extLst>
          </p:cNvPr>
          <p:cNvSpPr>
            <a:spLocks noGrp="1"/>
          </p:cNvSpPr>
          <p:nvPr/>
        </p:nvSpPr>
        <p:spPr>
          <a:xfrm>
            <a:off x="9067800" y="5029200"/>
            <a:ext cx="2362200" cy="11049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2" name="metric-stat-average F1">
            <a:extLst>
              <a:ext uri="{FF2B5EF4-FFF2-40B4-BE49-F238E27FC236}">
                <a16:creationId xmlns:a16="http://schemas.microsoft.com/office/drawing/2014/main" id="{802F2536-CC63-4845-9E23-7856A2D38CF7}"/>
              </a:ext>
            </a:extLst>
          </p:cNvPr>
          <p:cNvSpPr>
            <a:spLocks noGrp="1"/>
          </p:cNvSpPr>
          <p:nvPr/>
        </p:nvSpPr>
        <p:spPr>
          <a:xfrm>
            <a:off x="9258300" y="5124450"/>
            <a:ext cx="1981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/>
          </a:bodyPr>
          <a:lstStyle/>
          <a:p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76.9</a:t>
            </a:r>
          </a:p>
        </p:txBody>
      </p:sp>
      <p:sp>
        <p:nvSpPr>
          <p:cNvPr id="13" name="metric-label-average F1">
            <a:extLst>
              <a:ext uri="{FF2B5EF4-FFF2-40B4-BE49-F238E27FC236}">
                <a16:creationId xmlns:a16="http://schemas.microsoft.com/office/drawing/2014/main" id="{84E90C2E-844A-459E-8BA3-76937F383C98}"/>
              </a:ext>
            </a:extLst>
          </p:cNvPr>
          <p:cNvSpPr>
            <a:spLocks noGrp="1"/>
          </p:cNvSpPr>
          <p:nvPr/>
        </p:nvSpPr>
        <p:spPr>
          <a:xfrm>
            <a:off x="9258300" y="5543550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average F1</a:t>
            </a:r>
          </a:p>
        </p:txBody>
      </p:sp>
      <p:sp>
        <p:nvSpPr>
          <p:cNvPr id="14" name="metric-note-average F1">
            <a:extLst>
              <a:ext uri="{FF2B5EF4-FFF2-40B4-BE49-F238E27FC236}">
                <a16:creationId xmlns:a16="http://schemas.microsoft.com/office/drawing/2014/main" id="{6D7D3B87-31B6-4740-9195-F8D39E6DE971}"/>
              </a:ext>
            </a:extLst>
          </p:cNvPr>
          <p:cNvSpPr>
            <a:spLocks noGrp="1"/>
          </p:cNvSpPr>
          <p:nvPr/>
        </p:nvSpPr>
        <p:spPr>
          <a:xfrm>
            <a:off x="9258300" y="5848350"/>
            <a:ext cx="1981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8B open policy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F7D1071E-C1DC-48B9-9022-05C280920760}"/>
              </a:ext>
            </a:extLst>
          </p:cNvPr>
          <p:cNvSpPr>
            <a:spLocks noGrp="1"/>
          </p:cNvSpPr>
          <p:nvPr/>
        </p:nvSpPr>
        <p:spPr>
          <a:xfrm>
            <a:off x="400050" y="5429250"/>
            <a:ext cx="571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更大的外部 teacher 不如 policy-consistent self-teacher；按 turn 对齐则 GrailQA F1 从 89.5 跌到 81.2。</a:t>
            </a:r>
          </a:p>
        </p:txBody>
      </p:sp>
    </p:spTree>
    <p:extLst>
      <p:ext uri="{BB962C8B-B14F-4D97-AF65-F5344CB8AC3E}">
        <p14:creationId xmlns:p14="http://schemas.microsoft.com/office/powerpoint/2010/main" val="1095154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-kicker">
            <a:extLst>
              <a:ext uri="{FF2B5EF4-FFF2-40B4-BE49-F238E27FC236}">
                <a16:creationId xmlns:a16="http://schemas.microsoft.com/office/drawing/2014/main" id="{41A691BB-2FDC-4367-A3B0-A6A5B938E399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PRIVILEGED CONTEXT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41EC82C4-21D5-4364-A002-8BA20C262C53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没有 gold query，evidence 仍能指导搜索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773466DB-8740-402E-8766-E8F6E739CC60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D59A6EB3-E2DB-4C08-BF80-6F20248AD7BE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5" name="panel">
            <a:extLst>
              <a:ext uri="{FF2B5EF4-FFF2-40B4-BE49-F238E27FC236}">
                <a16:creationId xmlns:a16="http://schemas.microsoft.com/office/drawing/2014/main" id="{3F99468F-C3CC-4E3F-9284-D59BF9AEAA15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219700" cy="36385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07B0E899-48FA-4195-849B-2D20077E975A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SEARCH ACTION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786729ED-00C1-4B56-B074-169276C5E99E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Evidence privilege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A050F563-D936-4AB9-AD1C-A5AD363F1716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4362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Supporting sentences 按 source document 分组，最多 2 篇文档 × 每篇 2 句。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36CDA8AB-4368-4164-99F5-4D013592414C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43624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teacher 问：当前 query 是否更可能检索到目标证据？</a:t>
            </a:r>
          </a:p>
        </p:txBody>
      </p:sp>
      <p:sp>
        <p:nvSpPr>
          <p:cNvPr id="10" name="panel">
            <a:extLst>
              <a:ext uri="{FF2B5EF4-FFF2-40B4-BE49-F238E27FC236}">
                <a16:creationId xmlns:a16="http://schemas.microsoft.com/office/drawing/2014/main" id="{8C8268EF-65E1-440C-AFD3-50EF82FF1131}"/>
              </a:ext>
            </a:extLst>
          </p:cNvPr>
          <p:cNvSpPr>
            <a:spLocks noGrp="1"/>
          </p:cNvSpPr>
          <p:nvPr/>
        </p:nvSpPr>
        <p:spPr>
          <a:xfrm>
            <a:off x="6172200" y="1714500"/>
            <a:ext cx="5219700" cy="36385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9A5122C4-048D-48CD-A961-14811101B2CC}"/>
              </a:ext>
            </a:extLst>
          </p:cNvPr>
          <p:cNvSpPr>
            <a:spLocks noGrp="1"/>
          </p:cNvSpPr>
          <p:nvPr/>
        </p:nvSpPr>
        <p:spPr>
          <a:xfrm>
            <a:off x="6457950" y="203835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ANSWER ACTION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147C67EB-9209-4D06-A65B-840B81B3E124}"/>
              </a:ext>
            </a:extLst>
          </p:cNvPr>
          <p:cNvSpPr>
            <a:spLocks noGrp="1"/>
          </p:cNvSpPr>
          <p:nvPr/>
        </p:nvSpPr>
        <p:spPr>
          <a:xfrm>
            <a:off x="6457950" y="25336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Answer privilege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4274D579-39E5-4193-91DB-8BDF23BE84E9}"/>
              </a:ext>
            </a:extLst>
          </p:cNvPr>
          <p:cNvSpPr>
            <a:spLocks noGrp="1"/>
          </p:cNvSpPr>
          <p:nvPr/>
        </p:nvSpPr>
        <p:spPr>
          <a:xfrm>
            <a:off x="6457950" y="3238500"/>
            <a:ext cx="4362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Golden answer aliases 作为 teacher-only prefix；只重打分已经采样的 answer。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FD1D0C1-654C-426D-BB8A-BC9F6B63912F}"/>
              </a:ext>
            </a:extLst>
          </p:cNvPr>
          <p:cNvSpPr>
            <a:spLocks noGrp="1"/>
          </p:cNvSpPr>
          <p:nvPr/>
        </p:nvSpPr>
        <p:spPr>
          <a:xfrm>
            <a:off x="6457950" y="4400550"/>
            <a:ext cx="43624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teacher 问：当前 answer 是否与正确答案语义兼容？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FAA5F323-EC9A-485E-B5F9-1E2C460528C2}"/>
              </a:ext>
            </a:extLst>
          </p:cNvPr>
          <p:cNvSpPr>
            <a:spLocks noGrp="1"/>
          </p:cNvSpPr>
          <p:nvPr/>
        </p:nvSpPr>
        <p:spPr>
          <a:xfrm>
            <a:off x="400050" y="5772150"/>
            <a:ext cx="10991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50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不生成 teacher trajectory、不改变 action；只在训练时重打分 student 已执行的动作。</a:t>
            </a:r>
          </a:p>
        </p:txBody>
      </p:sp>
    </p:spTree>
    <p:extLst>
      <p:ext uri="{BB962C8B-B14F-4D97-AF65-F5344CB8AC3E}">
        <p14:creationId xmlns:p14="http://schemas.microsoft.com/office/powerpoint/2010/main" val="9138120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ection-kicker">
            <a:extLst>
              <a:ext uri="{FF2B5EF4-FFF2-40B4-BE49-F238E27FC236}">
                <a16:creationId xmlns:a16="http://schemas.microsoft.com/office/drawing/2014/main" id="{3D345B70-29E9-4378-90F8-54EAB615ACEA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METHOD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DD7A8D6-82B7-49B6-A35C-FD3C9250600B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同一模型、两个上下文，只调制 action span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A5777EAF-A0A7-4916-9EC4-8B02497B3DBB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E3601F05-069E-4605-A340-0414AD3895BB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5" name="evisd-framework-backing">
            <a:extLst>
              <a:ext uri="{FF2B5EF4-FFF2-40B4-BE49-F238E27FC236}">
                <a16:creationId xmlns:a16="http://schemas.microsoft.com/office/drawing/2014/main" id="{31032DA1-870B-4B5D-BF18-0E1E5B4C443F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11391900" cy="3886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49630" y="1466850"/>
            <a:ext cx="10492740" cy="3886200"/>
          </a:xfrm>
          <a:prstGeom prst="roundRect">
            <a:avLst>
              <a:gd name="adj" fmla="val 2941"/>
            </a:avLst>
          </a:prstGeom>
        </p:spPr>
      </p:pic>
      <p:sp>
        <p:nvSpPr>
          <p:cNvPr id="7" name="text">
            <a:extLst>
              <a:ext uri="{FF2B5EF4-FFF2-40B4-BE49-F238E27FC236}">
                <a16:creationId xmlns:a16="http://schemas.microsoft.com/office/drawing/2014/main" id="{02735BA2-A48E-404D-9D97-D80C0ABB30A6}"/>
              </a:ext>
            </a:extLst>
          </p:cNvPr>
          <p:cNvSpPr>
            <a:spLocks noGrp="1"/>
          </p:cNvSpPr>
          <p:nvPr/>
        </p:nvSpPr>
        <p:spPr>
          <a:xfrm>
            <a:off x="400050" y="5619750"/>
            <a:ext cx="2514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Student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532E77F-C63F-49FA-8F04-20AE19AB11DB}"/>
              </a:ext>
            </a:extLst>
          </p:cNvPr>
          <p:cNvSpPr>
            <a:spLocks noGrp="1"/>
          </p:cNvSpPr>
          <p:nvPr/>
        </p:nvSpPr>
        <p:spPr>
          <a:xfrm>
            <a:off x="400050" y="5962650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原始上下文采样并执行 action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2C10AAD-65CA-4DFD-8F13-7A8A69DE5EA6}"/>
              </a:ext>
            </a:extLst>
          </p:cNvPr>
          <p:cNvSpPr>
            <a:spLocks noGrp="1"/>
          </p:cNvSpPr>
          <p:nvPr/>
        </p:nvSpPr>
        <p:spPr>
          <a:xfrm>
            <a:off x="3257550" y="5619750"/>
            <a:ext cx="2514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Privileged teacher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0EFB3541-7793-431E-8D1F-0A720EE9AC71}"/>
              </a:ext>
            </a:extLst>
          </p:cNvPr>
          <p:cNvSpPr>
            <a:spLocks noGrp="1"/>
          </p:cNvSpPr>
          <p:nvPr/>
        </p:nvSpPr>
        <p:spPr>
          <a:xfrm>
            <a:off x="3257550" y="5962650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加入 evidence / answer 后重打分同一 action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9C3E3A5B-9BF3-4C65-A4E9-8537A55B2451}"/>
              </a:ext>
            </a:extLst>
          </p:cNvPr>
          <p:cNvSpPr>
            <a:spLocks noGrp="1"/>
          </p:cNvSpPr>
          <p:nvPr/>
        </p:nvSpPr>
        <p:spPr>
          <a:xfrm>
            <a:off x="6286500" y="5619750"/>
            <a:ext cx="2514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Detached gap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">
                <a:extLst>
                  <a:ext uri="{FF2B5EF4-FFF2-40B4-BE49-F238E27FC236}">
                    <a16:creationId xmlns:a16="http://schemas.microsoft.com/office/drawing/2014/main" id="{6B9400D0-A532-42EE-BB6D-826EABD6863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86500" y="5962650"/>
                <a:ext cx="2514600" cy="3429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/>
              <a:p>
                <a:pPr algn="l">
                  <a:buNone/>
                  <a:defRPr sz="1200">
                    <a:solidFill>
                      <a:srgbClr val="59616D"/>
                    </a:solidFill>
                    <a:latin typeface="PingFang SC"/>
                    <a:ea typeface="PingFang SC"/>
                    <a:cs typeface="PingFang SC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𝑡𝑒𝑎𝑐h𝑒𝑟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𝑠𝑡𝑢𝑑𝑒𝑛𝑡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" name="text">
                <a:extLst>
                  <a:ext uri="{FF2B5EF4-FFF2-40B4-BE49-F238E27FC236}">
                    <a16:creationId xmlns:a16="http://schemas.microsoft.com/office/drawing/2014/main" id="{6B9400D0-A532-42EE-BB6D-826EABD686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0" y="5962650"/>
                <a:ext cx="2514600" cy="342900"/>
              </a:xfrm>
              <a:prstGeom prst="rect">
                <a:avLst/>
              </a:prstGeom>
              <a:blipFill>
                <a:blip r:embed="rId4"/>
                <a:stretch>
                  <a:fillRect t="-3571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">
            <a:extLst>
              <a:ext uri="{FF2B5EF4-FFF2-40B4-BE49-F238E27FC236}">
                <a16:creationId xmlns:a16="http://schemas.microsoft.com/office/drawing/2014/main" id="{B4029840-2852-452D-B344-F782473C811F}"/>
              </a:ext>
            </a:extLst>
          </p:cNvPr>
          <p:cNvSpPr>
            <a:spLocks noGrp="1"/>
          </p:cNvSpPr>
          <p:nvPr/>
        </p:nvSpPr>
        <p:spPr>
          <a:xfrm>
            <a:off x="9067800" y="5619750"/>
            <a:ext cx="2514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Bounded credit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515EB83A-E382-4A06-BDE7-7EA307161CD3}"/>
              </a:ext>
            </a:extLst>
          </p:cNvPr>
          <p:cNvSpPr>
            <a:spLocks noGrp="1"/>
          </p:cNvSpPr>
          <p:nvPr/>
        </p:nvSpPr>
        <p:spPr>
          <a:xfrm>
            <a:off x="9067800" y="5962650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750"/>
          </a:bodyPr>
          <a:lstStyle/>
          <a:p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action mask + outcome-anchored modulation</a:t>
            </a:r>
          </a:p>
        </p:txBody>
      </p:sp>
    </p:spTree>
    <p:extLst>
      <p:ext uri="{BB962C8B-B14F-4D97-AF65-F5344CB8AC3E}">
        <p14:creationId xmlns:p14="http://schemas.microsoft.com/office/powerpoint/2010/main" val="20583841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ection-kicker">
            <a:extLst>
              <a:ext uri="{FF2B5EF4-FFF2-40B4-BE49-F238E27FC236}">
                <a16:creationId xmlns:a16="http://schemas.microsoft.com/office/drawing/2014/main" id="{9BE3A4AF-C3BF-4962-94D1-FCFF1096A3D2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RESULTS &amp; ABLATIONS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68BA01CA-912E-4A64-A28C-15AE7301E291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lang="en-US" altLang="zh-CN" sz="3450" b="1" i="0" dirty="0" err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Evisd</a:t>
            </a:r>
            <a:r>
              <a:rPr lang="en-US" altLang="zh-CN" sz="3450" b="1" i="0" dirty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Main results</a:t>
            </a:r>
            <a:endParaRPr sz="3450" b="1" i="0" dirty="0">
              <a:solidFill>
                <a:srgbClr val="0A0A0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5B05E3E8-7F6E-4656-A8C9-AA1F09956106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4F79CBBE-2863-4CDF-BCA3-12B1B10BA521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7" name="metric-Avg EM vs. best">
            <a:extLst>
              <a:ext uri="{FF2B5EF4-FFF2-40B4-BE49-F238E27FC236}">
                <a16:creationId xmlns:a16="http://schemas.microsoft.com/office/drawing/2014/main" id="{6C5287F9-D17A-400F-93BA-1DE2B8A95FF8}"/>
              </a:ext>
            </a:extLst>
          </p:cNvPr>
          <p:cNvSpPr>
            <a:spLocks noGrp="1"/>
          </p:cNvSpPr>
          <p:nvPr/>
        </p:nvSpPr>
        <p:spPr>
          <a:xfrm>
            <a:off x="6705600" y="1657350"/>
            <a:ext cx="2247900" cy="17716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8" name="metric-stat-Avg EM vs. best">
            <a:extLst>
              <a:ext uri="{FF2B5EF4-FFF2-40B4-BE49-F238E27FC236}">
                <a16:creationId xmlns:a16="http://schemas.microsoft.com/office/drawing/2014/main" id="{4FE77332-3D67-4F4B-A9B1-1EF7C159EA96}"/>
              </a:ext>
            </a:extLst>
          </p:cNvPr>
          <p:cNvSpPr>
            <a:spLocks noGrp="1"/>
          </p:cNvSpPr>
          <p:nvPr/>
        </p:nvSpPr>
        <p:spPr>
          <a:xfrm>
            <a:off x="6934200" y="1809750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l">
              <a:buNone/>
              <a:def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+1.3–2.3</a:t>
            </a:r>
          </a:p>
        </p:txBody>
      </p:sp>
      <p:sp>
        <p:nvSpPr>
          <p:cNvPr id="9" name="metric-label-Avg EM vs. best">
            <a:extLst>
              <a:ext uri="{FF2B5EF4-FFF2-40B4-BE49-F238E27FC236}">
                <a16:creationId xmlns:a16="http://schemas.microsoft.com/office/drawing/2014/main" id="{3450A6BE-828A-4E2D-939A-AD3880A776C6}"/>
              </a:ext>
            </a:extLst>
          </p:cNvPr>
          <p:cNvSpPr>
            <a:spLocks noGrp="1"/>
          </p:cNvSpPr>
          <p:nvPr/>
        </p:nvSpPr>
        <p:spPr>
          <a:xfrm>
            <a:off x="6934200" y="2381250"/>
            <a:ext cx="1790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Avg EM vs. best</a:t>
            </a:r>
          </a:p>
        </p:txBody>
      </p:sp>
      <p:sp>
        <p:nvSpPr>
          <p:cNvPr id="10" name="metric-note-Avg EM vs. best">
            <a:extLst>
              <a:ext uri="{FF2B5EF4-FFF2-40B4-BE49-F238E27FC236}">
                <a16:creationId xmlns:a16="http://schemas.microsoft.com/office/drawing/2014/main" id="{44A39B99-ECAA-4461-8AF4-5B9477AE973D}"/>
              </a:ext>
            </a:extLst>
          </p:cNvPr>
          <p:cNvSpPr>
            <a:spLocks noGrp="1"/>
          </p:cNvSpPr>
          <p:nvPr/>
        </p:nvSpPr>
        <p:spPr>
          <a:xfrm>
            <a:off x="6934200" y="27622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Qwen2.5-3B / 7B 与 Qwen3-1.7B 均领先</a:t>
            </a:r>
          </a:p>
        </p:txBody>
      </p:sp>
      <p:sp>
        <p:nvSpPr>
          <p:cNvPr id="11" name="metric-modulated tokens">
            <a:extLst>
              <a:ext uri="{FF2B5EF4-FFF2-40B4-BE49-F238E27FC236}">
                <a16:creationId xmlns:a16="http://schemas.microsoft.com/office/drawing/2014/main" id="{51394736-0FE1-479B-A1E2-FB286779D774}"/>
              </a:ext>
            </a:extLst>
          </p:cNvPr>
          <p:cNvSpPr>
            <a:spLocks noGrp="1"/>
          </p:cNvSpPr>
          <p:nvPr/>
        </p:nvSpPr>
        <p:spPr>
          <a:xfrm>
            <a:off x="9182100" y="1657350"/>
            <a:ext cx="2247900" cy="17716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2" name="metric-stat-modulated tokens">
            <a:extLst>
              <a:ext uri="{FF2B5EF4-FFF2-40B4-BE49-F238E27FC236}">
                <a16:creationId xmlns:a16="http://schemas.microsoft.com/office/drawing/2014/main" id="{2F67DE5B-359A-48FD-962B-D7BF96024B7C}"/>
              </a:ext>
            </a:extLst>
          </p:cNvPr>
          <p:cNvSpPr>
            <a:spLocks noGrp="1"/>
          </p:cNvSpPr>
          <p:nvPr/>
        </p:nvSpPr>
        <p:spPr>
          <a:xfrm>
            <a:off x="9410700" y="1809750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7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6.7–15.1%</a:t>
            </a:r>
          </a:p>
        </p:txBody>
      </p:sp>
      <p:sp>
        <p:nvSpPr>
          <p:cNvPr id="13" name="metric-label-modulated tokens">
            <a:extLst>
              <a:ext uri="{FF2B5EF4-FFF2-40B4-BE49-F238E27FC236}">
                <a16:creationId xmlns:a16="http://schemas.microsoft.com/office/drawing/2014/main" id="{5871DEB5-E276-4609-B5E0-14EDB40EE1CF}"/>
              </a:ext>
            </a:extLst>
          </p:cNvPr>
          <p:cNvSpPr>
            <a:spLocks noGrp="1"/>
          </p:cNvSpPr>
          <p:nvPr/>
        </p:nvSpPr>
        <p:spPr>
          <a:xfrm>
            <a:off x="9410700" y="2381250"/>
            <a:ext cx="1790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modulated tokens</a:t>
            </a:r>
          </a:p>
        </p:txBody>
      </p:sp>
      <p:sp>
        <p:nvSpPr>
          <p:cNvPr id="14" name="metric-note-modulated tokens">
            <a:extLst>
              <a:ext uri="{FF2B5EF4-FFF2-40B4-BE49-F238E27FC236}">
                <a16:creationId xmlns:a16="http://schemas.microsoft.com/office/drawing/2014/main" id="{19F4C92C-45CB-41B3-927F-167A29BBF4EC}"/>
              </a:ext>
            </a:extLst>
          </p:cNvPr>
          <p:cNvSpPr>
            <a:spLocks noGrp="1"/>
          </p:cNvSpPr>
          <p:nvPr/>
        </p:nvSpPr>
        <p:spPr>
          <a:xfrm>
            <a:off x="9410700" y="27622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只覆盖 search / answer action content</a:t>
            </a:r>
          </a:p>
        </p:txBody>
      </p:sp>
      <p:sp>
        <p:nvSpPr>
          <p:cNvPr id="15" name="metric-searches / trajectory">
            <a:extLst>
              <a:ext uri="{FF2B5EF4-FFF2-40B4-BE49-F238E27FC236}">
                <a16:creationId xmlns:a16="http://schemas.microsoft.com/office/drawing/2014/main" id="{A5E21E83-C14E-48F2-9DE0-AC2B27D05AAC}"/>
              </a:ext>
            </a:extLst>
          </p:cNvPr>
          <p:cNvSpPr>
            <a:spLocks noGrp="1"/>
          </p:cNvSpPr>
          <p:nvPr/>
        </p:nvSpPr>
        <p:spPr>
          <a:xfrm>
            <a:off x="6705600" y="3676650"/>
            <a:ext cx="2247900" cy="17716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6" name="metric-stat-searches / trajectory">
            <a:extLst>
              <a:ext uri="{FF2B5EF4-FFF2-40B4-BE49-F238E27FC236}">
                <a16:creationId xmlns:a16="http://schemas.microsoft.com/office/drawing/2014/main" id="{C0E4B9BC-AA79-46AA-85B8-AC728832922A}"/>
              </a:ext>
            </a:extLst>
          </p:cNvPr>
          <p:cNvSpPr>
            <a:spLocks noGrp="1"/>
          </p:cNvSpPr>
          <p:nvPr/>
        </p:nvSpPr>
        <p:spPr>
          <a:xfrm>
            <a:off x="6934200" y="3829050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l">
              <a:buNone/>
              <a:defRPr sz="31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1.87</a:t>
            </a:r>
          </a:p>
        </p:txBody>
      </p:sp>
      <p:sp>
        <p:nvSpPr>
          <p:cNvPr id="17" name="metric-label-searches / trajectory">
            <a:extLst>
              <a:ext uri="{FF2B5EF4-FFF2-40B4-BE49-F238E27FC236}">
                <a16:creationId xmlns:a16="http://schemas.microsoft.com/office/drawing/2014/main" id="{3F937455-242B-4E04-B84C-C41B0269BBA4}"/>
              </a:ext>
            </a:extLst>
          </p:cNvPr>
          <p:cNvSpPr>
            <a:spLocks noGrp="1"/>
          </p:cNvSpPr>
          <p:nvPr/>
        </p:nvSpPr>
        <p:spPr>
          <a:xfrm>
            <a:off x="6934200" y="4400550"/>
            <a:ext cx="1790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850"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searches / trajectory</a:t>
            </a:r>
          </a:p>
        </p:txBody>
      </p:sp>
      <p:sp>
        <p:nvSpPr>
          <p:cNvPr id="18" name="metric-note-searches / trajectory">
            <a:extLst>
              <a:ext uri="{FF2B5EF4-FFF2-40B4-BE49-F238E27FC236}">
                <a16:creationId xmlns:a16="http://schemas.microsoft.com/office/drawing/2014/main" id="{DD9FD372-0767-4DE3-B178-8F20E4E72AA1}"/>
              </a:ext>
            </a:extLst>
          </p:cNvPr>
          <p:cNvSpPr>
            <a:spLocks noGrp="1"/>
          </p:cNvSpPr>
          <p:nvPr/>
        </p:nvSpPr>
        <p:spPr>
          <a:xfrm>
            <a:off x="6934200" y="47815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SDAR 2.16 · RLSD 2.27</a:t>
            </a:r>
          </a:p>
        </p:txBody>
      </p:sp>
      <p:sp>
        <p:nvSpPr>
          <p:cNvPr id="19" name="metric-evidence robustness">
            <a:extLst>
              <a:ext uri="{FF2B5EF4-FFF2-40B4-BE49-F238E27FC236}">
                <a16:creationId xmlns:a16="http://schemas.microsoft.com/office/drawing/2014/main" id="{4CC1502F-38E6-4164-A5F6-5099E8102A48}"/>
              </a:ext>
            </a:extLst>
          </p:cNvPr>
          <p:cNvSpPr>
            <a:spLocks noGrp="1"/>
          </p:cNvSpPr>
          <p:nvPr/>
        </p:nvSpPr>
        <p:spPr>
          <a:xfrm>
            <a:off x="9182100" y="3676650"/>
            <a:ext cx="2247900" cy="1771650"/>
          </a:xfrm>
          <a:prstGeom prst="rect">
            <a:avLst/>
          </a:prstGeom>
          <a:solidFill>
            <a:srgbClr val="F0EEFA"/>
          </a:solidFill>
          <a:ln w="0">
            <a:noFill/>
            <a:prstDash val="solid"/>
          </a:ln>
        </p:spPr>
      </p:sp>
      <p:sp>
        <p:nvSpPr>
          <p:cNvPr id="20" name="metric-stat-evidence robustness">
            <a:extLst>
              <a:ext uri="{FF2B5EF4-FFF2-40B4-BE49-F238E27FC236}">
                <a16:creationId xmlns:a16="http://schemas.microsoft.com/office/drawing/2014/main" id="{E7A48A0B-0A14-43A8-859F-01EC310499CB}"/>
              </a:ext>
            </a:extLst>
          </p:cNvPr>
          <p:cNvSpPr>
            <a:spLocks noGrp="1"/>
          </p:cNvSpPr>
          <p:nvPr/>
        </p:nvSpPr>
        <p:spPr>
          <a:xfrm>
            <a:off x="9410700" y="3829050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7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 dirty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44.2→43.6</a:t>
            </a:r>
          </a:p>
        </p:txBody>
      </p:sp>
      <p:sp>
        <p:nvSpPr>
          <p:cNvPr id="21" name="metric-label-evidence robustness">
            <a:extLst>
              <a:ext uri="{FF2B5EF4-FFF2-40B4-BE49-F238E27FC236}">
                <a16:creationId xmlns:a16="http://schemas.microsoft.com/office/drawing/2014/main" id="{31753CFD-2C69-42BD-88B0-722DD5A341D0}"/>
              </a:ext>
            </a:extLst>
          </p:cNvPr>
          <p:cNvSpPr>
            <a:spLocks noGrp="1"/>
          </p:cNvSpPr>
          <p:nvPr/>
        </p:nvSpPr>
        <p:spPr>
          <a:xfrm>
            <a:off x="9410700" y="4400550"/>
            <a:ext cx="1790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329"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evidence robustness</a:t>
            </a:r>
          </a:p>
        </p:txBody>
      </p:sp>
      <p:sp>
        <p:nvSpPr>
          <p:cNvPr id="22" name="metric-note-evidence robustness">
            <a:extLst>
              <a:ext uri="{FF2B5EF4-FFF2-40B4-BE49-F238E27FC236}">
                <a16:creationId xmlns:a16="http://schemas.microsoft.com/office/drawing/2014/main" id="{24576075-BAD6-442A-B1D4-2AD8FC6F316D}"/>
              </a:ext>
            </a:extLst>
          </p:cNvPr>
          <p:cNvSpPr>
            <a:spLocks noGrp="1"/>
          </p:cNvSpPr>
          <p:nvPr/>
        </p:nvSpPr>
        <p:spPr>
          <a:xfrm>
            <a:off x="9410700" y="47815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 dirty="0" err="1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两篇</a:t>
            </a:r>
            <a:r>
              <a:rPr sz="1125" b="0" i="0" dirty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gold </a:t>
            </a:r>
            <a:r>
              <a:rPr sz="1125" b="0" i="0" dirty="0" err="1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文档都换成</a:t>
            </a:r>
            <a:r>
              <a:rPr sz="1125" b="0" i="0" dirty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relevant </a:t>
            </a:r>
            <a:r>
              <a:rPr sz="1125" b="0" i="0" dirty="0" err="1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文档，仅降</a:t>
            </a:r>
            <a:r>
              <a:rPr sz="1125" b="0" i="0" dirty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0.6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CE679A2-2405-D056-C126-28C815E5C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916" y="1451320"/>
            <a:ext cx="6330384" cy="455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1980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-kicker">
            <a:extLst>
              <a:ext uri="{FF2B5EF4-FFF2-40B4-BE49-F238E27FC236}">
                <a16:creationId xmlns:a16="http://schemas.microsoft.com/office/drawing/2014/main" id="{ACB8B0C9-90A0-4D5E-B772-D228C4065DE9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DESIGN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66ED09A8-3E16-4993-9A3F-CAD910E0495F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多跳链条断裂：控制原因与断点位置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3425F830-F215-4E5A-9E57-BF1CACA13249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734B0647-E388-476D-8AD5-18133C2718E1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5" name="metric-不可回答问题">
            <a:extLst>
              <a:ext uri="{FF2B5EF4-FFF2-40B4-BE49-F238E27FC236}">
                <a16:creationId xmlns:a16="http://schemas.microsoft.com/office/drawing/2014/main" id="{8BC8A66D-9460-4E9A-83FE-3B79BAE69D4A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3429000" cy="20193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6" name="metric-stat-不可回答问题">
            <a:extLst>
              <a:ext uri="{FF2B5EF4-FFF2-40B4-BE49-F238E27FC236}">
                <a16:creationId xmlns:a16="http://schemas.microsoft.com/office/drawing/2014/main" id="{89E84507-E5DD-4B82-851B-9D921FD8442C}"/>
              </a:ext>
            </a:extLst>
          </p:cNvPr>
          <p:cNvSpPr>
            <a:spLocks noGrp="1"/>
          </p:cNvSpPr>
          <p:nvPr/>
        </p:nvSpPr>
        <p:spPr>
          <a:xfrm>
            <a:off x="628650" y="1924050"/>
            <a:ext cx="29718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889</a:t>
            </a:r>
          </a:p>
        </p:txBody>
      </p:sp>
      <p:sp>
        <p:nvSpPr>
          <p:cNvPr id="7" name="metric-label-不可回答问题">
            <a:extLst>
              <a:ext uri="{FF2B5EF4-FFF2-40B4-BE49-F238E27FC236}">
                <a16:creationId xmlns:a16="http://schemas.microsoft.com/office/drawing/2014/main" id="{937DA2B0-51FE-4B44-8739-FA549089A09F}"/>
              </a:ext>
            </a:extLst>
          </p:cNvPr>
          <p:cNvSpPr>
            <a:spLocks noGrp="1"/>
          </p:cNvSpPr>
          <p:nvPr/>
        </p:nvSpPr>
        <p:spPr>
          <a:xfrm>
            <a:off x="628650" y="2743200"/>
            <a:ext cx="2971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不可回答问题</a:t>
            </a:r>
          </a:p>
        </p:txBody>
      </p:sp>
      <p:sp>
        <p:nvSpPr>
          <p:cNvPr id="8" name="metric-note-不可回答问题">
            <a:extLst>
              <a:ext uri="{FF2B5EF4-FFF2-40B4-BE49-F238E27FC236}">
                <a16:creationId xmlns:a16="http://schemas.microsoft.com/office/drawing/2014/main" id="{281D173B-5F10-431B-B7E1-28CFDC379381}"/>
              </a:ext>
            </a:extLst>
          </p:cNvPr>
          <p:cNvSpPr>
            <a:spLocks noGrp="1"/>
          </p:cNvSpPr>
          <p:nvPr/>
        </p:nvSpPr>
        <p:spPr>
          <a:xfrm>
            <a:off x="628650" y="3200400"/>
            <a:ext cx="2971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703"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2–5 步链条；每种 cause 与 topology 全交叉覆盖</a:t>
            </a:r>
          </a:p>
        </p:txBody>
      </p:sp>
      <p:sp>
        <p:nvSpPr>
          <p:cNvPr id="9" name="panel">
            <a:extLst>
              <a:ext uri="{FF2B5EF4-FFF2-40B4-BE49-F238E27FC236}">
                <a16:creationId xmlns:a16="http://schemas.microsoft.com/office/drawing/2014/main" id="{E0F0E3D9-24B5-4616-96D2-09F935B4D242}"/>
              </a:ext>
            </a:extLst>
          </p:cNvPr>
          <p:cNvSpPr>
            <a:spLocks noGrp="1"/>
          </p:cNvSpPr>
          <p:nvPr/>
        </p:nvSpPr>
        <p:spPr>
          <a:xfrm>
            <a:off x="400050" y="3981450"/>
            <a:ext cx="3429000" cy="18097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3EE32F3D-EA6D-4FF5-B8AC-965DB56246D5}"/>
              </a:ext>
            </a:extLst>
          </p:cNvPr>
          <p:cNvSpPr>
            <a:spLocks noGrp="1"/>
          </p:cNvSpPr>
          <p:nvPr/>
        </p:nvSpPr>
        <p:spPr>
          <a:xfrm>
            <a:off x="628650" y="4229100"/>
            <a:ext cx="2971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20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 causes × 3 topologies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34AFE32-E09C-40D9-85D6-2727E49D4C5F}"/>
              </a:ext>
            </a:extLst>
          </p:cNvPr>
          <p:cNvSpPr>
            <a:spLocks noGrp="1"/>
          </p:cNvSpPr>
          <p:nvPr/>
        </p:nvSpPr>
        <p:spPr>
          <a:xfrm>
            <a:off x="628650" y="4781550"/>
            <a:ext cx="2971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Answer Unknown · False Premise · Underspecified</a:t>
            </a:r>
          </a:p>
          <a:p>
            <a:pPr algn="ctr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Root · Middle · Terminal</a:t>
            </a:r>
          </a:p>
        </p:txBody>
      </p:sp>
      <p:sp>
        <p:nvSpPr>
          <p:cNvPr id="12" name="hop-pipeline-backing">
            <a:extLst>
              <a:ext uri="{FF2B5EF4-FFF2-40B4-BE49-F238E27FC236}">
                <a16:creationId xmlns:a16="http://schemas.microsoft.com/office/drawing/2014/main" id="{865E0E8E-7940-4DB8-A3D0-66E7BF73F740}"/>
              </a:ext>
            </a:extLst>
          </p:cNvPr>
          <p:cNvSpPr>
            <a:spLocks noGrp="1"/>
          </p:cNvSpPr>
          <p:nvPr/>
        </p:nvSpPr>
        <p:spPr>
          <a:xfrm>
            <a:off x="4171950" y="1600200"/>
            <a:ext cx="733425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171950" y="1823056"/>
            <a:ext cx="7334250" cy="4031038"/>
          </a:xfrm>
          <a:prstGeom prst="roundRect">
            <a:avLst>
              <a:gd name="adj" fmla="val 2553"/>
            </a:avLst>
          </a:prstGeom>
        </p:spPr>
      </p:pic>
    </p:spTree>
    <p:extLst>
      <p:ext uri="{BB962C8B-B14F-4D97-AF65-F5344CB8AC3E}">
        <p14:creationId xmlns:p14="http://schemas.microsoft.com/office/powerpoint/2010/main" val="14043217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kicker">
            <a:extLst>
              <a:ext uri="{FF2B5EF4-FFF2-40B4-BE49-F238E27FC236}">
                <a16:creationId xmlns:a16="http://schemas.microsoft.com/office/drawing/2014/main" id="{7A1BF0BE-E39A-4A50-9B6A-CA7C27B0F956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EVALUATION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7BAF7137-A404-43A6-9AAD-E65D7C38ED8A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评测不只看“是否拒答”，还要看理由、时机与搜索浪费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3FFADC0C-0AA3-478B-9988-AB2F6B898900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3D136F0F-D3E3-407C-965C-3377859F36D4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graphicFrame>
        <p:nvGraphicFramePr>
          <p:cNvPr id="28" name="表格 27"/>
          <p:cNvGraphicFramePr/>
          <p:nvPr/>
        </p:nvGraphicFramePr>
        <p:xfrm>
          <a:off x="400050" y="1657350"/>
          <a:ext cx="11391900" cy="2724152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10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层级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Metric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诊断问题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Final behavior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TCHR / PPHR / URHR / WRHR / SHDR / SEHR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正确理由拒答、过早停、理由错、继续幻觉或耗尽预算？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Evidence timeline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PTOS@&gt;0 / PTTW / EIFR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证据已足够之后，还搜了多少、浪费多少 token、是否仍答穿缺陷？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Paired shift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SIOR / SIRR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搜索推翻了多少正确拒答，又救回了多少错误行为</a:t>
                      </a:r>
                      <a:r>
                        <a:rPr sz="1200" dirty="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？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tate-TACH">
            <a:extLst>
              <a:ext uri="{FF2B5EF4-FFF2-40B4-BE49-F238E27FC236}">
                <a16:creationId xmlns:a16="http://schemas.microsoft.com/office/drawing/2014/main" id="{2977F34F-94EE-49F6-80E7-1788D735FBFB}"/>
              </a:ext>
            </a:extLst>
          </p:cNvPr>
          <p:cNvSpPr>
            <a:spLocks noGrp="1"/>
          </p:cNvSpPr>
          <p:nvPr/>
        </p:nvSpPr>
        <p:spPr>
          <a:xfrm>
            <a:off x="400050" y="4781550"/>
            <a:ext cx="2476500" cy="12382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D41A470-D992-4AE0-A136-84C73F0EFA90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TACH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0C7E9FB9-86BE-49F7-BF07-8CE373D63D03}"/>
              </a:ext>
            </a:extLst>
          </p:cNvPr>
          <p:cNvSpPr>
            <a:spLocks noGrp="1"/>
          </p:cNvSpPr>
          <p:nvPr/>
        </p:nvSpPr>
        <p:spPr>
          <a:xfrm>
            <a:off x="571500" y="527685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Target-aware correct halting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6685D94-9799-4638-A7D3-349AA3C0A26A}"/>
              </a:ext>
            </a:extLst>
          </p:cNvPr>
          <p:cNvSpPr>
            <a:spLocks noGrp="1"/>
          </p:cNvSpPr>
          <p:nvPr/>
        </p:nvSpPr>
        <p:spPr>
          <a:xfrm>
            <a:off x="571500" y="560070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按 gold rationale 拒答 / 澄清</a:t>
            </a:r>
          </a:p>
        </p:txBody>
      </p:sp>
      <p:sp>
        <p:nvSpPr>
          <p:cNvPr id="10" name="state-PPH">
            <a:extLst>
              <a:ext uri="{FF2B5EF4-FFF2-40B4-BE49-F238E27FC236}">
                <a16:creationId xmlns:a16="http://schemas.microsoft.com/office/drawing/2014/main" id="{2DA47B61-308E-4449-92F3-A3C56763C6FD}"/>
              </a:ext>
            </a:extLst>
          </p:cNvPr>
          <p:cNvSpPr>
            <a:spLocks noGrp="1"/>
          </p:cNvSpPr>
          <p:nvPr/>
        </p:nvSpPr>
        <p:spPr>
          <a:xfrm>
            <a:off x="3257550" y="4781550"/>
            <a:ext cx="2476500" cy="12382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2E9100A3-0F75-40D9-B2AE-17CCA682A2C6}"/>
              </a:ext>
            </a:extLst>
          </p:cNvPr>
          <p:cNvSpPr>
            <a:spLocks noGrp="1"/>
          </p:cNvSpPr>
          <p:nvPr/>
        </p:nvSpPr>
        <p:spPr>
          <a:xfrm>
            <a:off x="3429000" y="495300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PPH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4B756A4E-5348-4F2C-A130-A20F72DE98C8}"/>
              </a:ext>
            </a:extLst>
          </p:cNvPr>
          <p:cNvSpPr>
            <a:spLocks noGrp="1"/>
          </p:cNvSpPr>
          <p:nvPr/>
        </p:nvSpPr>
        <p:spPr>
          <a:xfrm>
            <a:off x="3429000" y="527685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Prefix-premature halting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F6DC22C2-4660-4FC4-9133-594F984E5068}"/>
              </a:ext>
            </a:extLst>
          </p:cNvPr>
          <p:cNvSpPr>
            <a:spLocks noGrp="1"/>
          </p:cNvSpPr>
          <p:nvPr/>
        </p:nvSpPr>
        <p:spPr>
          <a:xfrm>
            <a:off x="3429000" y="560070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有效前缀尚未解析就过早停</a:t>
            </a:r>
          </a:p>
        </p:txBody>
      </p:sp>
      <p:sp>
        <p:nvSpPr>
          <p:cNvPr id="14" name="state-URH / WRH">
            <a:extLst>
              <a:ext uri="{FF2B5EF4-FFF2-40B4-BE49-F238E27FC236}">
                <a16:creationId xmlns:a16="http://schemas.microsoft.com/office/drawing/2014/main" id="{112E2B33-0F0E-4D49-BB34-B4CE5977FF41}"/>
              </a:ext>
            </a:extLst>
          </p:cNvPr>
          <p:cNvSpPr>
            <a:spLocks noGrp="1"/>
          </p:cNvSpPr>
          <p:nvPr/>
        </p:nvSpPr>
        <p:spPr>
          <a:xfrm>
            <a:off x="6115050" y="4781550"/>
            <a:ext cx="2476500" cy="123825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2C7496EB-2C61-4B34-87C4-A4E590DC8264}"/>
              </a:ext>
            </a:extLst>
          </p:cNvPr>
          <p:cNvSpPr>
            <a:spLocks noGrp="1"/>
          </p:cNvSpPr>
          <p:nvPr/>
        </p:nvSpPr>
        <p:spPr>
          <a:xfrm>
            <a:off x="6286500" y="495300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 dirty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URH / WRH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78DC40C5-9ECB-4321-8DBC-DB9AF1B46555}"/>
              </a:ext>
            </a:extLst>
          </p:cNvPr>
          <p:cNvSpPr>
            <a:spLocks noGrp="1"/>
          </p:cNvSpPr>
          <p:nvPr/>
        </p:nvSpPr>
        <p:spPr>
          <a:xfrm>
            <a:off x="6286500" y="527685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Pseudo-refusal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11A18D70-DA3E-4215-B544-D3AC84FC6561}"/>
              </a:ext>
            </a:extLst>
          </p:cNvPr>
          <p:cNvSpPr>
            <a:spLocks noGrp="1"/>
          </p:cNvSpPr>
          <p:nvPr/>
        </p:nvSpPr>
        <p:spPr>
          <a:xfrm>
            <a:off x="6286500" y="560070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理由模糊或理由具体但错误</a:t>
            </a:r>
          </a:p>
        </p:txBody>
      </p:sp>
      <p:sp>
        <p:nvSpPr>
          <p:cNvPr id="18" name="state-SHD / SEH">
            <a:extLst>
              <a:ext uri="{FF2B5EF4-FFF2-40B4-BE49-F238E27FC236}">
                <a16:creationId xmlns:a16="http://schemas.microsoft.com/office/drawing/2014/main" id="{40586B8F-FB62-4B9B-A372-AD9BF51DD93C}"/>
              </a:ext>
            </a:extLst>
          </p:cNvPr>
          <p:cNvSpPr>
            <a:spLocks noGrp="1"/>
          </p:cNvSpPr>
          <p:nvPr/>
        </p:nvSpPr>
        <p:spPr>
          <a:xfrm>
            <a:off x="8972550" y="4781550"/>
            <a:ext cx="2476500" cy="1238250"/>
          </a:xfrm>
          <a:prstGeom prst="rect">
            <a:avLst/>
          </a:prstGeom>
          <a:solidFill>
            <a:srgbClr val="FCECEC"/>
          </a:solidFill>
          <a:ln w="0">
            <a:noFill/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9A9B9607-947A-47D3-B978-B7FEE78C8F41}"/>
              </a:ext>
            </a:extLst>
          </p:cNvPr>
          <p:cNvSpPr>
            <a:spLocks noGrp="1"/>
          </p:cNvSpPr>
          <p:nvPr/>
        </p:nvSpPr>
        <p:spPr>
          <a:xfrm>
            <a:off x="9144000" y="495300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SHD / SEH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E04D7ECC-0058-435D-9A0B-17D3AAD6E8BB}"/>
              </a:ext>
            </a:extLst>
          </p:cNvPr>
          <p:cNvSpPr>
            <a:spLocks noGrp="1"/>
          </p:cNvSpPr>
          <p:nvPr/>
        </p:nvSpPr>
        <p:spPr>
          <a:xfrm>
            <a:off x="9144000" y="527685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Failure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BEACB7EB-6601-4222-AA30-67887283441A}"/>
              </a:ext>
            </a:extLst>
          </p:cNvPr>
          <p:cNvSpPr>
            <a:spLocks noGrp="1"/>
          </p:cNvSpPr>
          <p:nvPr/>
        </p:nvSpPr>
        <p:spPr>
          <a:xfrm>
            <a:off x="9144000" y="560070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继续幻觉或搜索预算耗尽</a:t>
            </a:r>
          </a:p>
        </p:txBody>
      </p:sp>
    </p:spTree>
    <p:extLst>
      <p:ext uri="{BB962C8B-B14F-4D97-AF65-F5344CB8AC3E}">
        <p14:creationId xmlns:p14="http://schemas.microsoft.com/office/powerpoint/2010/main" val="344585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kicker">
            <a:extLst>
              <a:ext uri="{FF2B5EF4-FFF2-40B4-BE49-F238E27FC236}">
                <a16:creationId xmlns:a16="http://schemas.microsoft.com/office/drawing/2014/main" id="{982B63FE-AFFC-45D8-B11F-ACE9BF28B34E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FINDINGS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BC91221-9472-4599-B41B-A14DB3A3658D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搜索更常推翻正确拒答，而不是救回错误行为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0D3F7AA2-0F2E-407E-8B66-803ADFDBC63D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F8030601-6B38-41A4-BF41-BB0376BCB503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graphicFrame>
        <p:nvGraphicFramePr>
          <p:cNvPr id="444" name="Chart"/>
          <p:cNvGraphicFramePr/>
          <p:nvPr/>
        </p:nvGraphicFramePr>
        <p:xfrm>
          <a:off x="400050" y="1619250"/>
          <a:ext cx="6096000" cy="4038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">
            <a:extLst>
              <a:ext uri="{FF2B5EF4-FFF2-40B4-BE49-F238E27FC236}">
                <a16:creationId xmlns:a16="http://schemas.microsoft.com/office/drawing/2014/main" id="{4EF67C81-0DA2-446C-8CF3-41F1765C654A}"/>
              </a:ext>
            </a:extLst>
          </p:cNvPr>
          <p:cNvSpPr>
            <a:spLocks noGrp="1"/>
          </p:cNvSpPr>
          <p:nvPr/>
        </p:nvSpPr>
        <p:spPr>
          <a:xfrm>
            <a:off x="400050" y="5772150"/>
            <a:ext cx="609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0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TCHR（%）：Target-Aware Correct Halting Rate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E52DAB75-C1B6-4936-B730-9FF4E3E140E9}"/>
              </a:ext>
            </a:extLst>
          </p:cNvPr>
          <p:cNvSpPr>
            <a:spLocks noGrp="1"/>
          </p:cNvSpPr>
          <p:nvPr/>
        </p:nvSpPr>
        <p:spPr>
          <a:xfrm>
            <a:off x="6896100" y="16954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 / 10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A2FA1AF-CF6C-43F3-89B3-74D5064C0098}"/>
              </a:ext>
            </a:extLst>
          </p:cNvPr>
          <p:cNvSpPr>
            <a:spLocks noGrp="1"/>
          </p:cNvSpPr>
          <p:nvPr/>
        </p:nvSpPr>
        <p:spPr>
          <a:xfrm>
            <a:off x="9410700" y="17145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模型搜索后 TCHR 下降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EE2C4C3-4E94-402B-AD86-0234195DD209}"/>
              </a:ext>
            </a:extLst>
          </p:cNvPr>
          <p:cNvSpPr>
            <a:spLocks noGrp="1"/>
          </p:cNvSpPr>
          <p:nvPr/>
        </p:nvSpPr>
        <p:spPr>
          <a:xfrm>
            <a:off x="9410700" y="20574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唯一上升：Qwen3.5-397B</a:t>
            </a:r>
          </a:p>
        </p:txBody>
      </p:sp>
      <p:cxnSp>
        <p:nvCxnSpPr>
          <p:cNvPr id="449" name="rule"/>
          <p:cNvCxnSpPr/>
          <p:nvPr/>
        </p:nvCxnSpPr>
        <p:spPr>
          <a:xfrm>
            <a:off x="6896100" y="2571750"/>
            <a:ext cx="46672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>
              <a:ext uri="{FF2B5EF4-FFF2-40B4-BE49-F238E27FC236}">
                <a16:creationId xmlns:a16="http://schemas.microsoft.com/office/drawing/2014/main" id="{647FAD0C-A30E-4B94-AE75-D7A91049B334}"/>
              </a:ext>
            </a:extLst>
          </p:cNvPr>
          <p:cNvSpPr>
            <a:spLocks noGrp="1"/>
          </p:cNvSpPr>
          <p:nvPr/>
        </p:nvSpPr>
        <p:spPr>
          <a:xfrm>
            <a:off x="6896100" y="29146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20.4–67.3%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75B1331-59AA-4F74-B403-D42ED90FA70D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正确拒答被搜索推翻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00D6D90-1C7B-4848-9184-A551BC555502}"/>
              </a:ext>
            </a:extLst>
          </p:cNvPr>
          <p:cNvSpPr>
            <a:spLocks noGrp="1"/>
          </p:cNvSpPr>
          <p:nvPr/>
        </p:nvSpPr>
        <p:spPr>
          <a:xfrm>
            <a:off x="9410700" y="32766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rescue 仅 4.2–16.9%</a:t>
            </a:r>
          </a:p>
        </p:txBody>
      </p:sp>
      <p:cxnSp>
        <p:nvCxnSpPr>
          <p:cNvPr id="453" name="rule"/>
          <p:cNvCxnSpPr/>
          <p:nvPr/>
        </p:nvCxnSpPr>
        <p:spPr>
          <a:xfrm>
            <a:off x="6896100" y="3790950"/>
            <a:ext cx="46672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2887DE25-C034-491B-9EAF-AD4173166FE8}"/>
              </a:ext>
            </a:extLst>
          </p:cNvPr>
          <p:cNvSpPr>
            <a:spLocks noGrp="1"/>
          </p:cNvSpPr>
          <p:nvPr/>
        </p:nvSpPr>
        <p:spPr>
          <a:xfrm>
            <a:off x="6896100" y="41338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29.6 / 31.2 / 55.4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720A6D4D-83F4-4247-AA58-8B7BA298B4E3}"/>
              </a:ext>
            </a:extLst>
          </p:cNvPr>
          <p:cNvSpPr>
            <a:spLocks noGrp="1"/>
          </p:cNvSpPr>
          <p:nvPr/>
        </p:nvSpPr>
        <p:spPr>
          <a:xfrm>
            <a:off x="9410700" y="41529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981"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Root / Middle / Terminal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BF01CA0A-C427-4147-B049-808691741E55}"/>
              </a:ext>
            </a:extLst>
          </p:cNvPr>
          <p:cNvSpPr>
            <a:spLocks noGrp="1"/>
          </p:cNvSpPr>
          <p:nvPr/>
        </p:nvSpPr>
        <p:spPr>
          <a:xfrm>
            <a:off x="9410700" y="44958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657"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Qwen3.5-397B topology TCHR</a:t>
            </a:r>
          </a:p>
        </p:txBody>
      </p:sp>
      <p:cxnSp>
        <p:nvCxnSpPr>
          <p:cNvPr id="457" name="rule"/>
          <p:cNvCxnSpPr/>
          <p:nvPr/>
        </p:nvCxnSpPr>
        <p:spPr>
          <a:xfrm>
            <a:off x="6896100" y="5010150"/>
            <a:ext cx="46672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>
              <a:ext uri="{FF2B5EF4-FFF2-40B4-BE49-F238E27FC236}">
                <a16:creationId xmlns:a16="http://schemas.microsoft.com/office/drawing/2014/main" id="{65934087-22D5-48BE-BCA4-9E58A58E1FD2}"/>
              </a:ext>
            </a:extLst>
          </p:cNvPr>
          <p:cNvSpPr>
            <a:spLocks noGrp="1"/>
          </p:cNvSpPr>
          <p:nvPr/>
        </p:nvSpPr>
        <p:spPr>
          <a:xfrm>
            <a:off x="6896100" y="53530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84.7–98.4%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1F6333C0-CC11-4805-B4C7-AEA6645125A9}"/>
              </a:ext>
            </a:extLst>
          </p:cNvPr>
          <p:cNvSpPr>
            <a:spLocks noGrp="1"/>
          </p:cNvSpPr>
          <p:nvPr/>
        </p:nvSpPr>
        <p:spPr>
          <a:xfrm>
            <a:off x="9410700" y="53721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一旦拒答，理由通常正确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F57DC6F1-5860-4C8D-A326-CB085C8CC696}"/>
              </a:ext>
            </a:extLst>
          </p:cNvPr>
          <p:cNvSpPr>
            <a:spLocks noGrp="1"/>
          </p:cNvSpPr>
          <p:nvPr/>
        </p:nvSpPr>
        <p:spPr>
          <a:xfrm>
            <a:off x="9410700" y="57150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瓶颈是“是否承诺不回答”</a:t>
            </a:r>
          </a:p>
        </p:txBody>
      </p:sp>
    </p:spTree>
    <p:extLst>
      <p:ext uri="{BB962C8B-B14F-4D97-AF65-F5344CB8AC3E}">
        <p14:creationId xmlns:p14="http://schemas.microsoft.com/office/powerpoint/2010/main" val="20491111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9D472DF9-A0B7-4EBA-B7BE-3FDFEBB70ECC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研究总结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3242FE68-EC3A-4EAB-8555-3A421E964B49}"/>
              </a:ext>
            </a:extLst>
          </p:cNvPr>
          <p:cNvSpPr>
            <a:spLocks noGrp="1"/>
          </p:cNvSpPr>
          <p:nvPr/>
        </p:nvSpPr>
        <p:spPr>
          <a:xfrm>
            <a:off x="400050" y="1276350"/>
            <a:ext cx="1028700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buNone/>
              <a:def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训练可验证、可优化、可诊断的</a:t>
            </a:r>
          </a:p>
          <a:p>
            <a:pPr algn="l">
              <a:lnSpc>
                <a:spcPct val="98000"/>
              </a:lnSpc>
              <a:buNone/>
              <a:def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F222DD33-A8E3-40A2-BB7B-2C7D41219D71}"/>
              </a:ext>
            </a:extLst>
          </p:cNvPr>
          <p:cNvSpPr>
            <a:spLocks noGrp="1"/>
          </p:cNvSpPr>
          <p:nvPr/>
        </p:nvSpPr>
        <p:spPr>
          <a:xfrm>
            <a:off x="400050" y="3752850"/>
            <a:ext cx="2400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B0A492C-3F1D-4E1F-AE22-708BEA37E75A}"/>
              </a:ext>
            </a:extLst>
          </p:cNvPr>
          <p:cNvSpPr>
            <a:spLocks noGrp="1"/>
          </p:cNvSpPr>
          <p:nvPr/>
        </p:nvSpPr>
        <p:spPr>
          <a:xfrm>
            <a:off x="400050" y="4171950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定义知识边界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2D25610-0C9F-4516-9B8F-6A9B5D76B91F}"/>
              </a:ext>
            </a:extLst>
          </p:cNvPr>
          <p:cNvSpPr>
            <a:spLocks noGrp="1"/>
          </p:cNvSpPr>
          <p:nvPr/>
        </p:nvSpPr>
        <p:spPr>
          <a:xfrm>
            <a:off x="400050" y="4762500"/>
            <a:ext cx="2400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DTA benchmark + alignment</a:t>
            </a:r>
          </a:p>
        </p:txBody>
      </p:sp>
      <p:cxnSp>
        <p:nvCxnSpPr>
          <p:cNvPr id="422" name="rule"/>
          <p:cNvCxnSpPr/>
          <p:nvPr/>
        </p:nvCxnSpPr>
        <p:spPr>
          <a:xfrm>
            <a:off x="400050" y="5257800"/>
            <a:ext cx="24003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7" name="text">
            <a:extLst>
              <a:ext uri="{FF2B5EF4-FFF2-40B4-BE49-F238E27FC236}">
                <a16:creationId xmlns:a16="http://schemas.microsoft.com/office/drawing/2014/main" id="{EC939B3D-9F68-4176-BC5C-3813BCA789E7}"/>
              </a:ext>
            </a:extLst>
          </p:cNvPr>
          <p:cNvSpPr>
            <a:spLocks noGrp="1"/>
          </p:cNvSpPr>
          <p:nvPr/>
        </p:nvSpPr>
        <p:spPr>
          <a:xfrm>
            <a:off x="3219450" y="3752850"/>
            <a:ext cx="2400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B88CF95C-8798-4127-AC5B-FD8B663877FA}"/>
              </a:ext>
            </a:extLst>
          </p:cNvPr>
          <p:cNvSpPr>
            <a:spLocks noGrp="1"/>
          </p:cNvSpPr>
          <p:nvPr/>
        </p:nvSpPr>
        <p:spPr>
          <a:xfrm>
            <a:off x="3219450" y="4171950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构造可执行环境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13BD686A-E09C-4709-91F8-37814D4F6832}"/>
              </a:ext>
            </a:extLst>
          </p:cNvPr>
          <p:cNvSpPr>
            <a:spLocks noGrp="1"/>
          </p:cNvSpPr>
          <p:nvPr/>
        </p:nvSpPr>
        <p:spPr>
          <a:xfrm>
            <a:off x="3219450" y="4762500"/>
            <a:ext cx="2400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KBQA-R1 KG harness</a:t>
            </a:r>
          </a:p>
        </p:txBody>
      </p:sp>
      <p:cxnSp>
        <p:nvCxnSpPr>
          <p:cNvPr id="426" name="rule"/>
          <p:cNvCxnSpPr/>
          <p:nvPr/>
        </p:nvCxnSpPr>
        <p:spPr>
          <a:xfrm>
            <a:off x="3219450" y="5257800"/>
            <a:ext cx="24003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>
              <a:ext uri="{FF2B5EF4-FFF2-40B4-BE49-F238E27FC236}">
                <a16:creationId xmlns:a16="http://schemas.microsoft.com/office/drawing/2014/main" id="{EA427CFC-DC55-4F32-A199-7DAB1D548E07}"/>
              </a:ext>
            </a:extLst>
          </p:cNvPr>
          <p:cNvSpPr>
            <a:spLocks noGrp="1"/>
          </p:cNvSpPr>
          <p:nvPr/>
        </p:nvSpPr>
        <p:spPr>
          <a:xfrm>
            <a:off x="6038850" y="3752850"/>
            <a:ext cx="2400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CREDIT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EC5BC744-5A67-40D0-8ABD-DBA0F93B119D}"/>
              </a:ext>
            </a:extLst>
          </p:cNvPr>
          <p:cNvSpPr>
            <a:spLocks noGrp="1"/>
          </p:cNvSpPr>
          <p:nvPr/>
        </p:nvSpPr>
        <p:spPr>
          <a:xfrm>
            <a:off x="6038850" y="4171950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定位中间动作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CC31F7B6-8FE5-4AAC-BDB9-4457766ACFFC}"/>
              </a:ext>
            </a:extLst>
          </p:cNvPr>
          <p:cNvSpPr>
            <a:spLocks noGrp="1"/>
          </p:cNvSpPr>
          <p:nvPr/>
        </p:nvSpPr>
        <p:spPr>
          <a:xfrm>
            <a:off x="6038850" y="4762500"/>
            <a:ext cx="2400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GAPD · EviSD</a:t>
            </a:r>
          </a:p>
        </p:txBody>
      </p:sp>
      <p:cxnSp>
        <p:nvCxnSpPr>
          <p:cNvPr id="430" name="rule"/>
          <p:cNvCxnSpPr/>
          <p:nvPr/>
        </p:nvCxnSpPr>
        <p:spPr>
          <a:xfrm>
            <a:off x="6038850" y="5257800"/>
            <a:ext cx="24003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FD7392BF-427A-464F-8463-34085F76439F}"/>
              </a:ext>
            </a:extLst>
          </p:cNvPr>
          <p:cNvSpPr>
            <a:spLocks noGrp="1"/>
          </p:cNvSpPr>
          <p:nvPr/>
        </p:nvSpPr>
        <p:spPr>
          <a:xfrm>
            <a:off x="8858250" y="3752850"/>
            <a:ext cx="2400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2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1E0A9C20-B2D1-4A3A-A068-E29ABE0033D2}"/>
              </a:ext>
            </a:extLst>
          </p:cNvPr>
          <p:cNvSpPr>
            <a:spLocks noGrp="1"/>
          </p:cNvSpPr>
          <p:nvPr/>
        </p:nvSpPr>
        <p:spPr>
          <a:xfrm>
            <a:off x="8858250" y="4171950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诊断交互行为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DF55D7BB-108B-48C4-B7F5-4436ED0D2A9C}"/>
              </a:ext>
            </a:extLst>
          </p:cNvPr>
          <p:cNvSpPr>
            <a:spLocks noGrp="1"/>
          </p:cNvSpPr>
          <p:nvPr/>
        </p:nvSpPr>
        <p:spPr>
          <a:xfrm>
            <a:off x="8858250" y="4762500"/>
            <a:ext cx="2400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HopRefusalBench</a:t>
            </a:r>
          </a:p>
        </p:txBody>
      </p:sp>
      <p:cxnSp>
        <p:nvCxnSpPr>
          <p:cNvPr id="434" name="rule"/>
          <p:cNvCxnSpPr/>
          <p:nvPr/>
        </p:nvCxnSpPr>
        <p:spPr>
          <a:xfrm>
            <a:off x="8858250" y="5257800"/>
            <a:ext cx="240030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>
              <a:ext uri="{FF2B5EF4-FFF2-40B4-BE49-F238E27FC236}">
                <a16:creationId xmlns:a16="http://schemas.microsoft.com/office/drawing/2014/main" id="{2BD37EF1-F03C-431F-8289-355C4F2923F5}"/>
              </a:ext>
            </a:extLst>
          </p:cNvPr>
          <p:cNvSpPr>
            <a:spLocks noGrp="1"/>
          </p:cNvSpPr>
          <p:nvPr/>
        </p:nvSpPr>
        <p:spPr>
          <a:xfrm>
            <a:off x="400050" y="598170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Xin Sun · xin.sun@cripac.ia.ac.cn · GitHub: sunxin000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4CE89B03-F120-4B5A-B097-286BCEB6A74D}"/>
              </a:ext>
            </a:extLst>
          </p:cNvPr>
          <p:cNvSpPr>
            <a:spLocks noGrp="1"/>
          </p:cNvSpPr>
          <p:nvPr/>
        </p:nvSpPr>
        <p:spPr>
          <a:xfrm>
            <a:off x="8572500" y="594360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87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11960953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-kicker">
            <a:extLst>
              <a:ext uri="{FF2B5EF4-FFF2-40B4-BE49-F238E27FC236}">
                <a16:creationId xmlns:a16="http://schemas.microsoft.com/office/drawing/2014/main" id="{C4275210-2F28-421E-B38C-FB3466FA8B45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POLICY LEARNING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404A63A-EA2B-464E-B166-4719055AB6AF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多轮攻击把越狱从 prompt 搜索变成策略学习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77B0B4E5-DE74-49E8-AFA8-9102E368F8CC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8C869D20-F06D-476D-807B-5E775C81C507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5" name="panel">
            <a:extLst>
              <a:ext uri="{FF2B5EF4-FFF2-40B4-BE49-F238E27FC236}">
                <a16:creationId xmlns:a16="http://schemas.microsoft.com/office/drawing/2014/main" id="{02713856-54E8-4ECF-8347-649A6E47E52E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219700" cy="36195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92D4441-BBAA-41FA-B003-EA5912D58460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SINGLE-TURN ATTACK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47AD68AD-F50E-4BB7-9FDF-5CB163BFD04C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Prompt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D1E3F34-C61B-43BD-911E-6543EE747610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一次 query，只优化当前回复</a:t>
            </a:r>
          </a:p>
        </p:txBody>
      </p:sp>
      <p:sp>
        <p:nvSpPr>
          <p:cNvPr id="9" name="bullets">
            <a:extLst>
              <a:ext uri="{FF2B5EF4-FFF2-40B4-BE49-F238E27FC236}">
                <a16:creationId xmlns:a16="http://schemas.microsoft.com/office/drawing/2014/main" id="{3F2DEAC1-76D6-43E4-861A-6B02A26BB95F}"/>
              </a:ext>
            </a:extLst>
          </p:cNvPr>
          <p:cNvSpPr>
            <a:spLocks noGrp="1"/>
          </p:cNvSpPr>
          <p:nvPr/>
        </p:nvSpPr>
        <p:spPr>
          <a:xfrm>
            <a:off x="666750" y="3810000"/>
            <a:ext cx="4476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输入：固定 harmful objective。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反馈：一次 victim response。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局限：无法利用拒答、泄露与上下文变化。</a:t>
            </a:r>
          </a:p>
        </p:txBody>
      </p:sp>
      <p:sp>
        <p:nvSpPr>
          <p:cNvPr id="10" name="panel">
            <a:extLst>
              <a:ext uri="{FF2B5EF4-FFF2-40B4-BE49-F238E27FC236}">
                <a16:creationId xmlns:a16="http://schemas.microsoft.com/office/drawing/2014/main" id="{33FABCF5-B2C3-45A3-9F6F-264AD0C7488A}"/>
              </a:ext>
            </a:extLst>
          </p:cNvPr>
          <p:cNvSpPr>
            <a:spLocks noGrp="1"/>
          </p:cNvSpPr>
          <p:nvPr/>
        </p:nvSpPr>
        <p:spPr>
          <a:xfrm>
            <a:off x="6172200" y="1714500"/>
            <a:ext cx="5219700" cy="36195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A02A726-EA3D-43F5-B0F4-F4D98EA1E6C5}"/>
              </a:ext>
            </a:extLst>
          </p:cNvPr>
          <p:cNvSpPr>
            <a:spLocks noGrp="1"/>
          </p:cNvSpPr>
          <p:nvPr/>
        </p:nvSpPr>
        <p:spPr>
          <a:xfrm>
            <a:off x="6438900" y="20002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MULTI-TURN ATTACK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67E44A0D-3AC4-4A69-AD4F-3978314C1B4E}"/>
              </a:ext>
            </a:extLst>
          </p:cNvPr>
          <p:cNvSpPr>
            <a:spLocks noGrp="1"/>
          </p:cNvSpPr>
          <p:nvPr/>
        </p:nvSpPr>
        <p:spPr>
          <a:xfrm>
            <a:off x="6438900" y="245745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Policy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1A50B476-46FB-4160-A744-4997B96BCCEE}"/>
              </a:ext>
            </a:extLst>
          </p:cNvPr>
          <p:cNvSpPr>
            <a:spLocks noGrp="1"/>
          </p:cNvSpPr>
          <p:nvPr/>
        </p:nvSpPr>
        <p:spPr>
          <a:xfrm>
            <a:off x="6438900" y="314325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观察 victim，再决定下一步动作</a:t>
            </a:r>
          </a:p>
        </p:txBody>
      </p:sp>
      <p:sp>
        <p:nvSpPr>
          <p:cNvPr id="14" name="bullets">
            <a:extLst>
              <a:ext uri="{FF2B5EF4-FFF2-40B4-BE49-F238E27FC236}">
                <a16:creationId xmlns:a16="http://schemas.microsoft.com/office/drawing/2014/main" id="{F4308090-34C1-42A1-B38F-CC4FAE0EAC7B}"/>
              </a:ext>
            </a:extLst>
          </p:cNvPr>
          <p:cNvSpPr>
            <a:spLocks noGrp="1"/>
          </p:cNvSpPr>
          <p:nvPr/>
        </p:nvSpPr>
        <p:spPr>
          <a:xfrm>
            <a:off x="6438900" y="3810000"/>
            <a:ext cx="4476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状态：transcript + session memory。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动作：重写、拆解、换视角或重启 session。</a:t>
            </a:r>
          </a:p>
          <a:p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优化：judge reward → GRPO policy update。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57FDAE17-A2FF-4660-94EE-706E0461A4AC}"/>
              </a:ext>
            </a:extLst>
          </p:cNvPr>
          <p:cNvSpPr>
            <a:spLocks noGrp="1"/>
          </p:cNvSpPr>
          <p:nvPr/>
        </p:nvSpPr>
        <p:spPr>
          <a:xfrm>
            <a:off x="400050" y="5753100"/>
            <a:ext cx="10991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关键变化：同一目标可跨 turn / session 自适应；学习的是攻击策略，而不是重复固定模板。</a:t>
            </a:r>
          </a:p>
        </p:txBody>
      </p:sp>
    </p:spTree>
    <p:extLst>
      <p:ext uri="{BB962C8B-B14F-4D97-AF65-F5344CB8AC3E}">
        <p14:creationId xmlns:p14="http://schemas.microsoft.com/office/powerpoint/2010/main" val="1033969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-kicker">
            <a:extLst>
              <a:ext uri="{FF2B5EF4-FFF2-40B4-BE49-F238E27FC236}">
                <a16:creationId xmlns:a16="http://schemas.microsoft.com/office/drawing/2014/main" id="{718EE007-A943-4B3A-A723-DA678774E8DB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SCALE GAP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F47051A9-14D0-4E20-9E6B-0A517A5CF484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小模型攻击策略难以迁移到 122B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149054D8-0892-4279-9044-556426F3FB65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868E4D42-8A05-4E7C-89D3-73AABFC93651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24" name="表格 23"/>
          <p:cNvGraphicFramePr/>
          <p:nvPr/>
        </p:nvGraphicFramePr>
        <p:xfrm>
          <a:off x="6515100" y="1657350"/>
          <a:ext cx="4914900" cy="3143250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Training victim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ID HB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Small OOD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122B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Llama-3.1-8B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84.50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84.56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5.0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Qwen2.5-7B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92.00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78.83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8.0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Gemma-2-9B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83.83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86.25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6.5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Mistral-7B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93.83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59.86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3.0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Macro average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88.54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77.38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5.63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metric-interactions / query">
            <a:extLst>
              <a:ext uri="{FF2B5EF4-FFF2-40B4-BE49-F238E27FC236}">
                <a16:creationId xmlns:a16="http://schemas.microsoft.com/office/drawing/2014/main" id="{43EAD9AF-5008-40A7-A7A5-B9B6952EFEFD}"/>
              </a:ext>
            </a:extLst>
          </p:cNvPr>
          <p:cNvSpPr>
            <a:spLocks noGrp="1"/>
          </p:cNvSpPr>
          <p:nvPr/>
        </p:nvSpPr>
        <p:spPr>
          <a:xfrm>
            <a:off x="6515100" y="5029200"/>
            <a:ext cx="2362200" cy="110490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8" name="metric-stat-interactions / query">
            <a:extLst>
              <a:ext uri="{FF2B5EF4-FFF2-40B4-BE49-F238E27FC236}">
                <a16:creationId xmlns:a16="http://schemas.microsoft.com/office/drawing/2014/main" id="{AB264620-4EF8-4957-931C-4D3A11F21DBE}"/>
              </a:ext>
            </a:extLst>
          </p:cNvPr>
          <p:cNvSpPr>
            <a:spLocks noGrp="1"/>
          </p:cNvSpPr>
          <p:nvPr/>
        </p:nvSpPr>
        <p:spPr>
          <a:xfrm>
            <a:off x="6705600" y="5124450"/>
            <a:ext cx="1981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/>
          </a:bodyPr>
          <a:lstStyle/>
          <a:p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77.38%</a:t>
            </a:r>
          </a:p>
        </p:txBody>
      </p:sp>
      <p:sp>
        <p:nvSpPr>
          <p:cNvPr id="9" name="metric-label-interactions / query">
            <a:extLst>
              <a:ext uri="{FF2B5EF4-FFF2-40B4-BE49-F238E27FC236}">
                <a16:creationId xmlns:a16="http://schemas.microsoft.com/office/drawing/2014/main" id="{7CE50A9A-AF9B-419F-8026-EC9B4A8C8C81}"/>
              </a:ext>
            </a:extLst>
          </p:cNvPr>
          <p:cNvSpPr>
            <a:spLocks noGrp="1"/>
          </p:cNvSpPr>
          <p:nvPr/>
        </p:nvSpPr>
        <p:spPr>
          <a:xfrm>
            <a:off x="6705600" y="5543550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Small-OOD ASR@3</a:t>
            </a:r>
          </a:p>
        </p:txBody>
      </p:sp>
      <p:sp>
        <p:nvSpPr>
          <p:cNvPr id="10" name="metric-note-interactions / query">
            <a:extLst>
              <a:ext uri="{FF2B5EF4-FFF2-40B4-BE49-F238E27FC236}">
                <a16:creationId xmlns:a16="http://schemas.microsoft.com/office/drawing/2014/main" id="{B90D9450-3F63-42F3-8E83-7141FA0BB7A3}"/>
              </a:ext>
            </a:extLst>
          </p:cNvPr>
          <p:cNvSpPr>
            <a:spLocks noGrp="1"/>
          </p:cNvSpPr>
          <p:nvPr/>
        </p:nvSpPr>
        <p:spPr>
          <a:xfrm>
            <a:off x="6705600" y="5848350"/>
            <a:ext cx="1981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四个小 victim 策略均值</a:t>
            </a:r>
          </a:p>
        </p:txBody>
      </p:sp>
      <p:sp>
        <p:nvSpPr>
          <p:cNvPr id="11" name="metric-average F1">
            <a:extLst>
              <a:ext uri="{FF2B5EF4-FFF2-40B4-BE49-F238E27FC236}">
                <a16:creationId xmlns:a16="http://schemas.microsoft.com/office/drawing/2014/main" id="{5B3808A4-1EE5-4CE1-9886-2C1928442B5D}"/>
              </a:ext>
            </a:extLst>
          </p:cNvPr>
          <p:cNvSpPr>
            <a:spLocks noGrp="1"/>
          </p:cNvSpPr>
          <p:nvPr/>
        </p:nvSpPr>
        <p:spPr>
          <a:xfrm>
            <a:off x="9067800" y="5029200"/>
            <a:ext cx="2362200" cy="11049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12" name="metric-stat-average F1">
            <a:extLst>
              <a:ext uri="{FF2B5EF4-FFF2-40B4-BE49-F238E27FC236}">
                <a16:creationId xmlns:a16="http://schemas.microsoft.com/office/drawing/2014/main" id="{802F2536-CC63-4845-9E23-7856A2D38CF7}"/>
              </a:ext>
            </a:extLst>
          </p:cNvPr>
          <p:cNvSpPr>
            <a:spLocks noGrp="1"/>
          </p:cNvSpPr>
          <p:nvPr/>
        </p:nvSpPr>
        <p:spPr>
          <a:xfrm>
            <a:off x="9258300" y="5124450"/>
            <a:ext cx="1981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039"/>
          </a:bodyPr>
          <a:lstStyle/>
          <a:p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5.63%</a:t>
            </a:r>
          </a:p>
        </p:txBody>
      </p:sp>
      <p:sp>
        <p:nvSpPr>
          <p:cNvPr id="13" name="metric-label-average F1">
            <a:extLst>
              <a:ext uri="{FF2B5EF4-FFF2-40B4-BE49-F238E27FC236}">
                <a16:creationId xmlns:a16="http://schemas.microsoft.com/office/drawing/2014/main" id="{84E90C2E-844A-459E-8BA3-76937F383C98}"/>
              </a:ext>
            </a:extLst>
          </p:cNvPr>
          <p:cNvSpPr>
            <a:spLocks noGrp="1"/>
          </p:cNvSpPr>
          <p:nvPr/>
        </p:nvSpPr>
        <p:spPr>
          <a:xfrm>
            <a:off x="9258300" y="5543550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122B ASR@3</a:t>
            </a:r>
          </a:p>
        </p:txBody>
      </p:sp>
      <p:sp>
        <p:nvSpPr>
          <p:cNvPr id="14" name="metric-note-average F1">
            <a:extLst>
              <a:ext uri="{FF2B5EF4-FFF2-40B4-BE49-F238E27FC236}">
                <a16:creationId xmlns:a16="http://schemas.microsoft.com/office/drawing/2014/main" id="{6D7D3B87-31B6-4740-9195-F8D39E6DE971}"/>
              </a:ext>
            </a:extLst>
          </p:cNvPr>
          <p:cNvSpPr>
            <a:spLocks noGrp="1"/>
          </p:cNvSpPr>
          <p:nvPr/>
        </p:nvSpPr>
        <p:spPr>
          <a:xfrm>
            <a:off x="9258300" y="5848350"/>
            <a:ext cx="1981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迁移下降 71.75pp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F7D1071E-C1DC-48B9-9022-05C280920760}"/>
              </a:ext>
            </a:extLst>
          </p:cNvPr>
          <p:cNvSpPr>
            <a:spLocks noGrp="1"/>
          </p:cNvSpPr>
          <p:nvPr/>
        </p:nvSpPr>
        <p:spPr>
          <a:xfrm>
            <a:off x="400050" y="5429250"/>
            <a:ext cx="571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平均 ASR@3 从 Small-OOD 的 77.38% 跌到 122B 的 5.63%；8B 直训强 victim 又长期停在约 5%。</a:t>
            </a:r>
          </a:p>
        </p:txBody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" y="1763180"/>
            <a:ext cx="5715000" cy="329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546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kicker">
            <a:extLst>
              <a:ext uri="{FF2B5EF4-FFF2-40B4-BE49-F238E27FC236}">
                <a16:creationId xmlns:a16="http://schemas.microsoft.com/office/drawing/2014/main" id="{982B63FE-AFFC-45D8-B11F-ACE9BF28B34E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27B RL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BC91221-9472-4599-B41B-A14DB3A3658D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27B attacker 直训 122B base，ASR@3 达 96.8%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0D3F7AA2-0F2E-407E-8B66-803ADFDBC63D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F8030601-6B38-41A4-BF41-BB0376BCB503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E52DAB75-C1B6-4936-B730-9FF4E3E140E9}"/>
              </a:ext>
            </a:extLst>
          </p:cNvPr>
          <p:cNvSpPr>
            <a:spLocks noGrp="1"/>
          </p:cNvSpPr>
          <p:nvPr/>
        </p:nvSpPr>
        <p:spPr>
          <a:xfrm>
            <a:off x="6896100" y="16954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27B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A2FA1AF-CF6C-43F3-89B3-74D5064C0098}"/>
              </a:ext>
            </a:extLst>
          </p:cNvPr>
          <p:cNvSpPr>
            <a:spLocks noGrp="1"/>
          </p:cNvSpPr>
          <p:nvPr/>
        </p:nvSpPr>
        <p:spPr>
          <a:xfrm>
            <a:off x="9410700" y="17145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Attacker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EE2C4C3-4E94-402B-AD86-0234195DD209}"/>
              </a:ext>
            </a:extLst>
          </p:cNvPr>
          <p:cNvSpPr>
            <a:spLocks noGrp="1"/>
          </p:cNvSpPr>
          <p:nvPr/>
        </p:nvSpPr>
        <p:spPr>
          <a:xfrm>
            <a:off x="9410700" y="20574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direct RL</a:t>
            </a:r>
          </a:p>
        </p:txBody>
      </p:sp>
      <p:cxnSp>
        <p:nvCxnSpPr>
          <p:cNvPr id="449" name="rule"/>
          <p:cNvCxnSpPr/>
          <p:nvPr/>
        </p:nvCxnSpPr>
        <p:spPr>
          <a:xfrm>
            <a:off x="6896100" y="2571750"/>
            <a:ext cx="46672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>
              <a:ext uri="{FF2B5EF4-FFF2-40B4-BE49-F238E27FC236}">
                <a16:creationId xmlns:a16="http://schemas.microsoft.com/office/drawing/2014/main" id="{647FAD0C-A30E-4B94-AE75-D7A91049B334}"/>
              </a:ext>
            </a:extLst>
          </p:cNvPr>
          <p:cNvSpPr>
            <a:spLocks noGrp="1"/>
          </p:cNvSpPr>
          <p:nvPr/>
        </p:nvSpPr>
        <p:spPr>
          <a:xfrm>
            <a:off x="6896100" y="29146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122B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75B1331-59AA-4F74-B403-D42ED90FA70D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Base victim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00D6D90-1C7B-4848-9184-A551BC555502}"/>
              </a:ext>
            </a:extLst>
          </p:cNvPr>
          <p:cNvSpPr>
            <a:spLocks noGrp="1"/>
          </p:cNvSpPr>
          <p:nvPr/>
        </p:nvSpPr>
        <p:spPr>
          <a:xfrm>
            <a:off x="9410700" y="32766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Qwen3.5-122B base</a:t>
            </a:r>
          </a:p>
        </p:txBody>
      </p:sp>
      <p:cxnSp>
        <p:nvCxnSpPr>
          <p:cNvPr id="453" name="rule"/>
          <p:cNvCxnSpPr/>
          <p:nvPr/>
        </p:nvCxnSpPr>
        <p:spPr>
          <a:xfrm>
            <a:off x="6896100" y="3790950"/>
            <a:ext cx="46672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>
              <a:ext uri="{FF2B5EF4-FFF2-40B4-BE49-F238E27FC236}">
                <a16:creationId xmlns:a16="http://schemas.microsoft.com/office/drawing/2014/main" id="{2887DE25-C034-491B-9EAF-AD4173166FE8}"/>
              </a:ext>
            </a:extLst>
          </p:cNvPr>
          <p:cNvSpPr>
            <a:spLocks noGrp="1"/>
          </p:cNvSpPr>
          <p:nvPr/>
        </p:nvSpPr>
        <p:spPr>
          <a:xfrm>
            <a:off x="6896100" y="41338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96.8%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720A6D4D-83F4-4247-AA58-8B7BA298B4E3}"/>
              </a:ext>
            </a:extLst>
          </p:cNvPr>
          <p:cNvSpPr>
            <a:spLocks noGrp="1"/>
          </p:cNvSpPr>
          <p:nvPr/>
        </p:nvSpPr>
        <p:spPr>
          <a:xfrm>
            <a:off x="9410700" y="41529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ASR@3 · step 240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BF01CA0A-C427-4147-B049-808691741E55}"/>
              </a:ext>
            </a:extLst>
          </p:cNvPr>
          <p:cNvSpPr>
            <a:spLocks noGrp="1"/>
          </p:cNvSpPr>
          <p:nvPr/>
        </p:nvSpPr>
        <p:spPr>
          <a:xfrm>
            <a:off x="9410700" y="44958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27B RL peak</a:t>
            </a:r>
          </a:p>
        </p:txBody>
      </p:sp>
      <p:cxnSp>
        <p:nvCxnSpPr>
          <p:cNvPr id="457" name="rule"/>
          <p:cNvCxnSpPr/>
          <p:nvPr/>
        </p:nvCxnSpPr>
        <p:spPr>
          <a:xfrm>
            <a:off x="6896100" y="5010150"/>
            <a:ext cx="4667250" cy="95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>
              <a:ext uri="{FF2B5EF4-FFF2-40B4-BE49-F238E27FC236}">
                <a16:creationId xmlns:a16="http://schemas.microsoft.com/office/drawing/2014/main" id="{65934087-22D5-48BE-BCA4-9E58A58E1FD2}"/>
              </a:ext>
            </a:extLst>
          </p:cNvPr>
          <p:cNvSpPr>
            <a:spLocks noGrp="1"/>
          </p:cNvSpPr>
          <p:nvPr/>
        </p:nvSpPr>
        <p:spPr>
          <a:xfrm>
            <a:off x="6896100" y="5353050"/>
            <a:ext cx="2400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+21.3pp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1F6333C0-CC11-4805-B4C7-AEA6645125A9}"/>
              </a:ext>
            </a:extLst>
          </p:cNvPr>
          <p:cNvSpPr>
            <a:spLocks noGrp="1"/>
          </p:cNvSpPr>
          <p:nvPr/>
        </p:nvSpPr>
        <p:spPr>
          <a:xfrm>
            <a:off x="9410700" y="53721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vs. zero-shot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F57DC6F1-5860-4C8D-A326-CB085C8CC696}"/>
              </a:ext>
            </a:extLst>
          </p:cNvPr>
          <p:cNvSpPr>
            <a:spLocks noGrp="1"/>
          </p:cNvSpPr>
          <p:nvPr/>
        </p:nvSpPr>
        <p:spPr>
          <a:xfrm>
            <a:off x="9410700" y="571500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Heretic baseline：75.5%</a:t>
            </a:r>
          </a:p>
        </p:txBody>
      </p:sp>
      <p:pic>
        <p:nvPicPr>
          <p:cNvPr id="5" name="图片 4" descr="image.png">
            <a:extLst>
              <a:ext uri="{FF2B5EF4-FFF2-40B4-BE49-F238E27FC236}">
                <a16:creationId xmlns:a16="http://schemas.microsoft.com/office/drawing/2014/main" id="{5DD3F3A8-D1E5-15A1-507F-2388763AD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82" y="2200275"/>
            <a:ext cx="6222214" cy="311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111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ection-kicker">
            <a:extLst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GENERALIZATION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noGrp="1"/>
          </p:cNvSpPr>
          <p:nvPr/>
        </p:nvSpPr>
        <p:spPr>
          <a:xfrm>
            <a:off x="400050" y="495300"/>
            <a:ext cx="10991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27B attacker 跨 benchmark ASR@3 均超过 92%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81915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noGrp="1"/>
          </p:cNvSpPr>
          <p:nvPr/>
        </p:nvSpPr>
        <p:spPr>
          <a:xfrm>
            <a:off x="11277600" y="63246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400050" y="1695450"/>
          <a:ext cx="65151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">
            <a:extLst>
              <a:ext uri="{FF2B5EF4-FFF2-40B4-BE49-F238E27FC236}">
                <a16:creationId xmlns:a16="http://schemas.microsoft.com/office/drawing/2014/main" id="{B35331B8-AE4E-46D1-82CC-B2A6AE32ED15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6515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Trained on AdvBench · held-out benchmark evaluation</a:t>
            </a:r>
          </a:p>
        </p:txBody>
      </p:sp>
      <p:sp>
        <p:nvSpPr>
          <p:cNvPr id="7" name="metric-GrailQA Zero-shot">
            <a:extLst>
              <a:ext uri="{FF2B5EF4-FFF2-40B4-BE49-F238E27FC236}">
                <a16:creationId xmlns:a16="http://schemas.microsoft.com/office/drawing/2014/main" id="{9EE6178B-4C00-4C85-9BAE-D44035D205D2}"/>
              </a:ext>
            </a:extLst>
          </p:cNvPr>
          <p:cNvSpPr>
            <a:spLocks noGrp="1"/>
          </p:cNvSpPr>
          <p:nvPr/>
        </p:nvSpPr>
        <p:spPr>
          <a:xfrm>
            <a:off x="7334250" y="1695450"/>
            <a:ext cx="4095750" cy="1600200"/>
          </a:xfrm>
          <a:prstGeom prst="rect">
            <a:avLst/>
          </a:prstGeom>
          <a:solidFill>
            <a:srgbClr val="FFF0E8"/>
          </a:solidFill>
          <a:ln w="0">
            <a:noFill/>
            <a:prstDash val="solid"/>
          </a:ln>
        </p:spPr>
      </p:sp>
      <p:sp>
        <p:nvSpPr>
          <p:cNvPr id="8" name="metric-stat-GrailQA Zero-shot">
            <a:extLst>
              <a:ext uri="{FF2B5EF4-FFF2-40B4-BE49-F238E27FC236}">
                <a16:creationId xmlns:a16="http://schemas.microsoft.com/office/drawing/2014/main" id="{BDFBA2EA-4422-4793-930A-B193A93BEACC}"/>
              </a:ext>
            </a:extLst>
          </p:cNvPr>
          <p:cNvSpPr>
            <a:spLocks noGrp="1"/>
          </p:cNvSpPr>
          <p:nvPr/>
        </p:nvSpPr>
        <p:spPr>
          <a:xfrm>
            <a:off x="7562850" y="1847850"/>
            <a:ext cx="3638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l">
              <a:buNone/>
              <a:def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92.6–96.0%</a:t>
            </a:r>
          </a:p>
        </p:txBody>
      </p:sp>
      <p:sp>
        <p:nvSpPr>
          <p:cNvPr id="9" name="metric-label-GrailQA Zero-shot">
            <a:extLst>
              <a:ext uri="{FF2B5EF4-FFF2-40B4-BE49-F238E27FC236}">
                <a16:creationId xmlns:a16="http://schemas.microsoft.com/office/drawing/2014/main" id="{817B546F-8932-4707-A04E-A5851E4DF623}"/>
              </a:ext>
            </a:extLst>
          </p:cNvPr>
          <p:cNvSpPr>
            <a:spLocks noGrp="1"/>
          </p:cNvSpPr>
          <p:nvPr/>
        </p:nvSpPr>
        <p:spPr>
          <a:xfrm>
            <a:off x="7562850" y="2419350"/>
            <a:ext cx="3638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ASR@3 (best-of-3)</a:t>
            </a:r>
          </a:p>
        </p:txBody>
      </p:sp>
      <p:sp>
        <p:nvSpPr>
          <p:cNvPr id="10" name="metric-note-GrailQA Zero-shot">
            <a:extLst>
              <a:ext uri="{FF2B5EF4-FFF2-40B4-BE49-F238E27FC236}">
                <a16:creationId xmlns:a16="http://schemas.microsoft.com/office/drawing/2014/main" id="{3262EC3C-E6FC-4E6A-9CC2-B9040DD2E1F7}"/>
              </a:ext>
            </a:extLst>
          </p:cNvPr>
          <p:cNvSpPr>
            <a:spLocks noGrp="1"/>
          </p:cNvSpPr>
          <p:nvPr/>
        </p:nvSpPr>
        <p:spPr>
          <a:xfrm>
            <a:off x="7562850" y="280035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三套 held-out benchmark 均超过 92%</a:t>
            </a:r>
          </a:p>
        </p:txBody>
      </p:sp>
      <p:sp>
        <p:nvSpPr>
          <p:cNvPr id="11" name="metric-GrailQA Overall">
            <a:extLst>
              <a:ext uri="{FF2B5EF4-FFF2-40B4-BE49-F238E27FC236}">
                <a16:creationId xmlns:a16="http://schemas.microsoft.com/office/drawing/2014/main" id="{1C00EDA5-3577-41E8-BDF9-22C237215ED9}"/>
              </a:ext>
            </a:extLst>
          </p:cNvPr>
          <p:cNvSpPr>
            <a:spLocks noGrp="1"/>
          </p:cNvSpPr>
          <p:nvPr/>
        </p:nvSpPr>
        <p:spPr>
          <a:xfrm>
            <a:off x="7334250" y="3524250"/>
            <a:ext cx="4095750" cy="16002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</p:sp>
      <p:sp>
        <p:nvSpPr>
          <p:cNvPr id="12" name="metric-stat-GrailQA Overall">
            <a:extLst>
              <a:ext uri="{FF2B5EF4-FFF2-40B4-BE49-F238E27FC236}">
                <a16:creationId xmlns:a16="http://schemas.microsoft.com/office/drawing/2014/main" id="{AA63BD23-2EE3-43DB-9607-F4C42E4C1F3A}"/>
              </a:ext>
            </a:extLst>
          </p:cNvPr>
          <p:cNvSpPr>
            <a:spLocks noGrp="1"/>
          </p:cNvSpPr>
          <p:nvPr/>
        </p:nvSpPr>
        <p:spPr>
          <a:xfrm>
            <a:off x="7562850" y="3676650"/>
            <a:ext cx="3638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85.6–88.9%</a:t>
            </a:r>
          </a:p>
        </p:txBody>
      </p:sp>
      <p:sp>
        <p:nvSpPr>
          <p:cNvPr id="13" name="metric-label-GrailQA Overall">
            <a:extLst>
              <a:ext uri="{FF2B5EF4-FFF2-40B4-BE49-F238E27FC236}">
                <a16:creationId xmlns:a16="http://schemas.microsoft.com/office/drawing/2014/main" id="{27F8FF7E-33EC-49F6-B924-2C6826C1C63E}"/>
              </a:ext>
            </a:extLst>
          </p:cNvPr>
          <p:cNvSpPr>
            <a:spLocks noGrp="1"/>
          </p:cNvSpPr>
          <p:nvPr/>
        </p:nvSpPr>
        <p:spPr>
          <a:xfrm>
            <a:off x="7562850" y="4248150"/>
            <a:ext cx="3638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mean@3</a:t>
            </a:r>
          </a:p>
        </p:txBody>
      </p:sp>
      <p:sp>
        <p:nvSpPr>
          <p:cNvPr id="14" name="metric-note-GrailQA Overall">
            <a:extLst>
              <a:ext uri="{FF2B5EF4-FFF2-40B4-BE49-F238E27FC236}">
                <a16:creationId xmlns:a16="http://schemas.microsoft.com/office/drawing/2014/main" id="{4ECC02BE-CD45-42B9-830A-3C75F9BAAA02}"/>
              </a:ext>
            </a:extLst>
          </p:cNvPr>
          <p:cNvSpPr>
            <a:spLocks noGrp="1"/>
          </p:cNvSpPr>
          <p:nvPr/>
        </p:nvSpPr>
        <p:spPr>
          <a:xfrm>
            <a:off x="7562850" y="462915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三条 trajectory 的平均成功率</a:t>
            </a:r>
          </a:p>
        </p:txBody>
      </p:sp>
      <p:sp>
        <p:nvSpPr>
          <p:cNvPr id="15" name="panel">
            <a:extLst>
              <a:ext uri="{FF2B5EF4-FFF2-40B4-BE49-F238E27FC236}">
                <a16:creationId xmlns:a16="http://schemas.microsoft.com/office/drawing/2014/main" id="{3D040734-FB26-4001-810D-AEA5B5C00C33}"/>
              </a:ext>
            </a:extLst>
          </p:cNvPr>
          <p:cNvSpPr>
            <a:spLocks noGrp="1"/>
          </p:cNvSpPr>
          <p:nvPr/>
        </p:nvSpPr>
        <p:spPr>
          <a:xfrm>
            <a:off x="7334250" y="5353050"/>
            <a:ext cx="4095750" cy="666750"/>
          </a:xfrm>
          <a:prstGeom prst="rect">
            <a:avLst/>
          </a:prstGeom>
          <a:solidFill>
            <a:srgbClr val="EAF6ED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B3889D17-1B8C-4B00-BF7E-E9936141C89F}"/>
              </a:ext>
            </a:extLst>
          </p:cNvPr>
          <p:cNvSpPr>
            <a:spLocks noGrp="1"/>
          </p:cNvSpPr>
          <p:nvPr/>
        </p:nvSpPr>
        <p:spPr>
          <a:xfrm>
            <a:off x="7524750" y="55435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976"/>
          </a:bodyPr>
          <a:lstStyle/>
          <a:p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AdvBench 训练；HB / JBB / SR 全部 held-out。</a:t>
            </a:r>
          </a:p>
        </p:txBody>
      </p:sp>
    </p:spTree>
    <p:extLst>
      <p:ext uri="{BB962C8B-B14F-4D97-AF65-F5344CB8AC3E}">
        <p14:creationId xmlns:p14="http://schemas.microsoft.com/office/powerpoint/2010/main" val="13026710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3210</Words>
  <Application>Microsoft Macintosh PowerPoint</Application>
  <DocSecurity>0</DocSecurity>
  <PresentationFormat>宽屏</PresentationFormat>
  <Paragraphs>722</Paragraphs>
  <Slides>34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39" baseType="lpstr">
      <vt:lpstr>PingFang SC</vt:lpstr>
      <vt:lpstr>Calibri</vt:lpstr>
      <vt:lpstr>Cambria Math</vt:lpstr>
      <vt:lpstr>Helvetica Neue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孙鑫</cp:lastModifiedBy>
  <cp:revision>6</cp:revision>
  <dcterms:created xsi:type="dcterms:W3CDTF">2026-08-18T08:07:36Z</dcterms:created>
  <dcterms:modified xsi:type="dcterms:W3CDTF">2026-08-18T08:27:29Z</dcterms:modified>
</cp:coreProperties>
</file>