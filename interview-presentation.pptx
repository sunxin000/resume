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1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4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5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eda02754324def" /><Relationship Type="http://schemas.openxmlformats.org/officeDocument/2006/relationships/extended-properties" Target="/docProps/app.xml" Id="R8584816380c64f2b" /><Relationship Type="http://schemas.openxmlformats.org/officeDocument/2006/relationships/officeDocument" Target="/ppt/presentation.xml" Id="R83cb4c66eca241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88fa4f801d4797"/>
  </p:sldMasterIdLst>
  <p:notesMasterIdLst>
    <p:notesMasterId xmlns:r="http://schemas.openxmlformats.org/officeDocument/2006/relationships" r:id="Rc3a2526a7b2b4c7b"/>
  </p:notesMasterIdLst>
  <p:sldIdLst>
    <p:sldId xmlns:r="http://schemas.openxmlformats.org/officeDocument/2006/relationships" id="256" r:id="R3929e7200f8645f5"/>
    <p:sldId xmlns:r="http://schemas.openxmlformats.org/officeDocument/2006/relationships" id="257" r:id="R9ca4dd6be8504706"/>
    <p:sldId xmlns:r="http://schemas.openxmlformats.org/officeDocument/2006/relationships" id="258" r:id="R26ee41ead1d5458b"/>
    <p:sldId xmlns:r="http://schemas.openxmlformats.org/officeDocument/2006/relationships" id="259" r:id="Rc51158e735014841"/>
    <p:sldId xmlns:r="http://schemas.openxmlformats.org/officeDocument/2006/relationships" id="260" r:id="Rc02300584a8e42b7"/>
    <p:sldId xmlns:r="http://schemas.openxmlformats.org/officeDocument/2006/relationships" id="261" r:id="Rb4b56b0ef43142c6"/>
    <p:sldId xmlns:r="http://schemas.openxmlformats.org/officeDocument/2006/relationships" id="262" r:id="R3c7ed0d39cdc4270"/>
    <p:sldId xmlns:r="http://schemas.openxmlformats.org/officeDocument/2006/relationships" id="263" r:id="Rf15325bae76447c6"/>
    <p:sldId xmlns:r="http://schemas.openxmlformats.org/officeDocument/2006/relationships" id="264" r:id="R7961f9e599f2418d"/>
    <p:sldId xmlns:r="http://schemas.openxmlformats.org/officeDocument/2006/relationships" id="265" r:id="R154d104227b6462b"/>
    <p:sldId xmlns:r="http://schemas.openxmlformats.org/officeDocument/2006/relationships" id="266" r:id="R9fb825362ac046a1"/>
    <p:sldId xmlns:r="http://schemas.openxmlformats.org/officeDocument/2006/relationships" id="267" r:id="Rde22dc17d1454504"/>
    <p:sldId xmlns:r="http://schemas.openxmlformats.org/officeDocument/2006/relationships" id="268" r:id="Rf96411d9574a47ff"/>
    <p:sldId xmlns:r="http://schemas.openxmlformats.org/officeDocument/2006/relationships" id="269" r:id="Rcd6558f65f6f452c"/>
    <p:sldId xmlns:r="http://schemas.openxmlformats.org/officeDocument/2006/relationships" id="270" r:id="Rafac868fc47b40c8"/>
    <p:sldId xmlns:r="http://schemas.openxmlformats.org/officeDocument/2006/relationships" id="271" r:id="R2af40c5651c54482"/>
    <p:sldId xmlns:r="http://schemas.openxmlformats.org/officeDocument/2006/relationships" id="272" r:id="R10d0aa8bcdd04b33"/>
    <p:sldId xmlns:r="http://schemas.openxmlformats.org/officeDocument/2006/relationships" id="273" r:id="Rea999e5bb9c44360"/>
    <p:sldId xmlns:r="http://schemas.openxmlformats.org/officeDocument/2006/relationships" id="274" r:id="Rcaafce0a51cb4927"/>
    <p:sldId xmlns:r="http://schemas.openxmlformats.org/officeDocument/2006/relationships" id="275" r:id="R059caf6d6bd24685"/>
    <p:sldId xmlns:r="http://schemas.openxmlformats.org/officeDocument/2006/relationships" id="276" r:id="R5d377fbdef504b04"/>
    <p:sldId xmlns:r="http://schemas.openxmlformats.org/officeDocument/2006/relationships" id="277" r:id="R00da1d8fef6343ce"/>
    <p:sldId xmlns:r="http://schemas.openxmlformats.org/officeDocument/2006/relationships" id="278" r:id="Re9dc57a3bd0c4461"/>
    <p:sldId xmlns:r="http://schemas.openxmlformats.org/officeDocument/2006/relationships" id="279" r:id="R037c536ff1cc470a"/>
    <p:sldId xmlns:r="http://schemas.openxmlformats.org/officeDocument/2006/relationships" id="280" r:id="Rc3999770209f4ce6"/>
    <p:sldId xmlns:r="http://schemas.openxmlformats.org/officeDocument/2006/relationships" id="281" r:id="R5c3eaedd19134322"/>
    <p:sldId xmlns:r="http://schemas.openxmlformats.org/officeDocument/2006/relationships" id="282" r:id="R8f96bc995e7448fb"/>
    <p:sldId xmlns:r="http://schemas.openxmlformats.org/officeDocument/2006/relationships" id="283" r:id="R8d53d6e2cb684bdf"/>
    <p:sldId xmlns:r="http://schemas.openxmlformats.org/officeDocument/2006/relationships" id="284" r:id="R197df63de5b24d41"/>
    <p:sldId xmlns:r="http://schemas.openxmlformats.org/officeDocument/2006/relationships" id="285" r:id="Rea07884679744daa"/>
    <p:sldId xmlns:r="http://schemas.openxmlformats.org/officeDocument/2006/relationships" id="286" r:id="R58a2f1f8b061460e"/>
    <p:sldId xmlns:r="http://schemas.openxmlformats.org/officeDocument/2006/relationships" id="287" r:id="R385dd29e174647e3"/>
    <p:sldId xmlns:r="http://schemas.openxmlformats.org/officeDocument/2006/relationships" id="288" r:id="R7b9eaecbed61480f"/>
    <p:sldId xmlns:r="http://schemas.openxmlformats.org/officeDocument/2006/relationships" id="289" r:id="Rce89e3a666b546a8"/>
    <p:sldId xmlns:r="http://schemas.openxmlformats.org/officeDocument/2006/relationships" id="290" r:id="R19b913b845734903"/>
    <p:sldId xmlns:r="http://schemas.openxmlformats.org/officeDocument/2006/relationships" id="291" r:id="R6f030cd71dab47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1bdd98518c4f2d" /><Relationship Type="http://schemas.openxmlformats.org/officeDocument/2006/relationships/slideMaster" Target="/ppt/slideMasters/slideMaster1.xml" Id="Rcf88fa4f801d4797" /><Relationship Type="http://schemas.openxmlformats.org/officeDocument/2006/relationships/notesMaster" Target="/ppt/notesMasters/notesMaster1.xml" Id="Rc3a2526a7b2b4c7b" /><Relationship Type="http://schemas.openxmlformats.org/officeDocument/2006/relationships/presProps" Target="/ppt/presProps.xml" Id="R42eec8ad409143f1" /><Relationship Type="http://schemas.openxmlformats.org/officeDocument/2006/relationships/viewProps" Target="/ppt/viewProps.xml" Id="Rdf1983caa9dd4c81" /><Relationship Type="http://schemas.openxmlformats.org/officeDocument/2006/relationships/tableStyles" Target="/ppt/tableStyles.xml" Id="R0f591899a43745e3" /><Relationship Type="http://schemas.openxmlformats.org/officeDocument/2006/relationships/slide" Target="/ppt/slides/slide1.xml" Id="R3929e7200f8645f5" /><Relationship Type="http://schemas.openxmlformats.org/officeDocument/2006/relationships/slide" Target="/ppt/slides/slide2.xml" Id="R9ca4dd6be8504706" /><Relationship Type="http://schemas.openxmlformats.org/officeDocument/2006/relationships/slide" Target="/ppt/slides/slide3.xml" Id="R26ee41ead1d5458b" /><Relationship Type="http://schemas.openxmlformats.org/officeDocument/2006/relationships/slide" Target="/ppt/slides/slide4.xml" Id="Rc51158e735014841" /><Relationship Type="http://schemas.openxmlformats.org/officeDocument/2006/relationships/slide" Target="/ppt/slides/slide5.xml" Id="Rc02300584a8e42b7" /><Relationship Type="http://schemas.openxmlformats.org/officeDocument/2006/relationships/slide" Target="/ppt/slides/slide6.xml" Id="Rb4b56b0ef43142c6" /><Relationship Type="http://schemas.openxmlformats.org/officeDocument/2006/relationships/slide" Target="/ppt/slides/slide7.xml" Id="R3c7ed0d39cdc4270" /><Relationship Type="http://schemas.openxmlformats.org/officeDocument/2006/relationships/slide" Target="/ppt/slides/slide8.xml" Id="Rf15325bae76447c6" /><Relationship Type="http://schemas.openxmlformats.org/officeDocument/2006/relationships/slide" Target="/ppt/slides/slide9.xml" Id="R7961f9e599f2418d" /><Relationship Type="http://schemas.openxmlformats.org/officeDocument/2006/relationships/slide" Target="/ppt/slides/slide10.xml" Id="R154d104227b6462b" /><Relationship Type="http://schemas.openxmlformats.org/officeDocument/2006/relationships/slide" Target="/ppt/slides/slide11.xml" Id="R9fb825362ac046a1" /><Relationship Type="http://schemas.openxmlformats.org/officeDocument/2006/relationships/slide" Target="/ppt/slides/slide12.xml" Id="Rde22dc17d1454504" /><Relationship Type="http://schemas.openxmlformats.org/officeDocument/2006/relationships/slide" Target="/ppt/slides/slide13.xml" Id="Rf96411d9574a47ff" /><Relationship Type="http://schemas.openxmlformats.org/officeDocument/2006/relationships/slide" Target="/ppt/slides/slide14.xml" Id="Rcd6558f65f6f452c" /><Relationship Type="http://schemas.openxmlformats.org/officeDocument/2006/relationships/slide" Target="/ppt/slides/slide15.xml" Id="Rafac868fc47b40c8" /><Relationship Type="http://schemas.openxmlformats.org/officeDocument/2006/relationships/slide" Target="/ppt/slides/slide16.xml" Id="R2af40c5651c54482" /><Relationship Type="http://schemas.openxmlformats.org/officeDocument/2006/relationships/slide" Target="/ppt/slides/slide17.xml" Id="R10d0aa8bcdd04b33" /><Relationship Type="http://schemas.openxmlformats.org/officeDocument/2006/relationships/slide" Target="/ppt/slides/slide18.xml" Id="Rea999e5bb9c44360" /><Relationship Type="http://schemas.openxmlformats.org/officeDocument/2006/relationships/slide" Target="/ppt/slides/slide19.xml" Id="Rcaafce0a51cb4927" /><Relationship Type="http://schemas.openxmlformats.org/officeDocument/2006/relationships/slide" Target="/ppt/slides/slide20.xml" Id="R059caf6d6bd24685" /><Relationship Type="http://schemas.openxmlformats.org/officeDocument/2006/relationships/slide" Target="/ppt/slides/slide21.xml" Id="R5d377fbdef504b04" /><Relationship Type="http://schemas.openxmlformats.org/officeDocument/2006/relationships/slide" Target="/ppt/slides/slide22.xml" Id="R00da1d8fef6343ce" /><Relationship Type="http://schemas.openxmlformats.org/officeDocument/2006/relationships/slide" Target="/ppt/slides/slide23.xml" Id="Re9dc57a3bd0c4461" /><Relationship Type="http://schemas.openxmlformats.org/officeDocument/2006/relationships/slide" Target="/ppt/slides/slide24.xml" Id="R037c536ff1cc470a" /><Relationship Type="http://schemas.openxmlformats.org/officeDocument/2006/relationships/slide" Target="/ppt/slides/slide25.xml" Id="Rc3999770209f4ce6" /><Relationship Type="http://schemas.openxmlformats.org/officeDocument/2006/relationships/slide" Target="/ppt/slides/slide26.xml" Id="R5c3eaedd19134322" /><Relationship Type="http://schemas.openxmlformats.org/officeDocument/2006/relationships/slide" Target="/ppt/slides/slide27.xml" Id="R8f96bc995e7448fb" /><Relationship Type="http://schemas.openxmlformats.org/officeDocument/2006/relationships/slide" Target="/ppt/slides/slide28.xml" Id="R8d53d6e2cb684bdf" /><Relationship Type="http://schemas.openxmlformats.org/officeDocument/2006/relationships/slide" Target="/ppt/slides/slide29.xml" Id="R197df63de5b24d41" /><Relationship Type="http://schemas.openxmlformats.org/officeDocument/2006/relationships/slide" Target="/ppt/slides/slide30.xml" Id="Rea07884679744daa" /><Relationship Type="http://schemas.openxmlformats.org/officeDocument/2006/relationships/slide" Target="/ppt/slides/slide31.xml" Id="R58a2f1f8b061460e" /><Relationship Type="http://schemas.openxmlformats.org/officeDocument/2006/relationships/slide" Target="/ppt/slides/slide32.xml" Id="R385dd29e174647e3" /><Relationship Type="http://schemas.openxmlformats.org/officeDocument/2006/relationships/slide" Target="/ppt/slides/slide33.xml" Id="R7b9eaecbed61480f" /><Relationship Type="http://schemas.openxmlformats.org/officeDocument/2006/relationships/slide" Target="/ppt/slides/slide34.xml" Id="Rce89e3a666b546a8" /><Relationship Type="http://schemas.openxmlformats.org/officeDocument/2006/relationships/slide" Target="/ppt/slides/slide35.xml" Id="R19b913b845734903" /><Relationship Type="http://schemas.openxmlformats.org/officeDocument/2006/relationships/slide" Target="/ppt/slides/slide36.xml" Id="R6f030cd71dab47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c40f1284c24a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c2964fad7746b9" /><Relationship Type="http://schemas.openxmlformats.org/officeDocument/2006/relationships/notesMaster" Target="/ppt/notesMasters/notesMaster1.xml" Id="R749d7cf83ad64a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dbdcea3a1f41b1" /><Relationship Type="http://schemas.openxmlformats.org/officeDocument/2006/relationships/notesMaster" Target="/ppt/notesMasters/notesMaster1.xml" Id="Raa547ad00a1544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1f873286f84fbb" /><Relationship Type="http://schemas.openxmlformats.org/officeDocument/2006/relationships/notesMaster" Target="/ppt/notesMasters/notesMaster1.xml" Id="R4e81842035854b8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208368e800410b" /><Relationship Type="http://schemas.openxmlformats.org/officeDocument/2006/relationships/notesMaster" Target="/ppt/notesMasters/notesMaster1.xml" Id="R1fca2250214e49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2ebaaf5a884ae6" /><Relationship Type="http://schemas.openxmlformats.org/officeDocument/2006/relationships/notesMaster" Target="/ppt/notesMasters/notesMaster1.xml" Id="R7a421b7012bc47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e22eea04964eba" /><Relationship Type="http://schemas.openxmlformats.org/officeDocument/2006/relationships/notesMaster" Target="/ppt/notesMasters/notesMaster1.xml" Id="Rcc323fdfc70f4e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7605b0f0b64d27" /><Relationship Type="http://schemas.openxmlformats.org/officeDocument/2006/relationships/notesMaster" Target="/ppt/notesMasters/notesMaster1.xml" Id="Rde7e0ad221244d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904f60c93a4c7a" /><Relationship Type="http://schemas.openxmlformats.org/officeDocument/2006/relationships/notesMaster" Target="/ppt/notesMasters/notesMaster1.xml" Id="R38cca38a747d47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78b6e62692408e" /><Relationship Type="http://schemas.openxmlformats.org/officeDocument/2006/relationships/notesMaster" Target="/ppt/notesMasters/notesMaster1.xml" Id="R8f391d11d20744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50808f364f4093" /><Relationship Type="http://schemas.openxmlformats.org/officeDocument/2006/relationships/notesMaster" Target="/ppt/notesMasters/notesMaster1.xml" Id="R81f2a5c131064b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77e348dfecd4313" /><Relationship Type="http://schemas.openxmlformats.org/officeDocument/2006/relationships/notesMaster" Target="/ppt/notesMasters/notesMaster1.xml" Id="R5dd09967461c48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bf9d7ae99143ed" /><Relationship Type="http://schemas.openxmlformats.org/officeDocument/2006/relationships/notesMaster" Target="/ppt/notesMasters/notesMaster1.xml" Id="R290f64deb45345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b6d4eaa36347cc" /><Relationship Type="http://schemas.openxmlformats.org/officeDocument/2006/relationships/notesMaster" Target="/ppt/notesMasters/notesMaster1.xml" Id="R92511f82990e41c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352c5e56e454995" /><Relationship Type="http://schemas.openxmlformats.org/officeDocument/2006/relationships/notesMaster" Target="/ppt/notesMasters/notesMaster1.xml" Id="R4c587700145842e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4b88b6847234feb" /><Relationship Type="http://schemas.openxmlformats.org/officeDocument/2006/relationships/notesMaster" Target="/ppt/notesMasters/notesMaster1.xml" Id="R7ea5c83043e3488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f07c089d2b14b94" /><Relationship Type="http://schemas.openxmlformats.org/officeDocument/2006/relationships/notesMaster" Target="/ppt/notesMasters/notesMaster1.xml" Id="Rd2dfaab6355b479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0993ac96e014d22" /><Relationship Type="http://schemas.openxmlformats.org/officeDocument/2006/relationships/notesMaster" Target="/ppt/notesMasters/notesMaster1.xml" Id="Rca11355e1449479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15d9bb892de4320" /><Relationship Type="http://schemas.openxmlformats.org/officeDocument/2006/relationships/notesMaster" Target="/ppt/notesMasters/notesMaster1.xml" Id="Rf19435c543734ee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765a362c3194c79" /><Relationship Type="http://schemas.openxmlformats.org/officeDocument/2006/relationships/notesMaster" Target="/ppt/notesMasters/notesMaster1.xml" Id="R8d66d3bd811e4c7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005aae2c9344ee8" /><Relationship Type="http://schemas.openxmlformats.org/officeDocument/2006/relationships/notesMaster" Target="/ppt/notesMasters/notesMaster1.xml" Id="Rac66692a34b1482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37d5e52a3574653" /><Relationship Type="http://schemas.openxmlformats.org/officeDocument/2006/relationships/notesMaster" Target="/ppt/notesMasters/notesMaster1.xml" Id="Rc4774aacd9444b2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303b8d978a04c22" /><Relationship Type="http://schemas.openxmlformats.org/officeDocument/2006/relationships/notesMaster" Target="/ppt/notesMasters/notesMaster1.xml" Id="R821ad57460214cd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c8cbe3c857a4966" /><Relationship Type="http://schemas.openxmlformats.org/officeDocument/2006/relationships/notesMaster" Target="/ppt/notesMasters/notesMaster1.xml" Id="Ra6329dbeed834b2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b4b8d54f804400f" /><Relationship Type="http://schemas.openxmlformats.org/officeDocument/2006/relationships/notesMaster" Target="/ppt/notesMasters/notesMaster1.xml" Id="Rbfbb2f11dcbd429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9f3254a9977450e" /><Relationship Type="http://schemas.openxmlformats.org/officeDocument/2006/relationships/notesMaster" Target="/ppt/notesMasters/notesMaster1.xml" Id="Rc9c5d1ac6ffa47e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032c6200f2144ab" /><Relationship Type="http://schemas.openxmlformats.org/officeDocument/2006/relationships/notesMaster" Target="/ppt/notesMasters/notesMaster1.xml" Id="Rb6e809e6e4d7419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45eb189c5ee48cf" /><Relationship Type="http://schemas.openxmlformats.org/officeDocument/2006/relationships/notesMaster" Target="/ppt/notesMasters/notesMaster1.xml" Id="R03ff5ee8bb0b43f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7a9661da301467c" /><Relationship Type="http://schemas.openxmlformats.org/officeDocument/2006/relationships/notesMaster" Target="/ppt/notesMasters/notesMaster1.xml" Id="R1d0b6786b0bb41a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8ad0c9b972c4c31" /><Relationship Type="http://schemas.openxmlformats.org/officeDocument/2006/relationships/notesMaster" Target="/ppt/notesMasters/notesMaster1.xml" Id="R2d423408e6d94b2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957ce1781a84f92" /><Relationship Type="http://schemas.openxmlformats.org/officeDocument/2006/relationships/notesMaster" Target="/ppt/notesMasters/notesMaster1.xml" Id="R262c3bea21e24dc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ba82235408e4d65" /><Relationship Type="http://schemas.openxmlformats.org/officeDocument/2006/relationships/notesMaster" Target="/ppt/notesMasters/notesMaster1.xml" Id="Raa13e880e012446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5fbf095215e4e06" /><Relationship Type="http://schemas.openxmlformats.org/officeDocument/2006/relationships/notesMaster" Target="/ppt/notesMasters/notesMaster1.xml" Id="R0c14e3aabcba42e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46886247aae4d4d" /><Relationship Type="http://schemas.openxmlformats.org/officeDocument/2006/relationships/notesMaster" Target="/ppt/notesMasters/notesMaster1.xml" Id="Rc597c5b03b1640e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b7d9905d5484970" /><Relationship Type="http://schemas.openxmlformats.org/officeDocument/2006/relationships/notesMaster" Target="/ppt/notesMasters/notesMaster1.xml" Id="R5772c87a609649c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9c5e9b26c5d4242" /><Relationship Type="http://schemas.openxmlformats.org/officeDocument/2006/relationships/notesMaster" Target="/ppt/notesMasters/notesMaster1.xml" Id="Rca5f2cc39bad494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48c5ea9d3c74005" /><Relationship Type="http://schemas.openxmlformats.org/officeDocument/2006/relationships/notesMaster" Target="/ppt/notesMasters/notesMaster1.xml" Id="R62e88b9f35f44c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resume and presentation context — identity, affiliation, research focus, and Ant Star Intern status.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Synthesis across the five primary papers in this presentation.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Opening claim: knowledge-agent training requires a closed loop spanning knowledge boundaries, executable environments, fine-grained credit, and behavioral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resume update: GAPD accepted to EMNLP 2026 Findings; the TKDE paper lists the student first author; classification label is CCF-A / TH-CPL 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publication timeline update, 2026-08-31: GAPD accepted to EMNLP 2026 Findings; TKDE paper is student-first-author work.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 grouping based on Divide-Then-Align, KBQA-R1, GAPD, EviSD, and HopRefusalBench.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Sections 2.1–2.2 and Figure 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Sections 3.1 and 4.1; Table 1; Appendix J and human validation.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 4.3 and Table 2, nine-metric knowledge-boundary evaluation framework.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Sections 3.2–3.3, Equations 4–6, and Figure 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 4.4 and Table 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Tables 4–5 and Section 4.5.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Sections III–IV.A and Figure 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Sections III and IV.A; KG, executor, action parsing, RRCG, logical-form construction, and observation loop.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The KG harness is the reusable environment layer: different LLMs can be plugged into the same verified interface.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 IV.A.2 and Table II.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 IV.A.3, Relation Retrieval and Confidence Gating.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Sections IV.B–IV.C and Figure 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Tables III–V and Section V.B.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Tables VI–VIII and Sections V.C–V.D.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GAPD problem formulation.</a:t>
            </a:r>
          </a:p>
          <a:p xmlns:a="http://schemas.openxmlformats.org/drawingml/2006/main">
            <a:r>
              <a:t>- https://arxiv.org/abs/2608.01359 — EviSD problem formulation.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Section transition: GAPD and EviSD solve the same credit-assignment problem under different sources of privileged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Section 2.2, outcome-only RL.</a:t>
            </a:r>
          </a:p>
          <a:p xmlns:a="http://schemas.openxmlformats.org/drawingml/2006/main">
            <a:r>
              <a:t>- https://arxiv.org/abs/2608.01359 — credit-assignment motivation and GRPO outcome credit.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Section 3.3, Equations 6–7, Entity-Anchor Matching and conservative filters.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Sections 3.2–3.4 and Figure 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Tables 1–4 and Section 4.2–4.3.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https://arxiv.org/abs/2608.01359 — Instance-level privileged context construction, action-dependent evidence/answer routing, and Appendix teacher prefixes.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https://arxiv.org/abs/2608.01359 — Method section and Figure 2: action masks, detached teacher–student gap, bounded outcome-anchored modulation.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https://arxiv.org/abs/2608.01359 — Tables 1–4, Figures 3–6, and RQ1–RQ4 analyses.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https://arxiv.org/abs/2608.01358 — Sections 2.1–2.4, Table 1, and Figure 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https://arxiv.org/abs/2608.01358 — Section 3 and Table 2, final-state taxonomy, evidence timeline, and paired shift metrics.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https://arxiv.org/abs/2608.01358 — Tables 3–4, Figures 3–4, and Section 4.2.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Search lowers TCHR for nine of ten models; topology and cause control show that verification and stopping are distinct capabilities.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Synthesis based on Divide-Then-Align, KBQA-R1, GAPD, EviSD, and HopRefusalBench.</a:t>
            </a:r>
          </a:p>
          <a:p xmlns:a="http://schemas.openxmlformats.org/drawingml/2006/main">
            <a:r>
              <a:t>- User-provided contact information.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Resolve the opening: reliable knowledge agents need measurement, executable environments, local credit, and calibrated stopping.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Yuque: Agentic jailbreak, section 2.1 Multi-session &amp;&amp; Skill Augmented Harness: https://yuque.antfin.com/fengyi.sx/kdssqn/qma7a55r6panppyy</a:t>
            </a:r>
          </a:p>
          <a:p xmlns:a="http://schemas.openxmlformats.org/drawingml/2006/main">
            <a:r>
              <a:t>- User-authored source-equivalent framework figure: /Users/sunxin/agentic-jailbreak-survey/worktrees/hb200-baselines/docs/figures/multisession_attack_framework.png (SHA-256 d10c13944540459b76e0262e488b97edc762a29008227f4bcf3ce31e87bc6c2b)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https://yuque.antfin.com/fengyi.sx/kdssqn/gky36g797fxv1r5g — Agentic Jailbreak 双周实验周报 8.14；“小 victim 策略迁移到 122B”与“直接在 122B 上训练”，updated 2026-08-18.</a:t>
            </a:r>
          </a:p>
          <a:p xmlns:a="http://schemas.openxmlformats.org/drawingml/2006/main">
            <a:r>
              <a:t>- https://intranetproxy.alipay.com/skylark/lark/0/2026/png/160656393/1786690702406-b9f41a57-e3b2-4e04-aee7-cc92c64d7c79.png — 8B attacker vs. Qwen3.5-122B reward-sparsity training curve.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[Calculation]</a:t>
            </a:r>
          </a:p>
          <a:p xmlns:a="http://schemas.openxmlformats.org/drawingml/2006/main">
            <a:r>
              <a:t>- Small-OOD macro ASR@3: 77.38%.</a:t>
            </a:r>
          </a:p>
          <a:p xmlns:a="http://schemas.openxmlformats.org/drawingml/2006/main">
            <a:r>
              <a:t>- Transferred 122B macro ASR@3: 5.63%.</a:t>
            </a:r>
          </a:p>
          <a:p xmlns:a="http://schemas.openxmlformats.org/drawingml/2006/main">
            <a:r>
              <a:t>- Transfer drop: 77.38 − 5.63 = 71.75 percentage points.</a:t>
            </a:r>
          </a:p>
          <a:p xmlns:a="http://schemas.openxmlformats.org/drawingml/2006/main">
            <a:r>
              <a:t>[/Calculation]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result figure: /Users/sunxin/agentic-jailbreak-survey/assets/multiturn_attacker/yuque_defense/13-mix-training-before-after-zero-shot.png (SHA-256 d52ef16225ea713c79e67ab9128dec6d14432633a4725d4693461be038fd2fc8)</a:t>
            </a:r>
          </a:p>
          <a:p xmlns:a="http://schemas.openxmlformats.org/drawingml/2006/main">
            <a:r>
              <a:t>- Evaluation shown in the figure: Qwen3.5-122B-A10B victim; HarmBench core200; HarmBench-cls; ASR@3.</a:t>
            </a:r>
          </a:p>
          <a:p xmlns:a="http://schemas.openxmlformats.org/drawingml/2006/main">
            <a:r>
              <a:t>- Values shown: 27B historical before-RL reference 28.0%; 122B Heretic zero-shot under current harness 62.5%; bilingual 27B step240 final evaluation 95.5%.</a:t>
            </a:r>
          </a:p>
          <a:p xmlns:a="http://schemas.openxmlformats.org/drawingml/2006/main">
            <a:r>
              <a:t>- Methodology caution: the 28.0% before-RL reference uses a historical 5-turn, no-skill harness. The +67.5 pp change is an end-to-end system difference, not a strict same-protocol pure-RL ablation.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https://yuque.antfin.com/fengyi.sx/kdssqn/qma7a55r6panppyy — final bilingual cross-victim evaluation, updated 2026-08-21.</a:t>
            </a:r>
          </a:p>
          <a:p xmlns:a="http://schemas.openxmlformats.org/drawingml/2006/main">
            <a:r>
              <a:t>- HarmBench core200 ASR@3: Ling 98.5, GLM 98.5, Kimi 97.0, Qwen 95.5.</a:t>
            </a:r>
          </a:p>
          <a:p xmlns:a="http://schemas.openxmlformats.org/drawingml/2006/main">
            <a:r>
              <a:t>- AntEval200 ASR@3: Ling 61.5, GLM 62.5, Kimi 63.0, Qwen 57.0.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[Calculation]</a:t>
            </a:r>
          </a:p>
          <a:p xmlns:a="http://schemas.openxmlformats.org/drawingml/2006/main">
            <a:r>
              <a:t>- HB macro ASR@3 = 97.375%, shown as 97.4%.</a:t>
            </a:r>
          </a:p>
          <a:p xmlns:a="http://schemas.openxmlformats.org/drawingml/2006/main">
            <a:r>
              <a:t>- AntEval macro ASR@3 = 61.0%.</a:t>
            </a:r>
          </a:p>
          <a:p xmlns:a="http://schemas.openxmlformats.org/drawingml/2006/main">
            <a:r>
              <a:t>[/Calculation]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/Users/sunxin/agentic-jailbreak-survey/.codex_tmp/step-judge-analysis-latest/docs/oc_4victim_direct_4dataset.md — latest pulled direct single-turn baseline and canonical base27B skill multi-turn comparison, 2026-08-31.</a:t>
            </a:r>
          </a:p>
          <a:p xmlns:a="http://schemas.openxmlformats.org/drawingml/2006/main">
            <a:r>
              <a:t>- HarmBench direct→multi victim macro: 1.85%→29.45%.</a:t>
            </a:r>
          </a:p>
          <a:p xmlns:a="http://schemas.openxmlformats.org/drawingml/2006/main">
            <a:r>
              <a:t>- JailbreakBench direct→multi victim macro: 1.425%→26.75%.</a:t>
            </a:r>
          </a:p>
          <a:p xmlns:a="http://schemas.openxmlformats.org/drawingml/2006/main">
            <a:r>
              <a:t>- StrongREJECT direct→multi victim macro: 0.30%→23.80%.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[Calculation]</a:t>
            </a:r>
          </a:p>
          <a:p xmlns:a="http://schemas.openxmlformats.org/drawingml/2006/main">
            <a:r>
              <a:t>- Across HB/JBB/SR × four victims: direct macro = 14.3/12 = 1.19%; multi-turn macro = 320.0/12 = 26.67%; uplift = 25.48pp; relative = 22.4×.</a:t>
            </a:r>
          </a:p>
          <a:p xmlns:a="http://schemas.openxmlformats.org/drawingml/2006/main">
            <a:r>
              <a:t>[/Calculation]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[Protocol]</a:t>
            </a:r>
          </a:p>
          <a:p xmlns:a="http://schemas.openxmlformats.org/drawingml/2006/main">
            <a:r>
              <a:t>- Direct = objective sent verbatim once, without an attacker LLM. Multi-turn = canonical base27B skill arm. Errors count as failures.</a:t>
            </a:r>
          </a:p>
          <a:p xmlns:a="http://schemas.openxmlformats.org/drawingml/2006/main">
            <a:r>
              <a:t>[/Protocol]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/Users/sunxin/agentic-jailbreak-survey/reports/yuque_section4_restructured.md — pure-English 27B held-out cross-dataset results.</a:t>
            </a:r>
          </a:p>
          <a:p xmlns:a="http://schemas.openxmlformats.org/drawingml/2006/main">
            <a:r>
              <a:t>- /Users/sunxin/agentic-jailbreak-survey/assets/multiturn_attacker/yuque_defense/20-english27b-cross-dataset-zh.png — chart generated from the reported values.</a:t>
            </a:r>
          </a:p>
          <a:p xmlns:a="http://schemas.openxmlformats.org/drawingml/2006/main">
            <a:r>
              <a:t>- HarmBench core200: 95.5% ASR@3; JailbreakBench: 93.8%; StrongREJECT: 96.0%.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e4fe5fb71b48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8a9a0936294525" /><Relationship Type="http://schemas.openxmlformats.org/officeDocument/2006/relationships/slideLayout" Target="/ppt/slideLayouts/slideLayout1.xml" Id="R2447a51243f542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47a51243f542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fc2f7d8fe4310" /><Relationship Type="http://schemas.openxmlformats.org/officeDocument/2006/relationships/notesSlide" Target="/ppt/notesSlides/notesSlide1.xml" Id="R7242e26eb9204d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087edf20c946e5" /><Relationship Type="http://schemas.openxmlformats.org/officeDocument/2006/relationships/notesSlide" Target="/ppt/notesSlides/notesSlide2.xml" Id="Rf442296805ea49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2714af2974333" /><Relationship Type="http://schemas.openxmlformats.org/officeDocument/2006/relationships/notesSlide" Target="/ppt/notesSlides/notesSlide3.xml" Id="Rd8e64f5c1ac542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a3af46e2846db" /><Relationship Type="http://schemas.openxmlformats.org/officeDocument/2006/relationships/notesSlide" Target="/ppt/notesSlides/notesSlide4.xml" Id="R1cd626bdb9e540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0250204bb48a7" /><Relationship Type="http://schemas.openxmlformats.org/officeDocument/2006/relationships/notesSlide" Target="/ppt/notesSlides/notesSlide5.xml" Id="R634f57984b9441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22b92f39f44fc" /><Relationship Type="http://schemas.openxmlformats.org/officeDocument/2006/relationships/image" Target="/ppt/media/image.png" Id="R0ce3d19e7e9f4a57" /><Relationship Type="http://schemas.openxmlformats.org/officeDocument/2006/relationships/notesSlide" Target="/ppt/notesSlides/notesSlide6.xml" Id="R6ecee23e9db946f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00d82b4af443c" /><Relationship Type="http://schemas.openxmlformats.org/officeDocument/2006/relationships/notesSlide" Target="/ppt/notesSlides/notesSlide7.xml" Id="Ra2b1c3903c1c4c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1eec3a0d14d36" /><Relationship Type="http://schemas.openxmlformats.org/officeDocument/2006/relationships/image" Target="/ppt/media/image2.png" Id="R1471095f011843a5" /><Relationship Type="http://schemas.openxmlformats.org/officeDocument/2006/relationships/notesSlide" Target="/ppt/notesSlides/notesSlide8.xml" Id="Rc3bbeb49fae74f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bab7302a345b4" /><Relationship Type="http://schemas.openxmlformats.org/officeDocument/2006/relationships/image" Target="/ppt/media/image3.png" Id="Rdfacf2e241004a97" /><Relationship Type="http://schemas.openxmlformats.org/officeDocument/2006/relationships/notesSlide" Target="/ppt/notesSlides/notesSlide9.xml" Id="R219fcabb7e2d46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d82063f5cb463d" /><Relationship Type="http://schemas.openxmlformats.org/officeDocument/2006/relationships/image" Target="/ppt/media/image4.png" Id="Rdefdf3fc2b4b436f" /><Relationship Type="http://schemas.openxmlformats.org/officeDocument/2006/relationships/notesSlide" Target="/ppt/notesSlides/notesSlide10.xml" Id="R8279ebf563db48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f03d88fc44f54" /><Relationship Type="http://schemas.openxmlformats.org/officeDocument/2006/relationships/image" Target="/ppt/media/image5.png" Id="R346a25df8e6b4a00" /><Relationship Type="http://schemas.openxmlformats.org/officeDocument/2006/relationships/notesSlide" Target="/ppt/notesSlides/notesSlide11.xml" Id="R6cbd0ccddabc4a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8588560554256" /><Relationship Type="http://schemas.openxmlformats.org/officeDocument/2006/relationships/image" Target="/ppt/media/image6.png" Id="Rfd256c15ada54995" /><Relationship Type="http://schemas.openxmlformats.org/officeDocument/2006/relationships/notesSlide" Target="/ppt/notesSlides/notesSlide12.xml" Id="R2a5c23d5188e4b0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892b48a5f4a66" /><Relationship Type="http://schemas.openxmlformats.org/officeDocument/2006/relationships/notesSlide" Target="/ppt/notesSlides/notesSlide13.xml" Id="R00cb12e4873c4c8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263588a7b47a6" /><Relationship Type="http://schemas.openxmlformats.org/officeDocument/2006/relationships/notesSlide" Target="/ppt/notesSlides/notesSlide14.xml" Id="Re5b9a9a015ba4d7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6d51c89e44e36" /><Relationship Type="http://schemas.openxmlformats.org/officeDocument/2006/relationships/notesSlide" Target="/ppt/notesSlides/notesSlide15.xml" Id="R14f9ba137ea94fb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6177edca445ce" /><Relationship Type="http://schemas.openxmlformats.org/officeDocument/2006/relationships/image" Target="/ppt/media/image7.png" Id="Rb022e874f15c4698" /><Relationship Type="http://schemas.openxmlformats.org/officeDocument/2006/relationships/notesSlide" Target="/ppt/notesSlides/notesSlide16.xml" Id="R9e4f8802457742f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7991e52b44900" /><Relationship Type="http://schemas.openxmlformats.org/officeDocument/2006/relationships/chart" Target="/ppt/slides/charts/chart1.xml" Id="R3e6c0794c7794bf2" /><Relationship Type="http://schemas.openxmlformats.org/officeDocument/2006/relationships/notesSlide" Target="/ppt/notesSlides/notesSlide17.xml" Id="Rdd64d69b9d0c488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ebfdbcde04567" /><Relationship Type="http://schemas.openxmlformats.org/officeDocument/2006/relationships/notesSlide" Target="/ppt/notesSlides/notesSlide18.xml" Id="Rf20e78dd6a244d5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b02a830f74a0d" /><Relationship Type="http://schemas.openxmlformats.org/officeDocument/2006/relationships/notesSlide" Target="/ppt/notesSlides/notesSlide19.xml" Id="R6a2810d5c9744d3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b1cf3c5974438" /><Relationship Type="http://schemas.openxmlformats.org/officeDocument/2006/relationships/notesSlide" Target="/ppt/notesSlides/notesSlide20.xml" Id="Ra60783d855d0413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129d0ccc624e68" /><Relationship Type="http://schemas.openxmlformats.org/officeDocument/2006/relationships/notesSlide" Target="/ppt/notesSlides/notesSlide21.xml" Id="R1064a0e743cf40c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e991e543043f8" /><Relationship Type="http://schemas.openxmlformats.org/officeDocument/2006/relationships/image" Target="/ppt/media/image8.png" Id="R9de8f4a552e642c6" /><Relationship Type="http://schemas.openxmlformats.org/officeDocument/2006/relationships/notesSlide" Target="/ppt/notesSlides/notesSlide22.xml" Id="Rfe61c5f37319482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d37d6f38048ab" /><Relationship Type="http://schemas.openxmlformats.org/officeDocument/2006/relationships/chart" Target="/ppt/slides/charts/chart2.xml" Id="R05726e1bee844579" /><Relationship Type="http://schemas.openxmlformats.org/officeDocument/2006/relationships/notesSlide" Target="/ppt/notesSlides/notesSlide23.xml" Id="R20b812eea8b44b2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0c4aa2ba2475e" /><Relationship Type="http://schemas.openxmlformats.org/officeDocument/2006/relationships/notesSlide" Target="/ppt/notesSlides/notesSlide24.xml" Id="R37eb28c2fbb9449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26a57f84f4113" /><Relationship Type="http://schemas.openxmlformats.org/officeDocument/2006/relationships/image" Target="/ppt/media/image9.png" Id="Rcb0499354ac44a4f" /><Relationship Type="http://schemas.openxmlformats.org/officeDocument/2006/relationships/notesSlide" Target="/ppt/notesSlides/notesSlide25.xml" Id="R6a85b8684b2b4e1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f9a3c20994cad" /><Relationship Type="http://schemas.openxmlformats.org/officeDocument/2006/relationships/image" Target="/ppt/media/image10.png" Id="Rd5c73961ffac4768" /><Relationship Type="http://schemas.openxmlformats.org/officeDocument/2006/relationships/notesSlide" Target="/ppt/notesSlides/notesSlide26.xml" Id="R346cfe710c45433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3a69ce937494c" /><Relationship Type="http://schemas.openxmlformats.org/officeDocument/2006/relationships/image" Target="/ppt/media/image11.png" Id="Rb36b378b0ca24aad" /><Relationship Type="http://schemas.openxmlformats.org/officeDocument/2006/relationships/notesSlide" Target="/ppt/notesSlides/notesSlide27.xml" Id="Rb8b9f5ceac4f41f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78426df1b497f" /><Relationship Type="http://schemas.openxmlformats.org/officeDocument/2006/relationships/notesSlide" Target="/ppt/notesSlides/notesSlide28.xml" Id="R6339866864a646f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4a045c5c8412c" /><Relationship Type="http://schemas.openxmlformats.org/officeDocument/2006/relationships/chart" Target="/ppt/slides/charts/chart3.xml" Id="R3d8634c1956c4e09" /><Relationship Type="http://schemas.openxmlformats.org/officeDocument/2006/relationships/notesSlide" Target="/ppt/notesSlides/notesSlide29.xml" Id="R609b42dc22bb449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2aef09b62f4db4" /><Relationship Type="http://schemas.openxmlformats.org/officeDocument/2006/relationships/notesSlide" Target="/ppt/notesSlides/notesSlide30.xml" Id="R4712931b3ce8409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4e1dd0555496a" /><Relationship Type="http://schemas.openxmlformats.org/officeDocument/2006/relationships/image" Target="/ppt/media/image12.png" Id="R4e98fe6532be4f2f" /><Relationship Type="http://schemas.openxmlformats.org/officeDocument/2006/relationships/notesSlide" Target="/ppt/notesSlides/notesSlide31.xml" Id="R878725d663c94f9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560990b564572" /><Relationship Type="http://schemas.openxmlformats.org/officeDocument/2006/relationships/image" Target="/ppt/media/image13.png" Id="R96df1865a235462b" /><Relationship Type="http://schemas.openxmlformats.org/officeDocument/2006/relationships/notesSlide" Target="/ppt/notesSlides/notesSlide32.xml" Id="Rd9f8e3e4f2d8406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ed2e0f346400f" /><Relationship Type="http://schemas.openxmlformats.org/officeDocument/2006/relationships/image" Target="/ppt/media/image14.png" Id="Rf813a6eb50b54040" /><Relationship Type="http://schemas.openxmlformats.org/officeDocument/2006/relationships/notesSlide" Target="/ppt/notesSlides/notesSlide33.xml" Id="R5105968125e141f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92c5a516c4b1e" /><Relationship Type="http://schemas.openxmlformats.org/officeDocument/2006/relationships/chart" Target="/ppt/slides/charts/chart4.xml" Id="R6511872d63564cb2" /><Relationship Type="http://schemas.openxmlformats.org/officeDocument/2006/relationships/notesSlide" Target="/ppt/notesSlides/notesSlide34.xml" Id="R01938aa7b7fa462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66e6867664e84" /><Relationship Type="http://schemas.openxmlformats.org/officeDocument/2006/relationships/chart" Target="/ppt/slides/charts/chart5.xml" Id="R1b5559c47ede4bde" /><Relationship Type="http://schemas.openxmlformats.org/officeDocument/2006/relationships/notesSlide" Target="/ppt/notesSlides/notesSlide35.xml" Id="R8d704abea41442d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629c931404200" /><Relationship Type="http://schemas.openxmlformats.org/officeDocument/2006/relationships/image" Target="/ppt/media/image15.png" Id="Rf82d06928d584e65" /><Relationship Type="http://schemas.openxmlformats.org/officeDocument/2006/relationships/notesSlide" Target="/ppt/notesSlides/notesSlide36.xml" Id="R07efae25998b4c66" 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KBQA-o1</c:v>
          </c:tx>
          <c:spPr>
            <a:solidFill xmlns:a="http://schemas.openxmlformats.org/drawingml/2006/main">
              <a:srgbClr val="6DCBF4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WebQSP</c:v>
              </c:pt>
              <c:pt idx="1">
                <c:v>GraphQ</c:v>
              </c:pt>
              <c:pt idx="2">
                <c:v>GrailQA</c:v>
              </c:pt>
            </c:strLit>
          </c:cat>
          <c:val>
            <c:numLit>
              <c:formatCode>General</c:formatCode>
              <c:ptCount val="3"/>
              <c:pt idx="0">
                <c:v>57.8</c:v>
              </c:pt>
              <c:pt idx="1">
                <c:v>48.7</c:v>
              </c:pt>
              <c:pt idx="2">
                <c:v>78.5</c:v>
              </c:pt>
            </c:numLit>
          </c:val>
        </c:ser>
        <c:ser>
          <c:idx val="1"/>
          <c:order val="1"/>
          <c:tx>
            <c:v>KBQA-R1</c:v>
          </c:tx>
          <c:spPr>
            <a:solidFill xmlns:a="http://schemas.openxmlformats.org/drawingml/2006/main">
              <a:srgbClr val="3D8DFF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WebQSP</c:v>
              </c:pt>
              <c:pt idx="1">
                <c:v>GraphQ</c:v>
              </c:pt>
              <c:pt idx="2">
                <c:v>GrailQA</c:v>
              </c:pt>
            </c:strLit>
          </c:cat>
          <c:val>
            <c:numLit>
              <c:formatCode>General</c:formatCode>
              <c:ptCount val="3"/>
              <c:pt idx="0">
                <c:v>83.4</c:v>
              </c:pt>
              <c:pt idx="1">
                <c:v>53.8</c:v>
              </c:pt>
              <c:pt idx="2">
                <c:v>86.1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crosses val="autoZero"/>
        <c:lblOffset val="100"/>
      </c:catAx>
      <c:valAx>
        <c:axId val="48672768"/>
        <c:scaling>
          <c:orientation val="minMax"/>
          <c:max val="95"/>
          <c:min val="3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A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es val="autoZero"/>
        <c:crossBetween val="between"/>
        <c:majorUnit val="1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Outcome-only</c:v>
          </c:tx>
          <c:spPr>
            <a:solidFill xmlns:a="http://schemas.openxmlformats.org/drawingml/2006/main">
              <a:srgbClr val="6DCBF4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WebQSP</c:v>
              </c:pt>
              <c:pt idx="1">
                <c:v>GrailQA</c:v>
              </c:pt>
              <c:pt idx="2">
                <c:v>GraphQ</c:v>
              </c:pt>
            </c:strLit>
          </c:cat>
          <c:val>
            <c:numLit>
              <c:formatCode>General</c:formatCode>
              <c:ptCount val="3"/>
              <c:pt idx="0">
                <c:v>83.4</c:v>
              </c:pt>
              <c:pt idx="1">
                <c:v>86.1</c:v>
              </c:pt>
              <c:pt idx="2">
                <c:v>53.8</c:v>
              </c:pt>
            </c:numLit>
          </c:val>
        </c:ser>
        <c:ser>
          <c:idx val="1"/>
          <c:order val="1"/>
          <c:tx>
            <c:v>GAPD</c:v>
          </c:tx>
          <c:spPr>
            <a:solidFill xmlns:a="http://schemas.openxmlformats.org/drawingml/2006/main">
              <a:srgbClr val="F07B4F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WebQSP</c:v>
              </c:pt>
              <c:pt idx="1">
                <c:v>GrailQA</c:v>
              </c:pt>
              <c:pt idx="2">
                <c:v>GraphQ</c:v>
              </c:pt>
            </c:strLit>
          </c:cat>
          <c:val>
            <c:numLit>
              <c:formatCode>General</c:formatCode>
              <c:ptCount val="3"/>
              <c:pt idx="0">
                <c:v>86.1</c:v>
              </c:pt>
              <c:pt idx="1">
                <c:v>89.5</c:v>
              </c:pt>
              <c:pt idx="2">
                <c:v>55.1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crosses val="autoZero"/>
        <c:lblOffset val="100"/>
      </c:catAx>
      <c:valAx>
        <c:axId val="48672768"/>
        <c:scaling>
          <c:orientation val="minMax"/>
          <c:max val="95"/>
          <c:min val="4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A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es val="autoZero"/>
        <c:crossBetween val="between"/>
        <c:majorUnit val="1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No-search TCHR</c:v>
          </c:tx>
          <c:spPr>
            <a:solidFill xmlns:a="http://schemas.openxmlformats.org/drawingml/2006/main">
              <a:srgbClr val="6DCBF4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5"/>
              <c:pt idx="0">
                <c:v>GPT-5.4</c:v>
              </c:pt>
              <c:pt idx="1">
                <c:v>Claude-Sonnet-5</c:v>
              </c:pt>
              <c:pt idx="2">
                <c:v>Qwen3.5-397B</c:v>
              </c:pt>
              <c:pt idx="3">
                <c:v>Kimi-K2.6</c:v>
              </c:pt>
              <c:pt idx="4">
                <c:v>Qwen3.6-27B</c:v>
              </c:pt>
            </c:strLit>
          </c:cat>
          <c:val>
            <c:numLit>
              <c:formatCode>General</c:formatCode>
              <c:ptCount val="5"/>
              <c:pt idx="0">
                <c:v>28.5</c:v>
              </c:pt>
              <c:pt idx="1">
                <c:v>39.6</c:v>
              </c:pt>
              <c:pt idx="2">
                <c:v>41.4</c:v>
              </c:pt>
              <c:pt idx="3">
                <c:v>36.8</c:v>
              </c:pt>
              <c:pt idx="4">
                <c:v>34.4</c:v>
              </c:pt>
            </c:numLit>
          </c:val>
        </c:ser>
        <c:ser>
          <c:idx val="1"/>
          <c:order val="1"/>
          <c:tx>
            <c:v>Search TCHR</c:v>
          </c:tx>
          <c:spPr>
            <a:solidFill xmlns:a="http://schemas.openxmlformats.org/drawingml/2006/main">
              <a:srgbClr val="3D8DFF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5"/>
              <c:pt idx="0">
                <c:v>GPT-5.4</c:v>
              </c:pt>
              <c:pt idx="1">
                <c:v>Claude-Sonnet-5</c:v>
              </c:pt>
              <c:pt idx="2">
                <c:v>Qwen3.5-397B</c:v>
              </c:pt>
              <c:pt idx="3">
                <c:v>Kimi-K2.6</c:v>
              </c:pt>
              <c:pt idx="4">
                <c:v>Qwen3.6-27B</c:v>
              </c:pt>
            </c:strLit>
          </c:cat>
          <c:val>
            <c:numLit>
              <c:formatCode>General</c:formatCode>
              <c:ptCount val="5"/>
              <c:pt idx="0">
                <c:v>25.2</c:v>
              </c:pt>
              <c:pt idx="1">
                <c:v>26.8</c:v>
              </c:pt>
              <c:pt idx="2">
                <c:v>42.9</c:v>
              </c:pt>
              <c:pt idx="3">
                <c:v>24</c:v>
              </c:pt>
              <c:pt idx="4">
                <c:v>16.2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crosses val="autoZero"/>
        <c:lblOffset val="100"/>
      </c:catAx>
      <c:valAx>
        <c:axId val="48672768"/>
        <c:scaling>
          <c:orientation val="minMax"/>
          <c:max val="5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A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es val="autoZero"/>
        <c:crossBetween val="between"/>
        <c:majorUnit val="1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HB ASR@3</c:v>
          </c:tx>
          <c:spPr>
            <a:solidFill xmlns:a="http://schemas.openxmlformats.org/drawingml/2006/main">
              <a:srgbClr val="2F6DF6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Ling-3.0</c:v>
              </c:pt>
              <c:pt idx="1">
                <c:v>GLM-5.2</c:v>
              </c:pt>
              <c:pt idx="2">
                <c:v>Kimi-K2.6</c:v>
              </c:pt>
              <c:pt idx="3">
                <c:v>Qwen3.5-122B</c:v>
              </c:pt>
            </c:strLit>
          </c:cat>
          <c:val>
            <c:numLit>
              <c:formatCode>General</c:formatCode>
              <c:ptCount val="4"/>
              <c:pt idx="0">
                <c:v>98.5</c:v>
              </c:pt>
              <c:pt idx="1">
                <c:v>98.5</c:v>
              </c:pt>
              <c:pt idx="2">
                <c:v>97</c:v>
              </c:pt>
              <c:pt idx="3">
                <c:v>95.5</c:v>
              </c:pt>
            </c:numLit>
          </c:val>
        </c:ser>
        <c:ser>
          <c:idx val="1"/>
          <c:order val="1"/>
          <c:tx>
            <c:v>AntEval ASR@3</c:v>
          </c:tx>
          <c:spPr>
            <a:solidFill xmlns:a="http://schemas.openxmlformats.org/drawingml/2006/main">
              <a:srgbClr val="5EC4BD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Ling-3.0</c:v>
              </c:pt>
              <c:pt idx="1">
                <c:v>GLM-5.2</c:v>
              </c:pt>
              <c:pt idx="2">
                <c:v>Kimi-K2.6</c:v>
              </c:pt>
              <c:pt idx="3">
                <c:v>Qwen3.5-122B</c:v>
              </c:pt>
            </c:strLit>
          </c:cat>
          <c:val>
            <c:numLit>
              <c:formatCode>General</c:formatCode>
              <c:ptCount val="4"/>
              <c:pt idx="0">
                <c:v>61.5</c:v>
              </c:pt>
              <c:pt idx="1">
                <c:v>62.5</c:v>
              </c:pt>
              <c:pt idx="2">
                <c:v>63</c:v>
              </c:pt>
              <c:pt idx="3">
                <c:v>57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F293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crosses val="autoZero"/>
        <c:lblOffset val="10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AAB3C0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B7280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es val="autoZero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5961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900" b="1">
                <a:solidFill>
                  <a:srgbClr val="334155"/>
                </a:solidFill>
              </a:rPr>
              <a:t>Victim macro ASR (%) · 4 victims per dataset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 b="1">
              <a:solidFill>
                <a:srgbClr val="334155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Direct</c:v>
          </c:tx>
          <c:spPr>
            <a:solidFill xmlns:a="http://schemas.openxmlformats.org/drawingml/2006/main">
              <a:srgbClr val="CBD5E1"/>
            </a:solidFill>
          </c:spPr>
          <c:cat>
            <c:strLit>
              <c:ptCount val="3"/>
              <c:pt idx="0">
                <c:v>HarmBench</c:v>
              </c:pt>
              <c:pt idx="1">
                <c:v>JailbreakBench</c:v>
              </c:pt>
              <c:pt idx="2">
                <c:v>StrongREJECT</c:v>
              </c:pt>
            </c:strLit>
          </c:cat>
          <c:val>
            <c:numLit>
              <c:formatCode>0.0</c:formatCode>
              <c:ptCount val="3"/>
              <c:pt idx="0">
                <c:v>1.85</c:v>
              </c:pt>
              <c:pt idx="1">
                <c:v>1.425</c:v>
              </c:pt>
              <c:pt idx="2">
                <c:v>0.3</c:v>
              </c:pt>
            </c:numLit>
          </c:val>
        </c:ser>
        <c:ser>
          <c:idx val="1"/>
          <c:order val="1"/>
          <c:tx>
            <c:v>Multi-turn</c:v>
          </c:tx>
          <c:spPr>
            <a:solidFill xmlns:a="http://schemas.openxmlformats.org/drawingml/2006/main">
              <a:srgbClr val="2F6DF6"/>
            </a:solidFill>
          </c:spPr>
          <c:cat>
            <c:strLit>
              <c:ptCount val="3"/>
              <c:pt idx="0">
                <c:v>HarmBench</c:v>
              </c:pt>
              <c:pt idx="1">
                <c:v>JailbreakBench</c:v>
              </c:pt>
              <c:pt idx="2">
                <c:v>StrongREJECT</c:v>
              </c:pt>
            </c:strLit>
          </c:cat>
          <c:val>
            <c:numLit>
              <c:formatCode>0.0</c:formatCode>
              <c:ptCount val="3"/>
              <c:pt idx="0">
                <c:v>29.45</c:v>
              </c:pt>
              <c:pt idx="1">
                <c:v>26.75</c:v>
              </c:pt>
              <c:pt idx="2">
                <c:v>23.8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F293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4748B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5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33415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475569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69C6A64-3744-473F-BC6E-2BD664C1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孙鑫 · 研究答辩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5C0EB07-689F-4A71-9528-54F45BAD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828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61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知识智能体的训练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A5296AD-E411-46E7-AB89-4E1CD916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909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知识边界 · 可执行交互 · 细粒度信用分配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A669374-FDDA-46CF-B084-E4E64C50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中国科学技术大学 / 中国科学院自动化研究所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蚂蚁集团机器智能部门 · 蚂蚁星实习生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4F2CA34-EF3B-4850-A0EB-0DDB9A96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95450"/>
            <a:ext cx="30099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  <a:p xmlns:a="http://schemas.openxmlformats.org/drawingml/2006/main"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ENVIRONMENT</a:t>
            </a:r>
          </a:p>
          <a:p xmlns:a="http://schemas.openxmlformats.org/drawingml/2006/main"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CREDIT</a:t>
            </a:r>
          </a:p>
          <a:p xmlns:a="http://schemas.openxmlformats.org/drawingml/2006/main"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EVALUATION</a:t>
            </a:r>
          </a:p>
        </p:txBody>
      </p:sp>
      <p:sp>
        <p:nvSpPr>
          <p:cNvPr id="6" name="cover-mark">
            <a:extLst xmlns:a="http://schemas.openxmlformats.org/drawingml/2006/main">
              <a:ext uri="{FF2B5EF4-FFF2-40B4-BE49-F238E27FC236}">
                <a16:creationId xmlns:a16="http://schemas.microsoft.com/office/drawing/2014/main" id="{268D44E1-8C5B-4FAA-8899-5D2FD937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619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41227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37265312-4427-442A-906B-29BC5115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研究主线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6513625-7A33-4AF1-B234-ADEFB84B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10287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知识智能体训练，需要把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知识、交互与反馈连成闭环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FEC5790-8378-44E4-A405-E3A8B878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56F233E-2DC5-4612-AC75-7D10FEAB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14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边界建模</a:t>
            </a:r>
          </a:p>
        </p:txBody>
      </p:sp>
      <p:cxnSp>
        <p:nvCxnSpPr>
          <p:cNvPr id="496" name="rule"/>
          <p:cNvCxnSpPr/>
          <p:nvPr/>
        </p:nvCxnSpPr>
        <p:spPr>
          <a:xfrm xmlns:a="http://schemas.openxmlformats.org/drawingml/2006/main">
            <a:off x="400050" y="5505450"/>
            <a:ext cx="23050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ED7B951-9B32-480B-A4C0-D3A300B8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953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3536F27-E389-4B1D-B1C9-115BD367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914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环境构建</a:t>
            </a:r>
          </a:p>
        </p:txBody>
      </p:sp>
      <p:cxnSp>
        <p:nvCxnSpPr>
          <p:cNvPr id="499" name="rule"/>
          <p:cNvCxnSpPr/>
          <p:nvPr/>
        </p:nvCxnSpPr>
        <p:spPr>
          <a:xfrm xmlns:a="http://schemas.openxmlformats.org/drawingml/2006/main">
            <a:off x="3181350" y="5505450"/>
            <a:ext cx="23050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F7FFD7C-6AEE-4E37-B911-253D99C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953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A93F1E5-C63B-49AA-AE9B-F6C603B2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14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信用分配</a:t>
            </a:r>
          </a:p>
        </p:txBody>
      </p:sp>
      <p:cxnSp>
        <p:nvCxnSpPr>
          <p:cNvPr id="502" name="rule"/>
          <p:cNvCxnSpPr/>
          <p:nvPr/>
        </p:nvCxnSpPr>
        <p:spPr>
          <a:xfrm xmlns:a="http://schemas.openxmlformats.org/drawingml/2006/main">
            <a:off x="5962650" y="5505450"/>
            <a:ext cx="23050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702B1F8-ED0D-4666-B1F5-F6750CED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953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DAAFFD3-11CC-4CF0-B5DB-CB94F980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14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行为评测</a:t>
            </a:r>
          </a:p>
        </p:txBody>
      </p:sp>
      <p:cxnSp>
        <p:nvCxnSpPr>
          <p:cNvPr id="505" name="rule"/>
          <p:cNvCxnSpPr/>
          <p:nvPr/>
        </p:nvCxnSpPr>
        <p:spPr>
          <a:xfrm xmlns:a="http://schemas.openxmlformats.org/drawingml/2006/main">
            <a:off x="8743950" y="5505450"/>
            <a:ext cx="23050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090789BC-6C2F-4492-8576-F2BF2E17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KNOWLEDGE AGENT TRAINING</a:t>
            </a:r>
          </a:p>
        </p:txBody>
      </p:sp>
    </p:spTree>
    <p:extLst>
      <p:ext uri="{BB962C8B-B14F-4D97-AF65-F5344CB8AC3E}">
        <p14:creationId xmlns:p14="http://schemas.microsoft.com/office/powerpoint/2010/main" val="20310522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C029253-8E61-4228-B9C5-5D78E6D9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PROFILE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27CE36-F840-4231-967C-A2D4BF86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个人简介：研究经历与成果概览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4CB25D33-834A-4A69-88AC-6EE759B8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032A07-03E6-4184-9954-C3FCB2DF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4C11794-7D45-4870-89AE-6E344E23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中国科学技术大学博士 · 中科院自动化所 NLPR 联培 · 蚂蚁集团机器智能部门蚂蚁星实习生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7DDCD51-EE2E-4E2C-BE23-E15DC128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1391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导师：王亮 教授（IEEE Fellow）、刘强 副研究员 · 研究生国家奖学金（2024）</a:t>
            </a:r>
          </a:p>
        </p:txBody>
      </p:sp>
      <p:sp>
        <p:nvSpPr>
          <p:cNvPr id="7" name="metric-一作 / 共同一作">
            <a:extLst xmlns:a="http://schemas.openxmlformats.org/drawingml/2006/main">
              <a:ext uri="{FF2B5EF4-FFF2-40B4-BE49-F238E27FC236}">
                <a16:creationId xmlns:a16="http://schemas.microsoft.com/office/drawing/2014/main" id="{61A3109A-2C4A-46EF-9977-07003446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429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一作 / 共同一作">
            <a:extLst xmlns:a="http://schemas.openxmlformats.org/drawingml/2006/main">
              <a:ext uri="{FF2B5EF4-FFF2-40B4-BE49-F238E27FC236}">
                <a16:creationId xmlns:a16="http://schemas.microsoft.com/office/drawing/2014/main" id="{564BB8A2-BE04-4412-9FE1-F3ED118C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2971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9" name="metric-label-一作 / 共同一作">
            <a:extLst xmlns:a="http://schemas.openxmlformats.org/drawingml/2006/main">
              <a:ext uri="{FF2B5EF4-FFF2-40B4-BE49-F238E27FC236}">
                <a16:creationId xmlns:a16="http://schemas.microsoft.com/office/drawing/2014/main" id="{B903E06F-807E-4176-9317-DE91798C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910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一作 / 共同一作</a:t>
            </a:r>
          </a:p>
        </p:txBody>
      </p:sp>
      <p:sp>
        <p:nvSpPr>
          <p:cNvPr id="10" name="metric-note-一作 / 共同一作">
            <a:extLst xmlns:a="http://schemas.openxmlformats.org/drawingml/2006/main">
              <a:ext uri="{FF2B5EF4-FFF2-40B4-BE49-F238E27FC236}">
                <a16:creationId xmlns:a16="http://schemas.microsoft.com/office/drawing/2014/main" id="{AC801B47-F387-47C7-AB9C-A137AEEB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48200"/>
            <a:ext cx="2971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RAG / Agent RL</a:t>
            </a:r>
          </a:p>
        </p:txBody>
      </p:sp>
      <p:sp>
        <p:nvSpPr>
          <p:cNvPr id="11" name="metric-已发表一作 / 共一">
            <a:extLst xmlns:a="http://schemas.openxmlformats.org/drawingml/2006/main">
              <a:ext uri="{FF2B5EF4-FFF2-40B4-BE49-F238E27FC236}">
                <a16:creationId xmlns:a16="http://schemas.microsoft.com/office/drawing/2014/main" id="{D5D15525-5258-4C1D-8BA9-2B4D2CB3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43250"/>
            <a:ext cx="3429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已发表一作 / 共一">
            <a:extLst xmlns:a="http://schemas.openxmlformats.org/drawingml/2006/main">
              <a:ext uri="{FF2B5EF4-FFF2-40B4-BE49-F238E27FC236}">
                <a16:creationId xmlns:a16="http://schemas.microsoft.com/office/drawing/2014/main" id="{9C34DD12-D8C0-4AB9-900E-A2ACB9B8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71850"/>
            <a:ext cx="2971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13" name="metric-label-已发表一作 / 共一">
            <a:extLst xmlns:a="http://schemas.openxmlformats.org/drawingml/2006/main">
              <a:ext uri="{FF2B5EF4-FFF2-40B4-BE49-F238E27FC236}">
                <a16:creationId xmlns:a16="http://schemas.microsoft.com/office/drawing/2014/main" id="{1B02DA9B-39FF-45A4-A1B2-62908BE1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1910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已发表一作 / 共一</a:t>
            </a:r>
          </a:p>
        </p:txBody>
      </p:sp>
      <p:sp>
        <p:nvSpPr>
          <p:cNvPr id="14" name="metric-note-已发表一作 / 共一">
            <a:extLst xmlns:a="http://schemas.openxmlformats.org/drawingml/2006/main">
              <a:ext uri="{FF2B5EF4-FFF2-40B4-BE49-F238E27FC236}">
                <a16:creationId xmlns:a16="http://schemas.microsoft.com/office/drawing/2014/main" id="{560C59E8-D6AE-4D3F-B5A0-E2452045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48200"/>
            <a:ext cx="2971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CCF-A / TH-CPL A：6 篇
CCF-B：1 篇</a:t>
            </a:r>
          </a:p>
        </p:txBody>
      </p:sp>
      <p:sp>
        <p:nvSpPr>
          <p:cNvPr id="15" name="metric-当前投稿">
            <a:extLst xmlns:a="http://schemas.openxmlformats.org/drawingml/2006/main">
              <a:ext uri="{FF2B5EF4-FFF2-40B4-BE49-F238E27FC236}">
                <a16:creationId xmlns:a16="http://schemas.microsoft.com/office/drawing/2014/main" id="{F2610F6A-39C0-441F-A433-8FC3AC94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429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etric-stat-当前投稿">
            <a:extLst xmlns:a="http://schemas.openxmlformats.org/drawingml/2006/main">
              <a:ext uri="{FF2B5EF4-FFF2-40B4-BE49-F238E27FC236}">
                <a16:creationId xmlns:a16="http://schemas.microsoft.com/office/drawing/2014/main" id="{B900CE33-FAF7-4BF8-BF52-7C850AF8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71850"/>
            <a:ext cx="2971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7" name="metric-label-当前投稿">
            <a:extLst xmlns:a="http://schemas.openxmlformats.org/drawingml/2006/main">
              <a:ext uri="{FF2B5EF4-FFF2-40B4-BE49-F238E27FC236}">
                <a16:creationId xmlns:a16="http://schemas.microsoft.com/office/drawing/2014/main" id="{66F1B1E3-1147-4803-93F5-8C598A8C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910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当前投稿</a:t>
            </a:r>
          </a:p>
        </p:txBody>
      </p:sp>
      <p:sp>
        <p:nvSpPr>
          <p:cNvPr id="18" name="metric-note-当前投稿">
            <a:extLst xmlns:a="http://schemas.openxmlformats.org/drawingml/2006/main">
              <a:ext uri="{FF2B5EF4-FFF2-40B4-BE49-F238E27FC236}">
                <a16:creationId xmlns:a16="http://schemas.microsoft.com/office/drawing/2014/main" id="{DF9FA69E-9DBE-4223-ABF5-4B1E8880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48200"/>
            <a:ext cx="2971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AAAI 2027 × 2</a:t>
            </a:r>
          </a:p>
        </p:txBody>
      </p:sp>
    </p:spTree>
    <p:extLst>
      <p:ext uri="{BB962C8B-B14F-4D97-AF65-F5344CB8AC3E}">
        <p14:creationId xmlns:p14="http://schemas.microsoft.com/office/powerpoint/2010/main" val="9746885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F4B453A0-B893-4E81-9A0D-AF1CA250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RESEARCH ARC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CB0AF7-476B-4CCA-8F91-02B4B28F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研究轨迹：从鲁棒学习走向知识智能体训练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6B30B16F-3055-42F5-B48E-456558A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84DC8C-A774-4675-AD95-04A2E6FA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7A44674-C298-415F-949B-817C25DB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752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2023–24</a:t>
            </a:r>
          </a:p>
        </p:txBody>
      </p:sp>
      <p:cxnSp>
        <p:nvCxnSpPr>
          <p:cNvPr id="569" name="rule"/>
          <p:cNvCxnSpPr/>
          <p:nvPr/>
        </p:nvCxnSpPr>
        <p:spPr>
          <a:xfrm xmlns:a="http://schemas.openxmlformats.org/drawingml/2006/main">
            <a:off x="400050" y="2724150"/>
            <a:ext cx="3143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A0A0A"/>
            </a:solidFill>
            <a:prstDash val="solid"/>
          </a:ln>
        </p:spPr>
      </p:cxn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B51AAF10-8576-46DD-B53C-14F4F0F4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86095B4-5CCB-4D3E-8FED-D7E59479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鲁棒泛化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1D949DE-4CA9-4BCC-B44F-8AD718CB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90950"/>
            <a:ext cx="31432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从噪声标签与图分布外泛化出发，建立长期可靠学习问题。</a:t>
            </a:r>
          </a:p>
          <a:p xmlns:a="http://schemas.openxmlformats.org/drawingml/2006/main">
            <a:r>
              <a:t/>
            </a:r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Noise-Robust · EMNLP 2023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DIVE · KDD 2024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Uncertainty for IPS · TKDE 2025（学生一作）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3D6DEDA-5E3D-4356-98AB-427A64C6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95500"/>
            <a:ext cx="1752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2025</a:t>
            </a:r>
          </a:p>
        </p:txBody>
      </p:sp>
      <p:cxnSp>
        <p:nvCxnSpPr>
          <p:cNvPr id="574" name="rule"/>
          <p:cNvCxnSpPr/>
          <p:nvPr/>
        </p:nvCxnSpPr>
        <p:spPr>
          <a:xfrm xmlns:a="http://schemas.openxmlformats.org/drawingml/2006/main">
            <a:off x="4324350" y="2724150"/>
            <a:ext cx="3143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A0A0A"/>
            </a:solidFill>
            <a:prstDash val="solid"/>
          </a:ln>
        </p:spPr>
      </p:cxnSp>
      <p:sp>
        <p:nvSpPr>
          <p:cNvPr id="12" name="panel">
            <a:extLst xmlns:a="http://schemas.openxmlformats.org/drawingml/2006/main">
              <a:ext uri="{FF2B5EF4-FFF2-40B4-BE49-F238E27FC236}">
                <a16:creationId xmlns:a16="http://schemas.microsoft.com/office/drawing/2014/main" id="{E94D21DD-51A5-43A4-843E-EF82A94F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6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A8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8474492-7B33-444E-BE3F-547545DB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48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知识边界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E810EF8-586A-4CEA-823B-70D0E218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90950"/>
            <a:ext cx="31432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把“模型是否会答”推进到“模型是否应该答”，研究参数知识与检索知识的联合边界。</a:t>
            </a:r>
          </a:p>
          <a:p xmlns:a="http://schemas.openxmlformats.org/drawingml/2006/main"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Divide–Then–Align · ACL 2025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76C264F-4C2C-4A73-ADD9-1E81AEDE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95500"/>
            <a:ext cx="1752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2026</a:t>
            </a:r>
          </a:p>
        </p:txBody>
      </p:sp>
      <p:cxnSp>
        <p:nvCxnSpPr>
          <p:cNvPr id="579" name="rule"/>
          <p:cNvCxnSpPr/>
          <p:nvPr/>
        </p:nvCxnSpPr>
        <p:spPr>
          <a:xfrm xmlns:a="http://schemas.openxmlformats.org/drawingml/2006/main">
            <a:off x="8248650" y="2724150"/>
            <a:ext cx="3143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A0A0A"/>
            </a:solidFill>
            <a:prstDash val="solid"/>
          </a:ln>
        </p:spPr>
      </p:cxnSp>
      <p:sp>
        <p:nvSpPr>
          <p:cNvPr id="17" name="panel">
            <a:extLst xmlns:a="http://schemas.openxmlformats.org/drawingml/2006/main">
              <a:ext uri="{FF2B5EF4-FFF2-40B4-BE49-F238E27FC236}">
                <a16:creationId xmlns:a16="http://schemas.microsoft.com/office/drawing/2014/main" id="{5721F991-6D03-4508-B7A5-AF2674D0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6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442FD416-A705-44B1-82F8-E827F6C5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48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知识智能体训练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FC99F682-B6E6-4192-8F65-422AE560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90950"/>
            <a:ext cx="31432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06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把检索建模为序列决策，构造可执行环境、细粒度动作信用与多跳行为评测。</a:t>
            </a:r>
          </a:p>
          <a:p xmlns:a="http://schemas.openxmlformats.org/drawingml/2006/main">
            <a:r>
              <a:t/>
            </a:r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KBQA–R1 · ICML 2026</a:t>
            </a:r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GAPD · EMNLP 2026 Findings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EviSD · HopRefusal AAAI 2027 投稿中</a:t>
            </a:r>
          </a:p>
        </p:txBody>
      </p:sp>
    </p:spTree>
    <p:extLst>
      <p:ext uri="{BB962C8B-B14F-4D97-AF65-F5344CB8AC3E}">
        <p14:creationId xmlns:p14="http://schemas.microsoft.com/office/powerpoint/2010/main" val="619009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E3406F8-4C6B-4CE7-A94B-C36EF1C3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PORTFOLIO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DBEF1A-F04C-40E5-BCD1-8984ADA9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知识智能体训练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CD7B2E2-8433-4B76-A76F-F4E93342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5B694F-3B34-43AB-A794-ED05113E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5AC1248-1058-4E1F-84D8-6A1415B3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E1D42F5-82EA-4CAF-9B35-DE025F01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145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知识边界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639F947-912A-4165-AED6-534FBC66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145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Divide–Then–Align：benchmark + 诚实对齐</a:t>
            </a:r>
          </a:p>
        </p:txBody>
      </p:sp>
      <p:cxnSp>
        <p:nvCxnSpPr>
          <p:cNvPr id="709" name="rule"/>
          <p:cNvCxnSpPr/>
          <p:nvPr/>
        </p:nvCxnSpPr>
        <p:spPr>
          <a:xfrm xmlns:a="http://schemas.openxmlformats.org/drawingml/2006/main">
            <a:off x="1409700" y="2343150"/>
            <a:ext cx="101536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402BB35-2560-4527-B1E1-94898FDA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FDF384E-8B14-45D8-A727-1349B4B7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432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交互环境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68DD576-5594-44C1-A019-5C5E86B7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432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KBQA–R1：KG harness + Agent RL</a:t>
            </a:r>
          </a:p>
        </p:txBody>
      </p:sp>
      <p:cxnSp>
        <p:nvCxnSpPr>
          <p:cNvPr id="713" name="rule"/>
          <p:cNvCxnSpPr/>
          <p:nvPr/>
        </p:nvCxnSpPr>
        <p:spPr>
          <a:xfrm xmlns:a="http://schemas.openxmlformats.org/drawingml/2006/main">
            <a:off x="1409700" y="3371850"/>
            <a:ext cx="101536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E64A2A7-06D0-47DF-9671-E05CA088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719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7EFAA84-86B9-4CB5-B3AD-8ADAA660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719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信用分配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0E8B5AC-32A2-45A2-AD43-BBE26D15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719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GAPD + EviSD：利用特权信息和OPD给予RL细粒度奖励</a:t>
            </a:r>
          </a:p>
        </p:txBody>
      </p:sp>
      <p:cxnSp>
        <p:nvCxnSpPr>
          <p:cNvPr id="717" name="rule"/>
          <p:cNvCxnSpPr/>
          <p:nvPr/>
        </p:nvCxnSpPr>
        <p:spPr>
          <a:xfrm xmlns:a="http://schemas.openxmlformats.org/drawingml/2006/main">
            <a:off x="1409700" y="4400550"/>
            <a:ext cx="101536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26C2A07-650F-4FB3-819E-2707CF0E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006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7ABD3A6-F68F-48DA-8533-65E47A43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006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行为评测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6EEE21B-BB96-41EA-B7D5-A39AFF38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8006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HopRefusalBench：多跳不可回答行为诊断</a:t>
            </a:r>
          </a:p>
        </p:txBody>
      </p:sp>
      <p:cxnSp>
        <p:nvCxnSpPr>
          <p:cNvPr id="721" name="rule"/>
          <p:cNvCxnSpPr/>
          <p:nvPr/>
        </p:nvCxnSpPr>
        <p:spPr>
          <a:xfrm xmlns:a="http://schemas.openxmlformats.org/drawingml/2006/main">
            <a:off x="1409700" y="5429250"/>
            <a:ext cx="101536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9989341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41F683B5-3380-4D8E-BA10-EC3F5E77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DIVIDE-THEN-ALIGN · ACL 2025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9866AC-807A-481B-AEFC-573D5508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RAG 的边界不是检索边界，而是两种知识的并集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988AA4AD-476D-45EF-9A9C-A8432476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A539ED-4FD8-4DFA-9419-FC354A22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FCC502B-9C3C-4898-A79C-305D3B7D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𝐾𝐵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𝑟𝑎𝑔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𝐾𝐵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𝑝𝑎𝑟𝑎𝑚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∪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𝐾𝐵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0741C679-5959-4939-BD17-CA8759F0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4953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参数知识已知：错误检索可能覆盖正确记忆。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参数知识未知：有证据时应依赖检索，无证据时应拒答。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真正风险：回答策略没有与当前知识象限对齐。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1220FBD3-F62E-4AC7-9591-8AE544FB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4953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140CBEE-1833-4E1D-833D-E06DBE9C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先判断“知道 / 不知道”，再决定回答、依赖检索或拒答。</a:t>
            </a:r>
          </a:p>
        </p:txBody>
      </p:sp>
      <p:sp>
        <p:nvSpPr>
          <p:cNvPr id="9" name="dta-boundary-backing">
            <a:extLst xmlns:a="http://schemas.openxmlformats.org/drawingml/2006/main">
              <a:ext uri="{FF2B5EF4-FFF2-40B4-BE49-F238E27FC236}">
                <a16:creationId xmlns:a16="http://schemas.microsoft.com/office/drawing/2014/main" id="{6AAA83D4-7E54-4BA9-9BDB-A1FEF158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19250"/>
            <a:ext cx="5334000" cy="43434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3d19e7e9f4a57"/>
          <a:stretch xmlns:a="http://schemas.openxmlformats.org/drawingml/2006/main"/>
        </p:blipFill>
        <p:spPr>
          <a:xfrm xmlns:a="http://schemas.openxmlformats.org/drawingml/2006/main">
            <a:off x="5981700" y="1862504"/>
            <a:ext cx="5334000" cy="3856892"/>
          </a:xfrm>
          <a:prstGeom xmlns:a="http://schemas.openxmlformats.org/drawingml/2006/main" prst="roundRect">
            <a:avLst>
              <a:gd name="adj" fmla="val 2632"/>
            </a:avLst>
          </a:prstGeom>
        </p:spPr>
      </p:pic>
    </p:spTree>
    <p:extLst>
      <p:ext uri="{BB962C8B-B14F-4D97-AF65-F5344CB8AC3E}">
        <p14:creationId xmlns:p14="http://schemas.microsoft.com/office/powerpoint/2010/main" val="2207219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11F575EE-F9E8-4124-B795-5D27AA6A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BENCHMARK CONSTRUCTION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9BBC63-6175-4D7D-B8D1-A3F47C99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Benchmark 先回答：样本到底落在哪个知识象限？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82A31E4A-C9FC-4076-AB7E-F047B817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213A6F5-6119-4C3F-9A03-9F35954D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5" name="label-KBparam">
            <a:extLst xmlns:a="http://schemas.openxmlformats.org/drawingml/2006/main">
              <a:ext uri="{FF2B5EF4-FFF2-40B4-BE49-F238E27FC236}">
                <a16:creationId xmlns:a16="http://schemas.microsoft.com/office/drawing/2014/main" id="{C8705BF6-6FF7-43EF-B6F7-25C4F822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KBparam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E4F2552-FA63-4D35-9110-4B219E17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无检索多次采样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A828251-D0C6-414B-8C89-4336979E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23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N 次生成中，正确比例超过阈值 δ，视为参数知识已知。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97949B2-4472-4FEC-BC7A-2B27BFF1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62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≈ 90%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8721567-2543-4D68-8A9A-C11D423A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lexical match 与人工评估一致率</a:t>
            </a:r>
          </a:p>
        </p:txBody>
      </p:sp>
      <p:cxnSp>
        <p:nvCxnSpPr>
          <p:cNvPr id="378" name="rule"/>
          <p:cNvCxnSpPr/>
          <p:nvPr/>
        </p:nvCxnSpPr>
        <p:spPr>
          <a:xfrm xmlns:a="http://schemas.openxmlformats.org/drawingml/2006/main">
            <a:off x="3867150" y="1600200"/>
            <a:ext cx="9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label-KBr">
            <a:extLst xmlns:a="http://schemas.openxmlformats.org/drawingml/2006/main">
              <a:ext uri="{FF2B5EF4-FFF2-40B4-BE49-F238E27FC236}">
                <a16:creationId xmlns:a16="http://schemas.microsoft.com/office/drawing/2014/main" id="{0469BB54-FB34-4D89-B829-B465BC57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00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KBr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4EAA2A6-667D-40A7-BBCD-64BD6ADE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62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判定检索证据是否充分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2A1C4B3-A433-444B-A9E9-806E143F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23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GPT-4o 判断 top-3 passage 是否包含或直接蕴含 gold answer；人工审核验证 judge。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57E493A-AFCA-479C-8C3A-B9E04662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481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NQ · TriviaQA · WebQ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F7310BF-DC53-4F6C-B500-75BC5B2E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624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DPR × Wikipedia × 3 passages</a:t>
            </a:r>
          </a:p>
        </p:txBody>
      </p:sp>
      <p:sp>
        <p:nvSpPr>
          <p:cNvPr id="16" name="quad-✔✔">
            <a:extLst xmlns:a="http://schemas.openxmlformats.org/drawingml/2006/main">
              <a:ext uri="{FF2B5EF4-FFF2-40B4-BE49-F238E27FC236}">
                <a16:creationId xmlns:a16="http://schemas.microsoft.com/office/drawing/2014/main" id="{AA3749A1-DCE4-4269-888E-164F99FB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1619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B4B7044-FEDC-4776-B841-B5133180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859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06E2B058-949F-4A9F-9E01-7A45D954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76500"/>
            <a:ext cx="127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模型与检索都知道</a:t>
            </a:r>
          </a:p>
        </p:txBody>
      </p:sp>
      <p:sp>
        <p:nvSpPr>
          <p:cNvPr id="19" name="quad-✔✘">
            <a:extLst xmlns:a="http://schemas.openxmlformats.org/drawingml/2006/main">
              <a:ext uri="{FF2B5EF4-FFF2-40B4-BE49-F238E27FC236}">
                <a16:creationId xmlns:a16="http://schemas.microsoft.com/office/drawing/2014/main" id="{1BD59F33-EA88-4865-8220-B6A46DAA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695450"/>
            <a:ext cx="1619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9972FD7C-D66D-4A4C-A28C-FDCCE412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8859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98E7B5CA-AAF6-4198-83F9-23F68E7F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476500"/>
            <a:ext cx="127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信参数知识，忽略噪声</a:t>
            </a:r>
          </a:p>
        </p:txBody>
      </p:sp>
      <p:sp>
        <p:nvSpPr>
          <p:cNvPr id="22" name="quad-✘✔">
            <a:extLst xmlns:a="http://schemas.openxmlformats.org/drawingml/2006/main">
              <a:ext uri="{FF2B5EF4-FFF2-40B4-BE49-F238E27FC236}">
                <a16:creationId xmlns:a16="http://schemas.microsoft.com/office/drawing/2014/main" id="{DC567753-4B8E-4748-996C-193029CF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86150"/>
            <a:ext cx="1619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A6DF8D2F-63DD-418E-9853-DA4EE334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766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08899F77-CD50-4842-87F2-345C6BA4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67200"/>
            <a:ext cx="127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压制错误记忆，利用检索</a:t>
            </a:r>
          </a:p>
        </p:txBody>
      </p:sp>
      <p:sp>
        <p:nvSpPr>
          <p:cNvPr id="25" name="quad-✘✘">
            <a:extLst xmlns:a="http://schemas.openxmlformats.org/drawingml/2006/main">
              <a:ext uri="{FF2B5EF4-FFF2-40B4-BE49-F238E27FC236}">
                <a16:creationId xmlns:a16="http://schemas.microsoft.com/office/drawing/2014/main" id="{D7ABE3CD-3E6E-47FA-891A-7083989F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86150"/>
            <a:ext cx="1619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EB8C5375-5D13-4C2A-A6CB-2E5DBF27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766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B73AB9F2-3E70-4BB0-8B44-B0A2CD42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267200"/>
            <a:ext cx="127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两边都不知道，应该拒答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7A1BC20E-4CEF-47E9-8F91-5187F5E8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581650"/>
            <a:ext cx="342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rPr>
              <a:t>关键贡献：训练与评测都保留测试集的自然象限分布，而不是只构造“检索成功”的样本。</a:t>
            </a:r>
          </a:p>
        </p:txBody>
      </p:sp>
    </p:spTree>
    <p:extLst>
      <p:ext uri="{BB962C8B-B14F-4D97-AF65-F5344CB8AC3E}">
        <p14:creationId xmlns:p14="http://schemas.microsoft.com/office/powerpoint/2010/main" val="12836862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5552144-13C3-4721-AB17-98CCCC68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EVALUATION FRAMEWORK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366763-D030-441F-ACC6-3E22B1D9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九项指标把“答对”拆成回答、检索处理与拒答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0D736EC-E947-41B8-8259-98E3F3F2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887CC3-2A28-4740-AC2A-C8D4F653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AAF3E67-F789-49C1-B860-8445566C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7205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DR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B784297-83BB-4429-9EB7-95B39C23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230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Denoise Rate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77D733C-68DB-4E12-B6D1-DFACA21B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✔✘ 中仍答对的比例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B76CD0E-963F-4F5B-917C-1E609CD6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97205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CUR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582B893-E608-42DE-9643-7A71AC89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429250"/>
            <a:ext cx="230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Context Utilization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3AAE028-244E-4FEF-87E6-B149723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810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✘✔ 中利用证据答对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107D4A9-C748-46CE-9DDD-8452B199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97205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AF1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43A631A-8249-48FA-BC50-41B06FC9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429250"/>
            <a:ext cx="230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Abstain F1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81D9F60-CA2B-405B-A823-8CD0687F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810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拒答 precision 与 recall 的平衡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82FD7534-F70D-424E-8356-D34E989B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97205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ACC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CAD4E9EE-5481-4E7B-8570-F0AC7FEA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29250"/>
            <a:ext cx="230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Overall Accuracy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F2A5E64-BF8A-4A43-9485-F9B2B377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810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正确回答 + 正确拒答</a:t>
            </a:r>
          </a:p>
        </p:txBody>
      </p:sp>
      <p:pic>
        <p:nvPicPr>
          <p:cNvPr id="36" name="图片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1095f0118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47800" y="1200150"/>
            <a:ext cx="7772400" cy="359782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836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ED1FF66-AD1A-4F2B-92D1-E1273949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METHOD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A32260-F7D3-4CE8-98C8-450AED9B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四个象限，构造四套偏好，再统一对齐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88DF6F67-AA67-4832-A53A-826A20B2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FDE807-0C11-4EC4-B516-72DA0DAB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54B0A99-7CAE-4FD5-8D0F-F080E423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192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  <a:endParaRPr sz="1800" b="1" i="0">
              <a:solidFill>
                <a:srgbClr val="3D8D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BD0721D-D7CF-4A13-BBDB-3DD46762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619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GT &gt; IDK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BDA8E7E-0FB4-4109-87FB-C079A8D6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19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两边都可靠</a:t>
            </a:r>
          </a:p>
        </p:txBody>
      </p:sp>
      <p:cxnSp>
        <p:nvCxnSpPr>
          <p:cNvPr id="623" name="rule"/>
          <p:cNvCxnSpPr/>
          <p:nvPr/>
        </p:nvCxnSpPr>
        <p:spPr>
          <a:xfrm xmlns:a="http://schemas.openxmlformats.org/drawingml/2006/main">
            <a:off x="8058150" y="2438400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F39A4F6-3075-41B9-BC88-395EA759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19375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  <a:endParaRPr sz="1800" b="1" i="0">
              <a:solidFill>
                <a:srgbClr val="2BA84A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FEA67EF-FC09-4AE3-8C59-9966025B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193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GT &gt; WA1 / IDK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12EE881-87F8-4D01-9067-A8729DC1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194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抵抗噪声检索</a:t>
            </a:r>
          </a:p>
        </p:txBody>
      </p:sp>
      <p:cxnSp>
        <p:nvCxnSpPr>
          <p:cNvPr id="627" name="rule"/>
          <p:cNvCxnSpPr/>
          <p:nvPr/>
        </p:nvCxnSpPr>
        <p:spPr>
          <a:xfrm xmlns:a="http://schemas.openxmlformats.org/drawingml/2006/main">
            <a:off x="8058150" y="3438525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009D46FD-223C-4EEC-970F-08500C0C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636553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0061048-36BC-4090-B7D7-A52B8EE6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19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GT &gt; WA2 / IDK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4F5199C-09D9-4E50-8429-5A7EDEED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19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覆盖错误参数知识</a:t>
            </a:r>
          </a:p>
        </p:txBody>
      </p:sp>
      <p:cxnSp>
        <p:nvCxnSpPr>
          <p:cNvPr id="631" name="rule"/>
          <p:cNvCxnSpPr/>
          <p:nvPr/>
        </p:nvCxnSpPr>
        <p:spPr>
          <a:xfrm xmlns:a="http://schemas.openxmlformats.org/drawingml/2006/main">
            <a:off x="8058150" y="4438650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4D7A0EA-DF65-4F73-9457-971AD6F0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19625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  <a:endParaRPr sz="1800" b="1" i="0">
              <a:solidFill>
                <a:srgbClr val="6C63B5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73E29F86-B3C2-4AC4-9ADA-2F265490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IDK &gt; GT / WA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4E630F12-579F-4412-9205-5D17D752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0196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学习真正拒答</a:t>
            </a:r>
          </a:p>
        </p:txBody>
      </p:sp>
      <p:sp>
        <p:nvSpPr>
          <p:cNvPr id="22" name="panel">
            <a:extLst xmlns:a="http://schemas.openxmlformats.org/drawingml/2006/main">
              <a:ext uri="{FF2B5EF4-FFF2-40B4-BE49-F238E27FC236}">
                <a16:creationId xmlns:a16="http://schemas.microsoft.com/office/drawing/2014/main" id="{FEAD3786-316C-4C92-966C-BF36AFD8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657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87BF745B-785A-452E-98A2-3A51CF04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791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LDPO + β LSFT + γ Lclass</a:t>
            </a:r>
          </a:p>
        </p:txBody>
      </p:sp>
      <p:pic>
        <p:nvPicPr>
          <p:cNvPr id="637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cf2e241004a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7086" y="1644249"/>
            <a:ext cx="7540564" cy="414685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2482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7C2A3B8-1E79-42DC-9C5F-60845EB9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MAIN RESULTS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3D62C3-7A3F-422C-A6DD-AAC33739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DTA 同时提升回答质量与拒答质量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57FDAAA0-3D63-424A-B25C-9C0D9A2E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97A976-4D92-485F-ADD0-A6D20A39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6" name="metric-Overall Accuracy">
            <a:extLst xmlns:a="http://schemas.openxmlformats.org/drawingml/2006/main">
              <a:ext uri="{FF2B5EF4-FFF2-40B4-BE49-F238E27FC236}">
                <a16:creationId xmlns:a16="http://schemas.microsoft.com/office/drawing/2014/main" id="{A9033573-B92E-473C-8B46-1B6A23D6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529" y="1413439"/>
            <a:ext cx="35242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stat-Overall Accuracy">
            <a:extLst xmlns:a="http://schemas.openxmlformats.org/drawingml/2006/main">
              <a:ext uri="{FF2B5EF4-FFF2-40B4-BE49-F238E27FC236}">
                <a16:creationId xmlns:a16="http://schemas.microsoft.com/office/drawing/2014/main" id="{FF47C4F9-163A-4DBD-8EA1-94461214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1642039"/>
            <a:ext cx="3067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64.1–65.5</a:t>
            </a:r>
          </a:p>
        </p:txBody>
      </p:sp>
      <p:sp>
        <p:nvSpPr>
          <p:cNvPr id="8" name="metric-label-Overall Accuracy">
            <a:extLst xmlns:a="http://schemas.openxmlformats.org/drawingml/2006/main">
              <a:ext uri="{FF2B5EF4-FFF2-40B4-BE49-F238E27FC236}">
                <a16:creationId xmlns:a16="http://schemas.microsoft.com/office/drawing/2014/main" id="{81CAC6C1-0573-4472-B4C9-C4B693E1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2461189"/>
            <a:ext cx="3067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Overall Accuracy</a:t>
            </a:r>
          </a:p>
        </p:txBody>
      </p:sp>
      <p:sp>
        <p:nvSpPr>
          <p:cNvPr id="9" name="metric-note-Overall Accuracy">
            <a:extLst xmlns:a="http://schemas.openxmlformats.org/drawingml/2006/main">
              <a:ext uri="{FF2B5EF4-FFF2-40B4-BE49-F238E27FC236}">
                <a16:creationId xmlns:a16="http://schemas.microsoft.com/office/drawing/2014/main" id="{A855E278-59E8-4704-A840-3FF44FE2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2918389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95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三个 backbone 均显著领先现有 RAFT / calibration 基线</a:t>
            </a:r>
          </a:p>
        </p:txBody>
      </p:sp>
      <p:sp>
        <p:nvSpPr>
          <p:cNvPr id="10" name="metric-Abstain F1">
            <a:extLst xmlns:a="http://schemas.openxmlformats.org/drawingml/2006/main">
              <a:ext uri="{FF2B5EF4-FFF2-40B4-BE49-F238E27FC236}">
                <a16:creationId xmlns:a16="http://schemas.microsoft.com/office/drawing/2014/main" id="{C96C850C-46A6-4C3B-96A1-3A856526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529" y="3661339"/>
            <a:ext cx="35242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stat-Abstain F1">
            <a:extLst xmlns:a="http://schemas.openxmlformats.org/drawingml/2006/main">
              <a:ext uri="{FF2B5EF4-FFF2-40B4-BE49-F238E27FC236}">
                <a16:creationId xmlns:a16="http://schemas.microsoft.com/office/drawing/2014/main" id="{CE97068F-DC4E-4762-A210-1375656E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3889939"/>
            <a:ext cx="3067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59.9–64.7</a:t>
            </a:r>
          </a:p>
        </p:txBody>
      </p:sp>
      <p:sp>
        <p:nvSpPr>
          <p:cNvPr id="12" name="metric-label-Abstain F1">
            <a:extLst xmlns:a="http://schemas.openxmlformats.org/drawingml/2006/main">
              <a:ext uri="{FF2B5EF4-FFF2-40B4-BE49-F238E27FC236}">
                <a16:creationId xmlns:a16="http://schemas.microsoft.com/office/drawing/2014/main" id="{271A23DC-F736-4E9E-9B24-263BCC84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4709089"/>
            <a:ext cx="3067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Abstain F1</a:t>
            </a:r>
          </a:p>
        </p:txBody>
      </p:sp>
      <p:sp>
        <p:nvSpPr>
          <p:cNvPr id="13" name="metric-note-Abstain F1">
            <a:extLst xmlns:a="http://schemas.openxmlformats.org/drawingml/2006/main">
              <a:ext uri="{FF2B5EF4-FFF2-40B4-BE49-F238E27FC236}">
                <a16:creationId xmlns:a16="http://schemas.microsoft.com/office/drawing/2014/main" id="{AAEE9411-F8BD-4EAB-822C-E236BF89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5166289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62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RAFT 基线常为 0；DTA 学到“只在双边界外拒答”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930E3276-11D6-4A98-ACB4-56DD4F28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7124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测试集：NQ + TriviaQA + WebQ，各模型保持自然四象限分布。</a:t>
            </a:r>
          </a:p>
        </p:txBody>
      </p:sp>
      <p:pic>
        <p:nvPicPr>
          <p:cNvPr id="30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fdf3fc2b4b43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01975" y="1200150"/>
            <a:ext cx="4903575" cy="482876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3211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EB43C78-67B4-4613-81FC-D5E8A509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ABLATIONS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6E7902-77D9-4D8F-85A1-95109BEA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没有双边界或缺少关键象限，系统会学偏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824B9548-CBA5-4160-A16A-0DFEA81D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67230FB-5EE8-4B8C-9D92-4EDEA895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E77BD03-3D13-40E4-B1B0-CE2681FF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只看 KBr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B036B05-0C80-4B4F-8831-41E6848A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错把“模型知道但检索失败”当作未知，回答 F1 降至 55.3。</a:t>
            </a:r>
          </a:p>
        </p:txBody>
      </p:sp>
      <p:cxnSp>
        <p:nvCxnSpPr>
          <p:cNvPr id="510" name="rule"/>
          <p:cNvCxnSpPr/>
          <p:nvPr/>
        </p:nvCxnSpPr>
        <p:spPr>
          <a:xfrm xmlns:a="http://schemas.openxmlformats.org/drawingml/2006/main">
            <a:off x="7524750" y="2533650"/>
            <a:ext cx="4000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457F735-1018-4A22-AFE9-0E71AB27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622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去掉 ✔✘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7D57862-4DCA-4F10-8A37-A4ADF3C5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没有噪声训练，Denoise Rate 从 68.9 降至 47.9。</a:t>
            </a:r>
          </a:p>
        </p:txBody>
      </p:sp>
      <p:cxnSp>
        <p:nvCxnSpPr>
          <p:cNvPr id="513" name="rule"/>
          <p:cNvCxnSpPr/>
          <p:nvPr/>
        </p:nvCxnSpPr>
        <p:spPr>
          <a:xfrm xmlns:a="http://schemas.openxmlformats.org/drawingml/2006/main">
            <a:off x="7524750" y="3581400"/>
            <a:ext cx="4000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EA09D21-7179-4381-93A1-BC7B08FC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去掉 ✘✔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AD4CABF-615C-4CF1-B528-756D6CAB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1000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不会在需要时依赖证据，CUR 降至 45.6。</a:t>
            </a:r>
          </a:p>
        </p:txBody>
      </p:sp>
      <p:cxnSp>
        <p:nvCxnSpPr>
          <p:cNvPr id="516" name="rule"/>
          <p:cNvCxnSpPr/>
          <p:nvPr/>
        </p:nvCxnSpPr>
        <p:spPr>
          <a:xfrm xmlns:a="http://schemas.openxmlformats.org/drawingml/2006/main">
            <a:off x="7524750" y="4629150"/>
            <a:ext cx="4000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902CE3C-7E5F-4276-B3D2-F06D5381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577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去掉 ✘✘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C86D857-BEC7-47B0-BE5B-3717080B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57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拒答能力完全消失，AF1 = 0。</a:t>
            </a:r>
          </a:p>
        </p:txBody>
      </p:sp>
      <p:sp>
        <p:nvSpPr>
          <p:cNvPr id="17" name="panel">
            <a:extLst xmlns:a="http://schemas.openxmlformats.org/drawingml/2006/main">
              <a:ext uri="{FF2B5EF4-FFF2-40B4-BE49-F238E27FC236}">
                <a16:creationId xmlns:a16="http://schemas.microsoft.com/office/drawing/2014/main" id="{2DB27B78-09FA-487C-B211-0B8570E3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867400"/>
            <a:ext cx="400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BC66B37-B6DF-4C06-A1D3-A81609AB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94360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rPr>
              <a:t>九项指标揭示：模型学成了“谨慎”，还是“有选择地可靠”。</a:t>
            </a:r>
          </a:p>
        </p:txBody>
      </p:sp>
      <p:pic>
        <p:nvPicPr>
          <p:cNvPr id="521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a25df8e6b4a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6590" y="1507966"/>
            <a:ext cx="5529841" cy="485224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2706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6D7B5D3C-A50D-4635-9AD6-08EB00C5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ICML 2026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2FF68E-574C-4F93-9017-0F829664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KBQA 不是生成一个程序，而是在知识库里学习决策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3B35A63-0783-4F71-939F-D559111B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7F5D91-8EF7-47D2-A953-9E9EBCAF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41262FF-EE8B-4939-B534-FCD39421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State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3D7BDCB-6E7F-4239-8872-48556A17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95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问题 + 既往 think/action + KB observation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6CBDF6F-8191-4B15-9B5A-CEA95E77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Action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FF11D1C-118D-4205-B6B6-60BCB334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09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可执行的原子操作，而不是整棵 S-Expression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82D7E3C-A88E-4A70-9912-F0C2AF4E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Observation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C50E205-D3A6-4584-A77F-FD33C1AE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724150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实体集合、候选关系、执行结果和诊断反馈</a:t>
            </a:r>
          </a:p>
        </p:txBody>
      </p:sp>
      <p:sp>
        <p:nvSpPr>
          <p:cNvPr id="11" name="bullets">
            <a:extLst xmlns:a="http://schemas.openxmlformats.org/drawingml/2006/main">
              <a:ext uri="{FF2B5EF4-FFF2-40B4-BE49-F238E27FC236}">
                <a16:creationId xmlns:a16="http://schemas.microsoft.com/office/drawing/2014/main" id="{B5151398-AA26-439E-AF4D-2D26C948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48577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3"/>
              </a:spcAft>
              <a:buNone/>
            </a:pPr>
            <a:r>
              <a:rPr sz="14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01  决策闭环</a:t>
            </a:r>
            <a:r>
              <a:rPr sz="1250">
                <a:solidFill>
                  <a:srgbClr val="5F6777"/>
                </a:solidFill>
                <a:latin typeface="PingFang SC"/>
                <a:ea typeface="PingFang SC"/>
                <a:cs typeface="PingFang SC"/>
              </a:rPr>
              <a:t>   think → action → execute → observe → revise</a:t>
            </a:r>
          </a:p>
          <a:p xmlns:a="http://schemas.openxmlformats.org/drawingml/2006/main">
            <a:pPr algn="l">
              <a:spcAft>
                <a:spcPts val="13"/>
              </a:spcAft>
              <a:buNone/>
            </a:pPr>
            <a:r>
              <a:rPr sz="1450" b="1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02  学习目标</a:t>
            </a:r>
            <a:r>
              <a:rPr sz="1250">
                <a:solidFill>
                  <a:srgbClr val="5F6777"/>
                </a:solidFill>
                <a:latin typeface="PingFang SC"/>
                <a:ea typeface="PingFang SC"/>
                <a:cs typeface="PingFang SC"/>
              </a:rPr>
              <a:t>   最终答案 F1 + 结构正确性 → 单一 policy</a:t>
            </a:r>
          </a:p>
          <a:p xmlns:a="http://schemas.openxmlformats.org/drawingml/2006/main">
            <a:pPr algn="l">
              <a:buNone/>
            </a:pPr>
            <a:r>
              <a:rPr sz="1450" b="1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03  范式升级</a:t>
            </a:r>
            <a:r>
              <a:rPr sz="1250">
                <a:solidFill>
                  <a:srgbClr val="5F6777"/>
                </a:solidFill>
                <a:latin typeface="PingFang SC"/>
                <a:ea typeface="PingFang SC"/>
                <a:cs typeface="PingFang SC"/>
              </a:rPr>
              <a:t>   Text Imitation → Interaction Optimization</a:t>
            </a:r>
          </a:p>
        </p:txBody>
      </p:sp>
      <p:sp>
        <p:nvSpPr>
          <p:cNvPr id="12" name="kbqa-loop-backing">
            <a:extLst xmlns:a="http://schemas.openxmlformats.org/drawingml/2006/main">
              <a:ext uri="{FF2B5EF4-FFF2-40B4-BE49-F238E27FC236}">
                <a16:creationId xmlns:a16="http://schemas.microsoft.com/office/drawing/2014/main" id="{1D4FDC97-0D7A-4577-B4AB-52DC5949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581150"/>
            <a:ext cx="5753100" cy="44196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56c15ada54995"/>
          <a:stretch xmlns:a="http://schemas.openxmlformats.org/drawingml/2006/main"/>
        </p:blipFill>
        <p:spPr>
          <a:xfrm xmlns:a="http://schemas.openxmlformats.org/drawingml/2006/main">
            <a:off x="5753100" y="2140470"/>
            <a:ext cx="5753100" cy="3300959"/>
          </a:xfrm>
          <a:prstGeom xmlns:a="http://schemas.openxmlformats.org/drawingml/2006/main" prst="roundRect">
            <a:avLst>
              <a:gd name="adj" fmla="val 2586"/>
            </a:avLst>
          </a:prstGeom>
        </p:spPr>
      </p:pic>
    </p:spTree>
    <p:extLst>
      <p:ext uri="{BB962C8B-B14F-4D97-AF65-F5344CB8AC3E}">
        <p14:creationId xmlns:p14="http://schemas.microsoft.com/office/powerpoint/2010/main" val="15613347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580764F-872F-4B09-9C4C-E090385A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0E4F96-270C-4756-A3D2-7FCE7E57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KG </a:t>
            </a:r>
            <a:r>
              <a:rPr sz="34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H</a:t>
            </a: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arness 把语言模型输出变成可验证的计算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2F2D9F69-75D5-4FF9-9A4D-D2D990B5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55CD2B-58A8-46DF-AA23-5C5A9C81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cxnSp>
        <p:nvCxnSpPr>
          <p:cNvPr id="213" name="rule"/>
          <p:cNvCxnSpPr/>
          <p:nvPr/>
        </p:nvCxnSpPr>
        <p:spPr>
          <a:xfrm xmlns:a="http://schemas.openxmlformats.org/drawingml/2006/main">
            <a:off x="895350" y="3257550"/>
            <a:ext cx="103632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6" name="harness-01">
            <a:extLst xmlns:a="http://schemas.openxmlformats.org/drawingml/2006/main">
              <a:ext uri="{FF2B5EF4-FFF2-40B4-BE49-F238E27FC236}">
                <a16:creationId xmlns:a16="http://schemas.microsoft.com/office/drawing/2014/main" id="{9A7B4C70-3E55-4C07-96CF-D71A7F02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D3F95B7-98FF-4E9F-AC4F-2A81DBE5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ABAD2C5-4809-450F-8B94-FCD656C5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52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Prompt / State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5ABF95E-17FA-44E0-B875-21B57A92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问题、候选实体、历史 observation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D363E99-4E82-4D55-9126-D4B20229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harness-02">
            <a:extLst xmlns:a="http://schemas.openxmlformats.org/drawingml/2006/main">
              <a:ext uri="{FF2B5EF4-FFF2-40B4-BE49-F238E27FC236}">
                <a16:creationId xmlns:a16="http://schemas.microsoft.com/office/drawing/2014/main" id="{6C827883-DA20-4EBF-BE3A-73F0154F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2A4A6A7-56E2-41D5-A1ED-63EC40D9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8A7B05C-8B14-4D36-96AB-9318D8EC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Action Parser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C452965-969F-4C83-B447-76C13B51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解析 think / action / answer 标签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C4E1FE0-AD32-4987-AF0A-365E776E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harness-03">
            <a:extLst xmlns:a="http://schemas.openxmlformats.org/drawingml/2006/main">
              <a:ext uri="{FF2B5EF4-FFF2-40B4-BE49-F238E27FC236}">
                <a16:creationId xmlns:a16="http://schemas.microsoft.com/office/drawing/2014/main" id="{69803D1C-B67E-4FD2-9A58-02186011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3A74A32-9BB9-4EA6-A20B-E729A3BC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DA38509-7F7E-408C-A3A1-2E9DDE43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RRCG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2CE88EC1-FD8B-49F1-840B-9F1FE791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检索邻接 schema relation 并置信门控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BCC106A7-D5B0-4C17-9EE7-9B9DD0EC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harness-04">
            <a:extLst xmlns:a="http://schemas.openxmlformats.org/drawingml/2006/main">
              <a:ext uri="{FF2B5EF4-FFF2-40B4-BE49-F238E27FC236}">
                <a16:creationId xmlns:a16="http://schemas.microsoft.com/office/drawing/2014/main" id="{99F83A4A-2F41-4984-AA26-BDA80BE6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BDE0C067-51B2-4C34-8E09-F3AE34ED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24AC42A0-E57B-4979-8D20-D37C5E10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LF Builder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F816F4FD-1209-486D-A2E0-7196A8C8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维护 START / JOIN / AND / ARG / CMP…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A2F7F90B-A3C6-42B1-ACFF-D08A1375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harness-05">
            <a:extLst xmlns:a="http://schemas.openxmlformats.org/drawingml/2006/main">
              <a:ext uri="{FF2B5EF4-FFF2-40B4-BE49-F238E27FC236}">
                <a16:creationId xmlns:a16="http://schemas.microsoft.com/office/drawing/2014/main" id="{578A8147-39BB-40B3-9801-9CED834B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CD131C08-633E-4ADA-A7B5-CFD64B6F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061DD7EC-7436-4C7D-9562-9466C699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Executor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5FEAF2CD-ED07-48E3-ACA0-D3461194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S-Expression → SPARQL → Virtuoso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611789A0-A5B4-40E4-ABAB-6B7B1F78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31" name="harness-06">
            <a:extLst xmlns:a="http://schemas.openxmlformats.org/drawingml/2006/main">
              <a:ext uri="{FF2B5EF4-FFF2-40B4-BE49-F238E27FC236}">
                <a16:creationId xmlns:a16="http://schemas.microsoft.com/office/drawing/2014/main" id="{29A0F930-E9E7-4278-87FE-5EC8133D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A5A46976-1B6D-4EB3-AC2C-A6447B1A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34B9FF88-2F2D-43BF-B5D7-72F1C160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Observation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F56770CE-E2A6-4430-91A3-F347F3F9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实体集合、候选关系、错误诊断</a:t>
            </a:r>
          </a:p>
        </p:txBody>
      </p:sp>
      <p:sp>
        <p:nvSpPr>
          <p:cNvPr id="35" name="panel">
            <a:extLst xmlns:a="http://schemas.openxmlformats.org/drawingml/2006/main">
              <a:ext uri="{FF2B5EF4-FFF2-40B4-BE49-F238E27FC236}">
                <a16:creationId xmlns:a16="http://schemas.microsoft.com/office/drawing/2014/main" id="{6ACE34B0-ABBA-4BAB-B3D1-7BC863DE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953000"/>
            <a:ext cx="9372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817F5BAB-4BBF-485D-BDC0-466810D4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81600"/>
            <a:ext cx="887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闭环不只返回答案：每一步都能验证 schema、执行 logical form、暴露中间实体集合，并把诊断反馈写回下一轮 context。</a:t>
            </a:r>
          </a:p>
        </p:txBody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5446973F-AD9A-45CB-BC41-D328E365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05400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Policy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C3A5E07F-042F-49BF-A302-EC0AB85B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learns from executable feedback</a:t>
            </a:r>
          </a:p>
        </p:txBody>
      </p:sp>
    </p:spTree>
    <p:extLst>
      <p:ext uri="{BB962C8B-B14F-4D97-AF65-F5344CB8AC3E}">
        <p14:creationId xmlns:p14="http://schemas.microsoft.com/office/powerpoint/2010/main" val="203104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F3ACE71D-764E-4068-9C20-271717B4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ACTION 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47BD0A-5E09-405E-941B-759C85E2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Action Space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18B81FDD-2578-4818-AC8F-A177A7E7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AF9B6D-523A-4145-B7E8-6625AC53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20" name="表格 19"/>
          <p:cNvGraphicFramePr/>
          <p:nvPr/>
        </p:nvGraphicFramePr>
        <p:xfrm>
          <a:off xmlns:a="http://schemas.openxmlformats.org/drawingml/2006/main" x="400050" y="1619250"/>
          <a:ext xmlns:a="http://schemas.openxmlformats.org/drawingml/2006/main" cx="11391900" cy="4095749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857500"/>
                <a:gridCol w="3581400"/>
                <a:gridCol w="2762250"/>
              </a:tblGrid>
              <a:tr h="585107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Action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Arguments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Target update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Equivalent logical form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Find_relation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entity | relation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JOIN(relation, START(entity))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(JOIN relation entity)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Merge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expression1 | expression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AND(expression1, expression)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(AND expr1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Order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MAX/MIN | expr | relation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ARG(mode, expr, relation)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(mode expr relation)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Compare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le/lt/ge/gt | relation | number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CMP(mode, relation, number,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(mode relation number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Time_constraint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relation | time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TC(expr, relation, time)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(TC expr relation time)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Count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expression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COUNT(expression)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(COUNT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72173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9B609D8-B0F6-42E2-819A-C4DD7C1C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RELATION GATING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108A57-80B9-4593-B780-2DB96EBE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RRCG 在执行前校正 hallucinated relation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3935E5E9-9D11-4D8A-8A8B-A10D811D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CCDE9E-1AD3-4EF8-8B82-B49E995C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CC680CE-85F8-47FC-AF9C-188792D7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𝑎𝑔𝑒𝑛𝑡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9E5F012-3A82-47E0-9F6F-33414AF4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907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𝑑𝑒𝑛𝑠𝑒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𝑟𝑒𝑡𝑟𝑖𝑒𝑣𝑎𝑙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𝑜𝑣𝑒𝑟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𝑅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𝑒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𝑐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</m:t>
                  </m:r>
                </m:oMath>
              </m:oMathPara>
            </a14:m>
            <a:endParaRPr/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902008E-A204-4679-96AB-AB0200B4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49" y="1714500"/>
            <a:ext cx="3657601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𝑚𝑎𝑥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𝑚𝑎𝑥𝑆𝑖𝑚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𝑎𝑔𝑒𝑛𝑡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,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</m:t>
                  </m:r>
                </m:oMath>
              </m:oMathPara>
            </a14:m>
            <a:endParaRPr/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DD343FB-C576-43D3-9930-D1665F82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7716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4F66A5B-C772-49B7-B536-4DE978B2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716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rrcg-HIGH">
            <a:extLst xmlns:a="http://schemas.openxmlformats.org/drawingml/2006/main">
              <a:ext uri="{FF2B5EF4-FFF2-40B4-BE49-F238E27FC236}">
                <a16:creationId xmlns:a16="http://schemas.microsoft.com/office/drawing/2014/main" id="{B7B39A16-31EB-44E3-9054-FF1605DB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3371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125B799-5AFE-4A3F-8A44-1200001A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HIGH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DA83ECA-4316-4B8A-80B6-85077FC5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08610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𝑚𝑎𝑥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≥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𝜏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h𝑖𝑔h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663230C-C8C7-41D0-9F50-43CCBA81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957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Auto-validation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7B3D7D3-C9F9-4727-A860-8624E603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用最佳 schema relation 替换并执行</a:t>
            </a:r>
          </a:p>
        </p:txBody>
      </p:sp>
      <p:sp>
        <p:nvSpPr>
          <p:cNvPr id="15" name="rrcg-MEDIUM">
            <a:extLst xmlns:a="http://schemas.openxmlformats.org/drawingml/2006/main">
              <a:ext uri="{FF2B5EF4-FFF2-40B4-BE49-F238E27FC236}">
                <a16:creationId xmlns:a16="http://schemas.microsoft.com/office/drawing/2014/main" id="{F82AFE9C-8833-4B0C-B05A-BE8E6C88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857500"/>
            <a:ext cx="3371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C90D64D-8225-4107-90D4-D94C353F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861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MEDIUM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36A7C75-807E-4BB9-9AAE-187ED59C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8610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𝜏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𝑙𝑜𝑤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≤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𝑚𝑎𝑥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&lt;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𝜏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h𝑖𝑔h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27EFAE13-68E2-41A1-ACF4-B69952E0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957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Tentative acceptance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A7F1271D-421A-4E64-89AC-AC53E10A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4340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返回 top-k 候选和不确定性，允许下一轮修正</a:t>
            </a:r>
          </a:p>
        </p:txBody>
      </p:sp>
      <p:sp>
        <p:nvSpPr>
          <p:cNvPr id="20" name="rrcg-LOW">
            <a:extLst xmlns:a="http://schemas.openxmlformats.org/drawingml/2006/main">
              <a:ext uri="{FF2B5EF4-FFF2-40B4-BE49-F238E27FC236}">
                <a16:creationId xmlns:a16="http://schemas.microsoft.com/office/drawing/2014/main" id="{7D854297-5F90-489C-8CDE-87281FEB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57500"/>
            <a:ext cx="3371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1665263-1279-4DBC-AD1D-8EC8485F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861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9A79FCD2-3F7E-4D71-9181-5AA3D708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𝑚𝑎𝑥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&lt;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𝜏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𝑙𝑜𝑤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439C259E-2EEA-4841-A8A3-ABB44288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957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Rejection + diagnostic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AF9D7F1D-C4ED-427B-AA5E-6458A6BB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拒绝执行，并返回邻接关系及相似度列表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D2F315A3-1764-4FF3-AE19-535E8C1C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091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RRCG 只检索 top-k，而非全量注入候选 schema：既节省 context，也将 relation 错误转化为可学习的 observation。</a:t>
            </a:r>
          </a:p>
        </p:txBody>
      </p:sp>
    </p:spTree>
    <p:extLst>
      <p:ext uri="{BB962C8B-B14F-4D97-AF65-F5344CB8AC3E}">
        <p14:creationId xmlns:p14="http://schemas.microsoft.com/office/powerpoint/2010/main" val="5881176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C817129-29A2-4C16-910E-2DCCA372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TRAINING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CA8042-D68C-4BB8-B754-F2100248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RRS 解决冷启动，GRPO 把执行结果变成策略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ED8268F1-9E26-4561-8CB4-957762A5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C74785-35B5-4F82-AA8B-0C27A2EC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5" name="kbqa-training-backing">
            <a:extLst xmlns:a="http://schemas.openxmlformats.org/drawingml/2006/main">
              <a:ext uri="{FF2B5EF4-FFF2-40B4-BE49-F238E27FC236}">
                <a16:creationId xmlns:a16="http://schemas.microsoft.com/office/drawing/2014/main" id="{EC2E97ED-BAE1-4EB7-9398-83EAF001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41148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6" name="图片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2e874f15c4698"/>
          <a:stretch xmlns:a="http://schemas.openxmlformats.org/drawingml/2006/main"/>
        </p:blipFill>
        <p:spPr>
          <a:xfrm xmlns:a="http://schemas.openxmlformats.org/drawingml/2006/main">
            <a:off x="1542738" y="1466850"/>
            <a:ext cx="9106525" cy="4114800"/>
          </a:xfrm>
          <a:prstGeom xmlns:a="http://schemas.openxmlformats.org/drawingml/2006/main" prst="roundRect">
            <a:avLst>
              <a:gd name="adj" fmla="val 2778"/>
            </a:avLst>
          </a:prstGeom>
        </p:spPr>
      </p:pic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A590F4A-3F9A-4968-A7BF-A7A96667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91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46D271E-BB33-4C59-8748-9840512E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721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Action extraction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6A4920E-82C9-4FBD-989C-1A24F5E4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76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从 gold S-Expression 解析 reference action list。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6BB232F-2FF3-4415-8B42-5A848952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791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BA8D5E3-7D5B-4D2D-A1CF-A826EA8D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7721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Referenced rollout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16DB05B-7638-4235-A9EA-5EDA1E0D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076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模型看动作列表，但必须自己生成自然 reasoning。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9EC6A98-3DFE-40EA-BF7B-08DB3574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791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48E654D-E29C-4BFC-90BC-9EF3AA3D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721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Execution filter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EBE0CD33-1C19-479B-9F85-6F97AB4F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076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保留答案正确、结构合法的轨迹并移除 reference。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D249A27-1181-48C8-AC87-D3328EF2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791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E9C3E52-3545-41A5-9584-15940CA0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7721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GRPO refinement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186C6C5-DBA3-40A8-B794-9E143696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076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5 条 rollout 分组，用 outcome + gated format reward 更新。</a:t>
            </a:r>
          </a:p>
        </p:txBody>
      </p:sp>
    </p:spTree>
    <p:extLst>
      <p:ext uri="{BB962C8B-B14F-4D97-AF65-F5344CB8AC3E}">
        <p14:creationId xmlns:p14="http://schemas.microsoft.com/office/powerpoint/2010/main" val="20564844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07FB4AA-710F-4E87-AACA-77E3DAF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MAIN RESULTS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68E79-FE67-4F15-8262-963D89D1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交互策略在三类</a:t>
            </a: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 KBQA </a:t>
            </a: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上同时提高准确率与泛化</a:t>
            </a:r>
            <a:endParaRPr sz="3450" b="1" i="0">
              <a:solidFill>
                <a:srgbClr val="0A0A0A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FF47AB6C-34CD-4012-9125-03FF460B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302D7A-002C-4448-8BEB-845DCB92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00050" y="1695450"/>
          <a:ext xmlns:a="http://schemas.openxmlformats.org/drawingml/2006/main" cx="65151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6c0794c7794bf2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35331B8-AE4E-46D1-82CC-B2A6AE32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651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Overall F1（Llama-3.1-8B）</a:t>
            </a:r>
          </a:p>
        </p:txBody>
      </p:sp>
      <p:sp>
        <p:nvSpPr>
          <p:cNvPr id="7" name="metric-GrailQA Zero-shot">
            <a:extLst xmlns:a="http://schemas.openxmlformats.org/drawingml/2006/main">
              <a:ext uri="{FF2B5EF4-FFF2-40B4-BE49-F238E27FC236}">
                <a16:creationId xmlns:a16="http://schemas.microsoft.com/office/drawing/2014/main" id="{9EE6178B-4C00-4C85-9BAE-D44035D2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9545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GrailQA Zero-shot">
            <a:extLst xmlns:a="http://schemas.openxmlformats.org/drawingml/2006/main">
              <a:ext uri="{FF2B5EF4-FFF2-40B4-BE49-F238E27FC236}">
                <a16:creationId xmlns:a16="http://schemas.microsoft.com/office/drawing/2014/main" id="{BDFBA2EA-4422-4793-930A-B193A93B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847850"/>
            <a:ext cx="3638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+15.5 EM</a:t>
            </a:r>
          </a:p>
        </p:txBody>
      </p:sp>
      <p:sp>
        <p:nvSpPr>
          <p:cNvPr id="9" name="metric-label-GrailQA Zero-shot">
            <a:extLst xmlns:a="http://schemas.openxmlformats.org/drawingml/2006/main">
              <a:ext uri="{FF2B5EF4-FFF2-40B4-BE49-F238E27FC236}">
                <a16:creationId xmlns:a16="http://schemas.microsoft.com/office/drawing/2014/main" id="{817B546F-8932-4707-A04E-A5851E4D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193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GrailQA Zero-shot</a:t>
            </a:r>
          </a:p>
        </p:txBody>
      </p:sp>
      <p:sp>
        <p:nvSpPr>
          <p:cNvPr id="10" name="metric-note-GrailQA Zero-shot">
            <a:extLst xmlns:a="http://schemas.openxmlformats.org/drawingml/2006/main">
              <a:ext uri="{FF2B5EF4-FFF2-40B4-BE49-F238E27FC236}">
                <a16:creationId xmlns:a16="http://schemas.microsoft.com/office/drawing/2014/main" id="{3262EC3C-E6FC-4E6A-9CC2-B9040DD2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003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F1 同时提升 +9.1；最难的 unseen schema 获益最大</a:t>
            </a:r>
          </a:p>
        </p:txBody>
      </p:sp>
      <p:sp>
        <p:nvSpPr>
          <p:cNvPr id="11" name="metric-GrailQA Overall">
            <a:extLst xmlns:a="http://schemas.openxmlformats.org/drawingml/2006/main">
              <a:ext uri="{FF2B5EF4-FFF2-40B4-BE49-F238E27FC236}">
                <a16:creationId xmlns:a16="http://schemas.microsoft.com/office/drawing/2014/main" id="{1C00EDA5-3577-41E8-BDF9-22C23721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2425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GrailQA Overall">
            <a:extLst xmlns:a="http://schemas.openxmlformats.org/drawingml/2006/main">
              <a:ext uri="{FF2B5EF4-FFF2-40B4-BE49-F238E27FC236}">
                <a16:creationId xmlns:a16="http://schemas.microsoft.com/office/drawing/2014/main" id="{AA63BD23-2EE3-43DB-9607-F4C42E4C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3638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83.9 / 86.1</a:t>
            </a:r>
          </a:p>
        </p:txBody>
      </p:sp>
      <p:sp>
        <p:nvSpPr>
          <p:cNvPr id="13" name="metric-label-GrailQA Overall">
            <a:extLst xmlns:a="http://schemas.openxmlformats.org/drawingml/2006/main">
              <a:ext uri="{FF2B5EF4-FFF2-40B4-BE49-F238E27FC236}">
                <a16:creationId xmlns:a16="http://schemas.microsoft.com/office/drawing/2014/main" id="{27F8FF7E-33EC-49F6-B924-2C6826C1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481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GrailQA</a:t>
            </a: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 Overall</a:t>
            </a:r>
          </a:p>
        </p:txBody>
      </p:sp>
      <p:sp>
        <p:nvSpPr>
          <p:cNvPr id="14" name="metric-note-GrailQA Overall">
            <a:extLst xmlns:a="http://schemas.openxmlformats.org/drawingml/2006/main">
              <a:ext uri="{FF2B5EF4-FFF2-40B4-BE49-F238E27FC236}">
                <a16:creationId xmlns:a16="http://schemas.microsoft.com/office/drawing/2014/main" id="{4ECC02BE-CD45-42B9-830A-3C75F9BA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291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EM / F1；在 i.i.d.、compositional、zero-shot 全部领先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3D040734-FB26-4001-810D-AEA5B5C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530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3889D17-1B8C-4B00-BF7E-E9936141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43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50" lnSpcReduction="2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推理阶段不需要 MCTS：训练出的单一 policy 直接执行。</a:t>
            </a:r>
          </a:p>
        </p:txBody>
      </p:sp>
    </p:spTree>
    <p:extLst>
      <p:ext uri="{BB962C8B-B14F-4D97-AF65-F5344CB8AC3E}">
        <p14:creationId xmlns:p14="http://schemas.microsoft.com/office/powerpoint/2010/main" val="130267104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123EDE02-5563-4DF6-A222-F34776D7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ABLATIONS &amp; EFFICIENCY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761CE1-1174-4E2F-BC7D-0860F4C4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真正决定性能的是可执行交互架构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2134FEEB-EA42-4236-B0F1-09B983E7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D66E4A-114B-42BA-A4A7-41D931A9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graphicFrame>
        <p:nvGraphicFramePr>
          <p:cNvPr id="26" name="表格 25"/>
          <p:cNvGraphicFramePr/>
          <p:nvPr/>
        </p:nvGraphicFramePr>
        <p:xfrm>
          <a:off xmlns:a="http://schemas.openxmlformats.org/drawingml/2006/main" x="400050" y="1657350"/>
          <a:ext xmlns:a="http://schemas.openxmlformats.org/drawingml/2006/main" cx="6591300" cy="409575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24150"/>
                <a:gridCol w="1285875"/>
                <a:gridCol w="1285875"/>
                <a:gridCol w="1295400"/>
              </a:tblGrid>
              <a:tr h="51196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Variant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WebQSP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GraphQ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GrailQA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Full KBQA-R1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83.4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53.8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RRCG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64.1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37.7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67.1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Multi-turn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63.2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34.1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49.8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RRS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78.9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78.3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SFT warm-start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75.2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47.3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75.1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GRPO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72.1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47.8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80.2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Format Reward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81.1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51.6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metric-RRCG 平均贡献">
            <a:extLst xmlns:a="http://schemas.openxmlformats.org/drawingml/2006/main">
              <a:ext uri="{FF2B5EF4-FFF2-40B4-BE49-F238E27FC236}">
                <a16:creationId xmlns:a16="http://schemas.microsoft.com/office/drawing/2014/main" id="{FA601878-BEDE-4918-8D26-E45F3E49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57350"/>
            <a:ext cx="19240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stat-RRCG 平均贡献">
            <a:extLst xmlns:a="http://schemas.openxmlformats.org/drawingml/2006/main">
              <a:ext uri="{FF2B5EF4-FFF2-40B4-BE49-F238E27FC236}">
                <a16:creationId xmlns:a16="http://schemas.microsoft.com/office/drawing/2014/main" id="{0DD0DC60-2DC4-4914-9C01-2381140E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85950"/>
            <a:ext cx="1466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≈18 pt</a:t>
            </a:r>
          </a:p>
        </p:txBody>
      </p:sp>
      <p:sp>
        <p:nvSpPr>
          <p:cNvPr id="8" name="metric-label-RRCG 平均贡献">
            <a:extLst xmlns:a="http://schemas.openxmlformats.org/drawingml/2006/main">
              <a:ext uri="{FF2B5EF4-FFF2-40B4-BE49-F238E27FC236}">
                <a16:creationId xmlns:a16="http://schemas.microsoft.com/office/drawing/2014/main" id="{33012B44-31CE-4E36-8DAC-5E0CBCD0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0510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98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RRCG 平均贡献</a:t>
            </a:r>
          </a:p>
        </p:txBody>
      </p:sp>
      <p:sp>
        <p:nvSpPr>
          <p:cNvPr id="9" name="metric-note-RRCG 平均贡献">
            <a:extLst xmlns:a="http://schemas.openxmlformats.org/drawingml/2006/main">
              <a:ext uri="{FF2B5EF4-FFF2-40B4-BE49-F238E27FC236}">
                <a16:creationId xmlns:a16="http://schemas.microsoft.com/office/drawing/2014/main" id="{16AADD9C-75F2-4951-A05D-D6227C78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6230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1891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去掉 relation retrieval 与 gating 后三数据集平均大幅下降</a:t>
            </a:r>
          </a:p>
        </p:txBody>
      </p:sp>
      <p:sp>
        <p:nvSpPr>
          <p:cNvPr id="10" name="metric-Multi-turn 贡献">
            <a:extLst xmlns:a="http://schemas.openxmlformats.org/drawingml/2006/main">
              <a:ext uri="{FF2B5EF4-FFF2-40B4-BE49-F238E27FC236}">
                <a16:creationId xmlns:a16="http://schemas.microsoft.com/office/drawing/2014/main" id="{B0E209E1-5EAB-48E4-9D50-A290C254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57350"/>
            <a:ext cx="19240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stat-Multi-turn 贡献">
            <a:extLst xmlns:a="http://schemas.openxmlformats.org/drawingml/2006/main">
              <a:ext uri="{FF2B5EF4-FFF2-40B4-BE49-F238E27FC236}">
                <a16:creationId xmlns:a16="http://schemas.microsoft.com/office/drawing/2014/main" id="{DCF332CE-273D-48F5-AFF5-60633908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885950"/>
            <a:ext cx="1466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≈25 pt</a:t>
            </a:r>
          </a:p>
        </p:txBody>
      </p:sp>
      <p:sp>
        <p:nvSpPr>
          <p:cNvPr id="12" name="metric-label-Multi-turn 贡献">
            <a:extLst xmlns:a="http://schemas.openxmlformats.org/drawingml/2006/main">
              <a:ext uri="{FF2B5EF4-FFF2-40B4-BE49-F238E27FC236}">
                <a16:creationId xmlns:a16="http://schemas.microsoft.com/office/drawing/2014/main" id="{A7D37BA8-5F96-48E6-B0EB-E1B88730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70510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Multi-turn 贡献</a:t>
            </a:r>
          </a:p>
        </p:txBody>
      </p:sp>
      <p:sp>
        <p:nvSpPr>
          <p:cNvPr id="13" name="metric-note-Multi-turn 贡献">
            <a:extLst xmlns:a="http://schemas.openxmlformats.org/drawingml/2006/main">
              <a:ext uri="{FF2B5EF4-FFF2-40B4-BE49-F238E27FC236}">
                <a16:creationId xmlns:a16="http://schemas.microsoft.com/office/drawing/2014/main" id="{918C0662-C53A-4389-A960-8E283776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6230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8725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单轮动作生成导致级联错误；GrailQA 降至 49.8</a:t>
            </a:r>
          </a:p>
        </p:txBody>
      </p:sp>
      <p:sp>
        <p:nvSpPr>
          <p:cNvPr id="14" name="panel">
            <a:extLst xmlns:a="http://schemas.openxmlformats.org/drawingml/2006/main">
              <a:ext uri="{FF2B5EF4-FFF2-40B4-BE49-F238E27FC236}">
                <a16:creationId xmlns:a16="http://schemas.microsoft.com/office/drawing/2014/main" id="{94CFD6F3-61AE-4E13-AB38-62D09EF9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886200"/>
            <a:ext cx="40576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A167FA1-40E5-470B-87F9-A5A7F945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957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推理调用效率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419EA10A-6A2A-401E-856D-787E954B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2.65 / 3.08 / 3.16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3A69CC1-C068-4CDE-A706-0B723730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10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WebQSP / GrailQA / GraphQ 平均 LLM calls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3034E86F-ECA2-4355-8BEE-01ECE48C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4292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155.6 vs 5.9 questions/min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34770FB6-079A-4A8A-BE7A-02A2FFE8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659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KBQA-o1 调用：28.8 / 32.3 / 78.0</a:t>
            </a:r>
          </a:p>
        </p:txBody>
      </p:sp>
    </p:spTree>
    <p:extLst>
      <p:ext uri="{BB962C8B-B14F-4D97-AF65-F5344CB8AC3E}">
        <p14:creationId xmlns:p14="http://schemas.microsoft.com/office/powerpoint/2010/main" val="172729846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4275210-2F28-421E-B38C-FB3466FA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CREDIT ASSIGNMENT · GAPD + EviSD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04A63A-EA2B-464E-B166-4719055A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同一个瓶颈：最终奖励不知道中间哪里错了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7B0B4E5-DE74-49E8-AFA8-9102E368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869D20-F06D-476D-807B-5E775C81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5" name="panel">
            <a:extLst xmlns:a="http://schemas.openxmlformats.org/drawingml/2006/main">
              <a:ext uri="{FF2B5EF4-FFF2-40B4-BE49-F238E27FC236}">
                <a16:creationId xmlns:a16="http://schemas.microsoft.com/office/drawing/2014/main" id="{02713856-54E8-4ECF-8347-649A6E47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92D4441-BBAA-41FA-B003-EA5912D5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STRUCTURED KBQA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7AD68AD-F50E-4BB7-9FDF-5CB163B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GAPD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D1E3F34-C61B-43BD-911E-6543EE74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Gold action + executable entity state</a:t>
            </a:r>
          </a:p>
        </p:txBody>
      </p:sp>
      <p:sp>
        <p:nvSpPr>
          <p:cNvPr id="9" name="bullets">
            <a:extLst xmlns:a="http://schemas.openxmlformats.org/drawingml/2006/main">
              <a:ext uri="{FF2B5EF4-FFF2-40B4-BE49-F238E27FC236}">
                <a16:creationId xmlns:a16="http://schemas.microsoft.com/office/drawing/2014/main" id="{3F2DEAC1-76D6-43E4-861A-6B02A26B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对齐单位：中间实体集合 / gold execution state。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监督目标：定位错误 relation token。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关键机制：Entity-Anchor Matching。</a:t>
            </a:r>
          </a:p>
        </p:txBody>
      </p:sp>
      <p:sp>
        <p:nvSpPr>
          <p:cNvPr id="10" name="panel">
            <a:extLst xmlns:a="http://schemas.openxmlformats.org/drawingml/2006/main">
              <a:ext uri="{FF2B5EF4-FFF2-40B4-BE49-F238E27FC236}">
                <a16:creationId xmlns:a16="http://schemas.microsoft.com/office/drawing/2014/main" id="{33FABCF5-B2C3-45A3-9F6F-264AD0C7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14500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A02A726-EA3D-43F5-B0F4-F4D98EA1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OPEN-DOCUMENT SEARCH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7E44A0D-3AC4-4A69-AD4F-3978314C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574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EviSD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A50B476-46FB-4160-A744-4997B96B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43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Supporting evidence + answer aliases</a:t>
            </a:r>
          </a:p>
        </p:txBody>
      </p:sp>
      <p:sp>
        <p:nvSpPr>
          <p:cNvPr id="14" name="bullets">
            <a:extLst xmlns:a="http://schemas.openxmlformats.org/drawingml/2006/main">
              <a:ext uri="{FF2B5EF4-FFF2-40B4-BE49-F238E27FC236}">
                <a16:creationId xmlns:a16="http://schemas.microsoft.com/office/drawing/2014/main" id="{F4308090-34C1-42A1-B38F-CC4FAE0E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100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对齐单位：search / answer action span。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监督目标：定位高质量 query 与 answer token。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关键机制：instance-level privilege routing。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7FDAE17-A2FF-4660-94EE-706E0461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1099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共同范式：当前 policy 在原始上下文采样；同一 policy 在 privileged context 下充当 stop-gradient teacher。</a:t>
            </a:r>
          </a:p>
        </p:txBody>
      </p:sp>
    </p:spTree>
    <p:extLst>
      <p:ext uri="{BB962C8B-B14F-4D97-AF65-F5344CB8AC3E}">
        <p14:creationId xmlns:p14="http://schemas.microsoft.com/office/powerpoint/2010/main" val="10339695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60E0238A-016E-4BD2-B731-7C61E1D7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CREDIT ASSIGNMENT · PROBLEM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30B13A-6B94-404D-8794-616179A0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一条 trajectory 一个分数，无法定位中间错误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233CA22A-BDB4-4D4A-B44A-0AB02B16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8E26F1-7532-42F1-BB8A-BF7AE12D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D46134D-ED02-4EAE-9FA2-DC635EDB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81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𝐴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−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𝑚𝑒𝑎𝑛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𝑗</m:t>
                      </m:r>
                    </m:sub>
                  </m:sSub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𝑗</m:t>
                      </m:r>
                    </m:sub>
                  </m:sSub>
                </m:oMath>
              </m:oMathPara>
            </a14:m>
            <a:endParaRPr/>
          </a:p>
        </p:txBody>
      </p:sp>
      <p:cxnSp>
        <p:nvCxnSpPr>
          <p:cNvPr id="234" name="rule"/>
          <p:cNvCxnSpPr/>
          <p:nvPr/>
        </p:nvCxnSpPr>
        <p:spPr>
          <a:xfrm xmlns:a="http://schemas.openxmlformats.org/drawingml/2006/main">
            <a:off x="990600" y="2952750"/>
            <a:ext cx="990600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7" name="tok-think">
            <a:extLst xmlns:a="http://schemas.openxmlformats.org/drawingml/2006/main">
              <a:ext uri="{FF2B5EF4-FFF2-40B4-BE49-F238E27FC236}">
                <a16:creationId xmlns:a16="http://schemas.microsoft.com/office/drawing/2014/main" id="{EAF68574-5D3A-41FA-B9FC-AE071C03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1257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6D5702C-2E54-40B6-A5E7-8D207613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think</a:t>
            </a:r>
          </a:p>
        </p:txBody>
      </p:sp>
      <p:sp>
        <p:nvSpPr>
          <p:cNvPr id="9" name="tok-Find_relation">
            <a:extLst xmlns:a="http://schemas.openxmlformats.org/drawingml/2006/main">
              <a:ext uri="{FF2B5EF4-FFF2-40B4-BE49-F238E27FC236}">
                <a16:creationId xmlns:a16="http://schemas.microsoft.com/office/drawing/2014/main" id="{B15AB133-4F8A-42B0-AF0C-F04F6819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571750"/>
            <a:ext cx="1790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4E8B0EE-3AAA-4BA0-AB75-D4A5041D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813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Find_relation</a:t>
            </a:r>
          </a:p>
        </p:txBody>
      </p:sp>
      <p:sp>
        <p:nvSpPr>
          <p:cNvPr id="11" name="tok-wrong.relation">
            <a:extLst xmlns:a="http://schemas.openxmlformats.org/drawingml/2006/main">
              <a:ext uri="{FF2B5EF4-FFF2-40B4-BE49-F238E27FC236}">
                <a16:creationId xmlns:a16="http://schemas.microsoft.com/office/drawing/2014/main" id="{378E399D-B3CB-44A1-9308-7773AEE1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71750"/>
            <a:ext cx="1790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75D5CBB-A807-4FA5-9A21-A3CF56E1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813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wrong.relation</a:t>
            </a:r>
          </a:p>
        </p:txBody>
      </p:sp>
      <p:sp>
        <p:nvSpPr>
          <p:cNvPr id="13" name="tok-information">
            <a:extLst xmlns:a="http://schemas.openxmlformats.org/drawingml/2006/main">
              <a:ext uri="{FF2B5EF4-FFF2-40B4-BE49-F238E27FC236}">
                <a16:creationId xmlns:a16="http://schemas.microsoft.com/office/drawing/2014/main" id="{EC133BD0-9DC9-4524-A533-AFAEB8C1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71750"/>
            <a:ext cx="1257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B17C970-1FCF-47E8-B6C4-E7F91812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813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information</a:t>
            </a:r>
          </a:p>
        </p:txBody>
      </p:sp>
      <p:sp>
        <p:nvSpPr>
          <p:cNvPr id="15" name="tok-answer">
            <a:extLst xmlns:a="http://schemas.openxmlformats.org/drawingml/2006/main">
              <a:ext uri="{FF2B5EF4-FFF2-40B4-BE49-F238E27FC236}">
                <a16:creationId xmlns:a16="http://schemas.microsoft.com/office/drawing/2014/main" id="{EEB85510-4287-4DD6-BF60-E58618F5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71750"/>
            <a:ext cx="1257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5943821-AF10-4A8C-981A-EF3DA1EB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813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answer</a:t>
            </a:r>
          </a:p>
        </p:txBody>
      </p:sp>
      <p:sp>
        <p:nvSpPr>
          <p:cNvPr id="17" name="tok-wrong">
            <a:extLst xmlns:a="http://schemas.openxmlformats.org/drawingml/2006/main">
              <a:ext uri="{FF2B5EF4-FFF2-40B4-BE49-F238E27FC236}">
                <a16:creationId xmlns:a16="http://schemas.microsoft.com/office/drawing/2014/main" id="{C3DB2063-E2A2-4F81-BAF7-761B776E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71750"/>
            <a:ext cx="1257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78A6DB6-5E2C-4F92-B992-5FAD5899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wrong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03828066-74F3-4109-B160-2F77779C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1024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−0.45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C04B26BA-3CB1-4B59-B162-0E6F263F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30530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GRPO 广播同一个负优势：正确动作、错误 relation、最终答案都被同样惩罚。</a:t>
            </a:r>
          </a:p>
        </p:txBody>
      </p:sp>
      <p:sp>
        <p:nvSpPr>
          <p:cNvPr id="21" name="panel">
            <a:extLst xmlns:a="http://schemas.openxmlformats.org/drawingml/2006/main">
              <a:ext uri="{FF2B5EF4-FFF2-40B4-BE49-F238E27FC236}">
                <a16:creationId xmlns:a16="http://schemas.microsoft.com/office/drawing/2014/main" id="{1898D20E-7E24-405D-8ABC-7682FB2A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5219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352B4A61-4968-4163-B88B-E44CCF0A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480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0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GAPD：用 gold execution state 判断“当前应该执行哪个 action”。</a:t>
            </a:r>
          </a:p>
        </p:txBody>
      </p:sp>
      <p:sp>
        <p:nvSpPr>
          <p:cNvPr id="23" name="panel">
            <a:extLst xmlns:a="http://schemas.openxmlformats.org/drawingml/2006/main">
              <a:ext uri="{FF2B5EF4-FFF2-40B4-BE49-F238E27FC236}">
                <a16:creationId xmlns:a16="http://schemas.microsoft.com/office/drawing/2014/main" id="{FCE10508-144E-4D6D-BF52-717F7351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5219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3B4B2596-0271-4B28-87DA-B271F042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48300"/>
            <a:ext cx="480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0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EviSD：用 supporting evidence 判断“当前 query 是否在搜对东西”。</a:t>
            </a:r>
          </a:p>
        </p:txBody>
      </p:sp>
    </p:spTree>
    <p:extLst>
      <p:ext uri="{BB962C8B-B14F-4D97-AF65-F5344CB8AC3E}">
        <p14:creationId xmlns:p14="http://schemas.microsoft.com/office/powerpoint/2010/main" val="16664187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32DE522-ACF6-49D7-A9D0-1F9A2574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GAPD · ENTITY-ANCHOR MATCHING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08AC71-5EDE-441D-864D-E9358927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GAPD 先按执行状态对齐，再选择下一条 gold action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6293C13B-5BB0-48F1-BF4C-08C41DAF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E445CC-1726-4F6D-97B2-69935E47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78B0B79-4AFA-412C-8E0D-A506848D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Student state sₜ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E38B26B0-06C1-4344-9C66-E0B802BE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31432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62A9C57-602D-4923-B33C-07CB8505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𝐸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)={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𝑒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,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𝑒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,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𝑒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3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}</m:t>
                  </m:r>
                </m:oMath>
              </m:oMathPara>
            </a14:m>
            <a:endParaRPr/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145D31A-C1E6-4B38-94E2-63B45F90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2420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on-policy 执行得到的中间实体集合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3FC36DA-AD6C-42C2-997C-E5336603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Gold states uₘ</a:t>
            </a:r>
          </a:p>
        </p:txBody>
      </p:sp>
      <p:sp>
        <p:nvSpPr>
          <p:cNvPr id="10" name="gold-u1">
            <a:extLst xmlns:a="http://schemas.openxmlformats.org/drawingml/2006/main">
              <a:ext uri="{FF2B5EF4-FFF2-40B4-BE49-F238E27FC236}">
                <a16:creationId xmlns:a16="http://schemas.microsoft.com/office/drawing/2014/main" id="{56C8BC34-7C0E-4937-8CEC-6A51CD7C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2971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33A6002-2F5B-41FD-9FB6-828054DA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u₁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9FD65F2-7A68-4F53-8D97-C6AE2CCF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431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{a,b}</a:t>
            </a:r>
          </a:p>
        </p:txBody>
      </p:sp>
      <p:sp>
        <p:nvSpPr>
          <p:cNvPr id="13" name="gold-u2">
            <a:extLst xmlns:a="http://schemas.openxmlformats.org/drawingml/2006/main">
              <a:ext uri="{FF2B5EF4-FFF2-40B4-BE49-F238E27FC236}">
                <a16:creationId xmlns:a16="http://schemas.microsoft.com/office/drawing/2014/main" id="{1CBE8784-6159-46BF-B24B-30B59328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24200"/>
            <a:ext cx="2971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D134422-429E-4CDD-B7AC-0F88ACD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147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u₂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334268F-12CD-4072-B656-546BD596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1470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{e₁,e₂,e₃}</a:t>
            </a:r>
          </a:p>
        </p:txBody>
      </p:sp>
      <p:sp>
        <p:nvSpPr>
          <p:cNvPr id="16" name="gold-u3">
            <a:extLst xmlns:a="http://schemas.openxmlformats.org/drawingml/2006/main">
              <a:ext uri="{FF2B5EF4-FFF2-40B4-BE49-F238E27FC236}">
                <a16:creationId xmlns:a16="http://schemas.microsoft.com/office/drawing/2014/main" id="{A8E184F5-8B16-48C9-873A-13A7D39D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95750"/>
            <a:ext cx="2971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7C40E8C-57D5-4926-9C04-BF9E6F06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86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u₃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C82F90F8-9BE4-4C28-976D-87387C64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2862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{x,y}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A933130-CBA9-406A-819F-22A3F2E0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860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Jaccard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6EE24DF2-AE81-4EB0-B948-3B35C6BD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57500"/>
            <a:ext cx="3943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𝑠𝑖𝑚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,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𝑢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)=</m:t>
                  </m:r>
                  <m:f>
                    <m:num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𝐸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)∩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𝐸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𝑚</m:t>
                          </m:r>
                        </m:sub>
                      </m:s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)|</m:t>
                      </m:r>
                    </m:num>
                    <m:den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𝐸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)∪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𝐸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𝑚</m:t>
                          </m:r>
                        </m:sub>
                      </m:s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)|</m:t>
                      </m:r>
                    </m:den>
                  </m:f>
                </m:oMath>
              </m:oMathPara>
            </a14:m>
            <a:endParaRPr/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5109CEF2-8612-41B6-8433-3830E8DB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147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𝑎𝑟𝑔𝑚𝑎𝑥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→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𝑢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22" name="panel">
            <a:extLst xmlns:a="http://schemas.openxmlformats.org/drawingml/2006/main">
              <a:ext uri="{FF2B5EF4-FFF2-40B4-BE49-F238E27FC236}">
                <a16:creationId xmlns:a16="http://schemas.microsoft.com/office/drawing/2014/main" id="{E8848943-DA1C-4A9B-AC39-AAB98967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109918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F52962AB-0031-4A68-A608-FD442E8A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76850"/>
            <a:ext cx="1034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选择 u₂ 之后，teacher 注入 g₃（u₂ 的下一条 gold action），而不是按 turn index 生硬注入 g₂。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A006A003-47AD-43E4-937C-A9E5DAAE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034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同一 next-state 的等价路径不蒸馏；answer turn 仍由最终 reward 监督。</a:t>
            </a:r>
          </a:p>
        </p:txBody>
      </p:sp>
    </p:spTree>
    <p:extLst>
      <p:ext uri="{BB962C8B-B14F-4D97-AF65-F5344CB8AC3E}">
        <p14:creationId xmlns:p14="http://schemas.microsoft.com/office/powerpoint/2010/main" val="206856829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D92F234F-F0D2-407D-8CAC-9D99F84E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GAPD · LOCAL CREDIT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DB5654-C9DC-4DF3-84D4-86C8779D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Self-teacher assigns token-level credit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782F182-03ED-4A8D-8001-8EAF9933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AA308C-16CF-44C8-BC2B-6DC41DB6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5" name="gapd-framework-backing">
            <a:extLst xmlns:a="http://schemas.openxmlformats.org/drawingml/2006/main">
              <a:ext uri="{FF2B5EF4-FFF2-40B4-BE49-F238E27FC236}">
                <a16:creationId xmlns:a16="http://schemas.microsoft.com/office/drawing/2014/main" id="{75AC7A6D-5164-40FD-B7A4-3D18A95D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7277100" cy="45148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535" name="图片 1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8f4a552e642c6"/>
          <a:stretch xmlns:a="http://schemas.openxmlformats.org/drawingml/2006/main"/>
        </p:blipFill>
        <p:spPr>
          <a:xfrm xmlns:a="http://schemas.openxmlformats.org/drawingml/2006/main">
            <a:off x="813707" y="1485900"/>
            <a:ext cx="6449786" cy="4514850"/>
          </a:xfrm>
          <a:prstGeom xmlns:a="http://schemas.openxmlformats.org/drawingml/2006/main" prst="roundRect">
            <a:avLst>
              <a:gd name="adj" fmla="val 2532"/>
            </a:avLst>
          </a:prstGeom>
        </p:spPr>
      </p:pic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4AD49D6-7FFA-45A5-9F37-04E8DBC6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383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D7D7C96-027E-4AA2-9C52-0F15DF29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383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Self-teacher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FADD180-170B-4B27-B52A-02404549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955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同一 policy 加入 aligned gold action，stop-gradient 重打分 student token。</a:t>
            </a:r>
          </a:p>
        </p:txBody>
      </p:sp>
      <p:cxnSp>
        <p:nvCxnSpPr>
          <p:cNvPr id="539" name="rule"/>
          <p:cNvCxnSpPr/>
          <p:nvPr/>
        </p:nvCxnSpPr>
        <p:spPr>
          <a:xfrm xmlns:a="http://schemas.openxmlformats.org/drawingml/2006/main">
            <a:off x="8077200" y="2800350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66B0877-CFEA-49BA-8B02-E7FC6093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9085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18D4758-8F7F-4DC8-8A9C-7852E2A9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908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Token gap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A4409B8-AB45-401D-94FD-12C8ACA0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𝐴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𝐺𝐴𝑃𝐷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𝑐𝑙𝑖𝑝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𝑡𝑒𝑎𝑐h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−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𝑠𝑡𝑢𝑑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</m:t>
                  </m:r>
                </m:oMath>
              </m:oMathPara>
            </a14:m>
            <a:endParaRPr/>
          </a:p>
        </p:txBody>
      </p:sp>
      <p:cxnSp>
        <p:nvCxnSpPr>
          <p:cNvPr id="543" name="rule"/>
          <p:cNvCxnSpPr/>
          <p:nvPr/>
        </p:nvCxnSpPr>
        <p:spPr>
          <a:xfrm xmlns:a="http://schemas.openxmlformats.org/drawingml/2006/main">
            <a:off x="8077200" y="4152900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E4FFBF7-4FC2-4F4F-9313-3FC57249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434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0670D25-C9B8-4033-A1FF-D9CBE892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434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Advantage fusion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E20F76A-17BB-4B4D-BABD-C171C851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006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acc>
                        <m:accPr>
                          <m:chr m:val="ˆ"/>
                        </m:accPr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𝐴</m:t>
                          </m:r>
                        </m:e>
                      </m:acc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𝑘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𝐴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𝐺𝑅𝑃𝑂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+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𝜆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𝐺𝐴𝑃𝐷</m:t>
                      </m:r>
                    </m:sub>
                  </m:sSub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𝐴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𝐺𝐴𝑃𝐷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18" name="panel">
            <a:extLst xmlns:a="http://schemas.openxmlformats.org/drawingml/2006/main">
              <a:ext uri="{FF2B5EF4-FFF2-40B4-BE49-F238E27FC236}">
                <a16:creationId xmlns:a16="http://schemas.microsoft.com/office/drawing/2014/main" id="{A8452769-D339-45EA-BCE0-FA2C758D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753100"/>
            <a:ext cx="3238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630DF54-74DB-4564-A147-F3FEDF13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88645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097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训练时使用 gold action；推理时仍是原始 policy。</a:t>
            </a:r>
          </a:p>
        </p:txBody>
      </p:sp>
    </p:spTree>
    <p:extLst>
      <p:ext uri="{BB962C8B-B14F-4D97-AF65-F5344CB8AC3E}">
        <p14:creationId xmlns:p14="http://schemas.microsoft.com/office/powerpoint/2010/main" val="110859555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18EE007-A943-4B3A-A723-DA678774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GAPD · RESULTS &amp; ABLATIONS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7051A9-14D0-4E20-9E6B-0A517A5C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状态对齐后的细粒度信用，在三类 KBQA 上稳定增益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149054D8-0892-4279-9044-556426F3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8E4D42-8A05-4E7C-89D3-73AABFC9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00050" y="1657350"/>
          <a:ext xmlns:a="http://schemas.openxmlformats.org/drawingml/2006/main" cx="5715000" cy="3505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726e1bee844579"/>
          </a:graphicData>
        </a:graphic>
      </p:graphicFrame>
      <p:graphicFrame>
        <p:nvGraphicFramePr>
          <p:cNvPr id="24" name="表格 23"/>
          <p:cNvGraphicFramePr/>
          <p:nvPr/>
        </p:nvGraphicFramePr>
        <p:xfrm>
          <a:off xmlns:a="http://schemas.openxmlformats.org/drawingml/2006/main" x="6515100" y="1657350"/>
          <a:ext xmlns:a="http://schemas.openxmlformats.org/drawingml/2006/main" cx="49149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914400"/>
                <a:gridCol w="914400"/>
                <a:gridCol w="8953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Variant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WebQSP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GrailQA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GraphQ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GAPD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89.5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55.1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Outcome reward only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83.4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53.8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Qwen3-32B teacher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87.2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54.1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Turn-index alignment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79.3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81.2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First-turn only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85.0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87.9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54.7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metric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43EAD9AF-5008-40A7-A7A5-B9B6952E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29200"/>
            <a:ext cx="2362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AB264620-4EF8-4957-931C-4D3A11F2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2.68</a:t>
            </a:r>
          </a:p>
        </p:txBody>
      </p:sp>
      <p:sp>
        <p:nvSpPr>
          <p:cNvPr id="9" name="metric-label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7CE50A9A-AF9B-419F-8026-EC9B4A8C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43550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interactions / query</a:t>
            </a:r>
          </a:p>
        </p:txBody>
      </p:sp>
      <p:sp>
        <p:nvSpPr>
          <p:cNvPr id="10" name="metric-note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B90D9450-3F63-42F3-8E83-7141FA0B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848350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KBQA-R1：2.91</a:t>
            </a:r>
          </a:p>
        </p:txBody>
      </p:sp>
      <p:sp>
        <p:nvSpPr>
          <p:cNvPr id="11" name="metric-average F1">
            <a:extLst xmlns:a="http://schemas.openxmlformats.org/drawingml/2006/main">
              <a:ext uri="{FF2B5EF4-FFF2-40B4-BE49-F238E27FC236}">
                <a16:creationId xmlns:a16="http://schemas.microsoft.com/office/drawing/2014/main" id="{5B3808A4-1EE5-4CE1-9886-2C192844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029200"/>
            <a:ext cx="2362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average F1">
            <a:extLst xmlns:a="http://schemas.openxmlformats.org/drawingml/2006/main">
              <a:ext uri="{FF2B5EF4-FFF2-40B4-BE49-F238E27FC236}">
                <a16:creationId xmlns:a16="http://schemas.microsoft.com/office/drawing/2014/main" id="{802F2536-CC63-4845-9E23-7856A2D3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1244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76.9</a:t>
            </a:r>
          </a:p>
        </p:txBody>
      </p:sp>
      <p:sp>
        <p:nvSpPr>
          <p:cNvPr id="13" name="metric-label-average F1">
            <a:extLst xmlns:a="http://schemas.openxmlformats.org/drawingml/2006/main">
              <a:ext uri="{FF2B5EF4-FFF2-40B4-BE49-F238E27FC236}">
                <a16:creationId xmlns:a16="http://schemas.microsoft.com/office/drawing/2014/main" id="{84E90C2E-844A-459E-8BA3-76937F38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543550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average F1</a:t>
            </a:r>
          </a:p>
        </p:txBody>
      </p:sp>
      <p:sp>
        <p:nvSpPr>
          <p:cNvPr id="14" name="metric-note-average F1">
            <a:extLst xmlns:a="http://schemas.openxmlformats.org/drawingml/2006/main">
              <a:ext uri="{FF2B5EF4-FFF2-40B4-BE49-F238E27FC236}">
                <a16:creationId xmlns:a16="http://schemas.microsoft.com/office/drawing/2014/main" id="{6D7D3B87-31B6-4740-9195-F8D39E6D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848350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8B open policy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7D1071E-C1DC-48B9-9022-05C28092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更大的外部 teacher 不如 policy-consistent self-teacher；按 turn 对齐则 GrailQA F1 从 89.5 跌到 81.2。</a:t>
            </a:r>
          </a:p>
        </p:txBody>
      </p:sp>
    </p:spTree>
    <p:extLst>
      <p:ext uri="{BB962C8B-B14F-4D97-AF65-F5344CB8AC3E}">
        <p14:creationId xmlns:p14="http://schemas.microsoft.com/office/powerpoint/2010/main" val="109515467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41A691BB-2FDC-4367-A3B0-A6A5B938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EviSD · PRIVILEGED CONTEXT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EC82C4-21D5-4364-A002-8BA20C26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没有 gold query，evidence 仍能指导搜索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73466DB-8740-402E-8766-E8F6E739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9A6EB3-E2DB-4C08-BF80-6F20248A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sp>
        <p:nvSpPr>
          <p:cNvPr id="5" name="panel">
            <a:extLst xmlns:a="http://schemas.openxmlformats.org/drawingml/2006/main">
              <a:ext uri="{FF2B5EF4-FFF2-40B4-BE49-F238E27FC236}">
                <a16:creationId xmlns:a16="http://schemas.microsoft.com/office/drawing/2014/main" id="{3F99468F-C3CC-4E3F-9284-D59BF9AE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2197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7B0E899-48FA-4195-849B-2D20077E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SEARCH ACTION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86729ED-00C1-4B56-B074-169276C5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Evidence privilege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050F563-D936-4AB9-AD1C-A5AD363F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Supporting sentences 按 source document 分组，最多 2 篇文档 × 每篇 2 句。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6CDA8AB-4368-4164-99F5-4D013592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teacher 问：当前 query 是否更可能检索到目标证据？</a:t>
            </a:r>
          </a:p>
        </p:txBody>
      </p:sp>
      <p:sp>
        <p:nvSpPr>
          <p:cNvPr id="10" name="panel">
            <a:extLst xmlns:a="http://schemas.openxmlformats.org/drawingml/2006/main">
              <a:ext uri="{FF2B5EF4-FFF2-40B4-BE49-F238E27FC236}">
                <a16:creationId xmlns:a16="http://schemas.microsoft.com/office/drawing/2014/main" id="{8C8268EF-65E1-440C-AFD3-50EF82FF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14500"/>
            <a:ext cx="52197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A5122C4-048D-48CD-A961-14811101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ANSWER ACTION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47C67EB-9209-4D06-A65B-840B81B3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3365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Answer privilege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274D579-39E5-4193-91DB-8BDF23BE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385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Golden answer aliases 作为 teacher-only prefix；只重打分已经采样的 answer。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FD1D0C1-654C-426D-BB8A-BC9F6B63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005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teacher 问：当前 answer 是否与正确答案语义兼容？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AA5F323-EC9A-485E-B5F9-1E2C4605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99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不生成 teacher trajectory、不改变 action；只在训练时重打分 student 已执行的动作。</a:t>
            </a:r>
          </a:p>
        </p:txBody>
      </p:sp>
    </p:spTree>
    <p:extLst>
      <p:ext uri="{BB962C8B-B14F-4D97-AF65-F5344CB8AC3E}">
        <p14:creationId xmlns:p14="http://schemas.microsoft.com/office/powerpoint/2010/main" val="91381207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3D345B70-29E9-4378-90F8-54EAB615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EviSD · METHOD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D7A8D6-82B7-49B6-A35C-FD3C9250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同一模型、两个上下文，只调制 action span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A5777EAF-A0A7-4916-9EC4-8B02497B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601F05-069E-4605-A340-0414AD38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5" name="evisd-framework-backing">
            <a:extLst xmlns:a="http://schemas.openxmlformats.org/drawingml/2006/main">
              <a:ext uri="{FF2B5EF4-FFF2-40B4-BE49-F238E27FC236}">
                <a16:creationId xmlns:a16="http://schemas.microsoft.com/office/drawing/2014/main" id="{31032DA1-870B-4B5D-BF18-0E1E5B4C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38862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499354ac44a4f"/>
          <a:stretch xmlns:a="http://schemas.openxmlformats.org/drawingml/2006/main"/>
        </p:blipFill>
        <p:spPr>
          <a:xfrm xmlns:a="http://schemas.openxmlformats.org/drawingml/2006/main">
            <a:off x="849630" y="1466850"/>
            <a:ext cx="10492740" cy="3886200"/>
          </a:xfrm>
          <a:prstGeom xmlns:a="http://schemas.openxmlformats.org/drawingml/2006/main" prst="roundRect">
            <a:avLst>
              <a:gd name="adj" fmla="val 2941"/>
            </a:avLst>
          </a:prstGeom>
        </p:spPr>
      </p:pic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2735BA2-A48E-404D-9D97-D80C0ABB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Student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532E77F-C63F-49FA-8F04-20AE19AB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原始上下文采样并执行 action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2C10AAD-65CA-4DFD-8F13-7A8A69DE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6197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Privileged teacher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EFB3541-7793-431E-8D1F-0A720EE9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9626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加入 evidence / answer 后重打分同一 action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C3E3A5B-9BF3-4C65-A4E9-8537A55B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197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Detached gap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B9400D0-A532-42EE-BB6D-826EABD6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626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𝛿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𝑡𝑒𝑎𝑐h𝑒𝑟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−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𝑠𝑡𝑢𝑑𝑒𝑛𝑡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4029840-2852-452D-B344-F782473C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6197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Bounded credit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15EB83A-E382-4A06-BDE7-7EA30716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9626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action mask + outcome-anchored modulation</a:t>
            </a:r>
          </a:p>
        </p:txBody>
      </p:sp>
    </p:spTree>
    <p:extLst>
      <p:ext uri="{BB962C8B-B14F-4D97-AF65-F5344CB8AC3E}">
        <p14:creationId xmlns:p14="http://schemas.microsoft.com/office/powerpoint/2010/main" val="205838415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BE3A4AF-C3BF-4962-94D1-FCFF1096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EviSD · RESULTS &amp; ABLATIONS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BA01CA-912E-4A64-A28C-15AE7301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Evisd</a:t>
            </a: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 Main results</a:t>
            </a:r>
            <a:endParaRPr sz="3450" b="1" i="0">
              <a:solidFill>
                <a:srgbClr val="0A0A0A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5B05E3E8-7F6E-4656-A8C9-AA1F0995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79CBBE-2863-4CDF-BCA3-12B1B10B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sp>
        <p:nvSpPr>
          <p:cNvPr id="7" name="metric-Avg EM vs. best">
            <a:extLst xmlns:a="http://schemas.openxmlformats.org/drawingml/2006/main">
              <a:ext uri="{FF2B5EF4-FFF2-40B4-BE49-F238E27FC236}">
                <a16:creationId xmlns:a16="http://schemas.microsoft.com/office/drawing/2014/main" id="{6C5287F9-D17A-400F-93BA-1DE2B8A9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22479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Avg EM vs. best">
            <a:extLst xmlns:a="http://schemas.openxmlformats.org/drawingml/2006/main">
              <a:ext uri="{FF2B5EF4-FFF2-40B4-BE49-F238E27FC236}">
                <a16:creationId xmlns:a16="http://schemas.microsoft.com/office/drawing/2014/main" id="{4FE77332-3D67-4F4B-A9B1-1EF7C159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09750"/>
            <a:ext cx="1790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+1.3–2.3</a:t>
            </a:r>
          </a:p>
        </p:txBody>
      </p:sp>
      <p:sp>
        <p:nvSpPr>
          <p:cNvPr id="9" name="metric-label-Avg EM vs. best">
            <a:extLst xmlns:a="http://schemas.openxmlformats.org/drawingml/2006/main">
              <a:ext uri="{FF2B5EF4-FFF2-40B4-BE49-F238E27FC236}">
                <a16:creationId xmlns:a16="http://schemas.microsoft.com/office/drawing/2014/main" id="{3450A6BE-828A-4E2D-939A-AD3880A7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Avg EM vs. best</a:t>
            </a:r>
          </a:p>
        </p:txBody>
      </p:sp>
      <p:sp>
        <p:nvSpPr>
          <p:cNvPr id="10" name="metric-note-Avg EM vs. best">
            <a:extLst xmlns:a="http://schemas.openxmlformats.org/drawingml/2006/main">
              <a:ext uri="{FF2B5EF4-FFF2-40B4-BE49-F238E27FC236}">
                <a16:creationId xmlns:a16="http://schemas.microsoft.com/office/drawing/2014/main" id="{44A39B99-ECAA-4461-8AF4-5B9477AE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622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Qwen2.5-3B / 7B 与 Qwen3-1.7B 均领先</a:t>
            </a:r>
          </a:p>
        </p:txBody>
      </p:sp>
      <p:sp>
        <p:nvSpPr>
          <p:cNvPr id="11" name="metric-modulated tokens">
            <a:extLst xmlns:a="http://schemas.openxmlformats.org/drawingml/2006/main">
              <a:ext uri="{FF2B5EF4-FFF2-40B4-BE49-F238E27FC236}">
                <a16:creationId xmlns:a16="http://schemas.microsoft.com/office/drawing/2014/main" id="{51394736-0FE1-479B-A1E2-FB286779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657350"/>
            <a:ext cx="22479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modulated tokens">
            <a:extLst xmlns:a="http://schemas.openxmlformats.org/drawingml/2006/main">
              <a:ext uri="{FF2B5EF4-FFF2-40B4-BE49-F238E27FC236}">
                <a16:creationId xmlns:a16="http://schemas.microsoft.com/office/drawing/2014/main" id="{2F67DE5B-359A-48FD-962B-D7BF9602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809750"/>
            <a:ext cx="1790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6.7–15.1%</a:t>
            </a:r>
          </a:p>
        </p:txBody>
      </p:sp>
      <p:sp>
        <p:nvSpPr>
          <p:cNvPr id="13" name="metric-label-modulated tokens">
            <a:extLst xmlns:a="http://schemas.openxmlformats.org/drawingml/2006/main">
              <a:ext uri="{FF2B5EF4-FFF2-40B4-BE49-F238E27FC236}">
                <a16:creationId xmlns:a16="http://schemas.microsoft.com/office/drawing/2014/main" id="{5871DEB5-E276-4609-B5E0-14EDB40E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38125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modulated tokens</a:t>
            </a:r>
          </a:p>
        </p:txBody>
      </p:sp>
      <p:sp>
        <p:nvSpPr>
          <p:cNvPr id="14" name="metric-note-modulated tokens">
            <a:extLst xmlns:a="http://schemas.openxmlformats.org/drawingml/2006/main">
              <a:ext uri="{FF2B5EF4-FFF2-40B4-BE49-F238E27FC236}">
                <a16:creationId xmlns:a16="http://schemas.microsoft.com/office/drawing/2014/main" id="{19F4C92C-45CB-41B3-927F-167A29BB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622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只覆盖 search / answer action content</a:t>
            </a:r>
          </a:p>
        </p:txBody>
      </p:sp>
      <p:sp>
        <p:nvSpPr>
          <p:cNvPr id="15" name="metric-searches / trajectory">
            <a:extLst xmlns:a="http://schemas.openxmlformats.org/drawingml/2006/main">
              <a:ext uri="{FF2B5EF4-FFF2-40B4-BE49-F238E27FC236}">
                <a16:creationId xmlns:a16="http://schemas.microsoft.com/office/drawing/2014/main" id="{A5E21E83-C14E-48F2-9DE0-AC2B27D0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22479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etric-stat-searches / trajectory">
            <a:extLst xmlns:a="http://schemas.openxmlformats.org/drawingml/2006/main">
              <a:ext uri="{FF2B5EF4-FFF2-40B4-BE49-F238E27FC236}">
                <a16:creationId xmlns:a16="http://schemas.microsoft.com/office/drawing/2014/main" id="{C0E4B9BC-AA79-46AA-85B8-AC728832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29050"/>
            <a:ext cx="1790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1.87</a:t>
            </a:r>
          </a:p>
        </p:txBody>
      </p:sp>
      <p:sp>
        <p:nvSpPr>
          <p:cNvPr id="17" name="metric-label-searches / trajectory">
            <a:extLst xmlns:a="http://schemas.openxmlformats.org/drawingml/2006/main">
              <a:ext uri="{FF2B5EF4-FFF2-40B4-BE49-F238E27FC236}">
                <a16:creationId xmlns:a16="http://schemas.microsoft.com/office/drawing/2014/main" id="{3F937455-242B-4E04-B84C-C41B0269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0055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searches / trajectory</a:t>
            </a:r>
          </a:p>
        </p:txBody>
      </p:sp>
      <p:sp>
        <p:nvSpPr>
          <p:cNvPr id="18" name="metric-note-searches / trajectory">
            <a:extLst xmlns:a="http://schemas.openxmlformats.org/drawingml/2006/main">
              <a:ext uri="{FF2B5EF4-FFF2-40B4-BE49-F238E27FC236}">
                <a16:creationId xmlns:a16="http://schemas.microsoft.com/office/drawing/2014/main" id="{DD9FD372-0767-4DE3-B178-8F20E4E7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SDAR 2.16 · RLSD 2.27</a:t>
            </a:r>
          </a:p>
        </p:txBody>
      </p:sp>
      <p:sp>
        <p:nvSpPr>
          <p:cNvPr id="19" name="metric-evidence robustness">
            <a:extLst xmlns:a="http://schemas.openxmlformats.org/drawingml/2006/main">
              <a:ext uri="{FF2B5EF4-FFF2-40B4-BE49-F238E27FC236}">
                <a16:creationId xmlns:a16="http://schemas.microsoft.com/office/drawing/2014/main" id="{4CC1502F-38E6-4164-A5F6-5099E810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76650"/>
            <a:ext cx="22479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etric-stat-evidence robustness">
            <a:extLst xmlns:a="http://schemas.openxmlformats.org/drawingml/2006/main">
              <a:ext uri="{FF2B5EF4-FFF2-40B4-BE49-F238E27FC236}">
                <a16:creationId xmlns:a16="http://schemas.microsoft.com/office/drawing/2014/main" id="{E7A48A0B-0A14-43A8-859F-01EC3104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829050"/>
            <a:ext cx="1790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44.2→43.6</a:t>
            </a:r>
          </a:p>
        </p:txBody>
      </p:sp>
      <p:sp>
        <p:nvSpPr>
          <p:cNvPr id="21" name="metric-label-evidence robustness">
            <a:extLst xmlns:a="http://schemas.openxmlformats.org/drawingml/2006/main">
              <a:ext uri="{FF2B5EF4-FFF2-40B4-BE49-F238E27FC236}">
                <a16:creationId xmlns:a16="http://schemas.microsoft.com/office/drawing/2014/main" id="{31753CFD-2C69-42BD-88B0-722DD5A3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0055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329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evidence robustness</a:t>
            </a:r>
          </a:p>
        </p:txBody>
      </p:sp>
      <p:sp>
        <p:nvSpPr>
          <p:cNvPr id="22" name="metric-note-evidence robustness">
            <a:extLst xmlns:a="http://schemas.openxmlformats.org/drawingml/2006/main">
              <a:ext uri="{FF2B5EF4-FFF2-40B4-BE49-F238E27FC236}">
                <a16:creationId xmlns:a16="http://schemas.microsoft.com/office/drawing/2014/main" id="{24576075-BAD6-442A-B1D4-2AD8FC6F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7815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两篇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 gold 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文档都换成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 relevant 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文档，仅降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 0.6</a:t>
            </a:r>
          </a:p>
        </p:txBody>
      </p:sp>
      <p:pic>
        <p:nvPicPr>
          <p:cNvPr id="46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c73961ffac47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0916" y="1451320"/>
            <a:ext cx="6330384" cy="455895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19801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CB8B0C9-90A0-4D5E-B772-D228C406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HOPREFUSALBENCH ·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ED09A8-3E16-4993-9A3F-CAD910E0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多跳链条断裂：控制原因与断点位置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3425F830-F215-4E5A-9E57-BF1CACA1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4B0647-E388-476D-8AD5-18133C2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5" name="metric-不可回答问题">
            <a:extLst xmlns:a="http://schemas.openxmlformats.org/drawingml/2006/main">
              <a:ext uri="{FF2B5EF4-FFF2-40B4-BE49-F238E27FC236}">
                <a16:creationId xmlns:a16="http://schemas.microsoft.com/office/drawing/2014/main" id="{8BC8A66D-9460-4E9A-83FE-3B79BAE6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4290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etric-stat-不可回答问题">
            <a:extLst xmlns:a="http://schemas.openxmlformats.org/drawingml/2006/main">
              <a:ext uri="{FF2B5EF4-FFF2-40B4-BE49-F238E27FC236}">
                <a16:creationId xmlns:a16="http://schemas.microsoft.com/office/drawing/2014/main" id="{89E84507-E5DD-4B82-851B-9D921FD8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2971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889</a:t>
            </a:r>
          </a:p>
        </p:txBody>
      </p:sp>
      <p:sp>
        <p:nvSpPr>
          <p:cNvPr id="7" name="metric-label-不可回答问题">
            <a:extLst xmlns:a="http://schemas.openxmlformats.org/drawingml/2006/main">
              <a:ext uri="{FF2B5EF4-FFF2-40B4-BE49-F238E27FC236}">
                <a16:creationId xmlns:a16="http://schemas.microsoft.com/office/drawing/2014/main" id="{937DA2B0-51FE-4B44-8739-FA549089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不可回答问题</a:t>
            </a:r>
          </a:p>
        </p:txBody>
      </p:sp>
      <p:sp>
        <p:nvSpPr>
          <p:cNvPr id="8" name="metric-note-不可回答问题">
            <a:extLst xmlns:a="http://schemas.openxmlformats.org/drawingml/2006/main">
              <a:ext uri="{FF2B5EF4-FFF2-40B4-BE49-F238E27FC236}">
                <a16:creationId xmlns:a16="http://schemas.microsoft.com/office/drawing/2014/main" id="{281D173B-5F10-431B-B7E1-28CFDC37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004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7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2–5 步链条；每种 cause 与 topology 全交叉覆盖</a:t>
            </a:r>
          </a:p>
        </p:txBody>
      </p:sp>
      <p:sp>
        <p:nvSpPr>
          <p:cNvPr id="9" name="panel">
            <a:extLst xmlns:a="http://schemas.openxmlformats.org/drawingml/2006/main">
              <a:ext uri="{FF2B5EF4-FFF2-40B4-BE49-F238E27FC236}">
                <a16:creationId xmlns:a16="http://schemas.microsoft.com/office/drawing/2014/main" id="{E0F0E3D9-24B5-4616-96D2-09F935B4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42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EE32F3D-EA6D-4FF5-B8AC-965DB562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 causes × 3 topologies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34AFE32-E09C-40D9-85D6-2727E49D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2971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Answer Unknown · False Premise · Underspecified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Root · Middle · Terminal</a:t>
            </a:r>
          </a:p>
        </p:txBody>
      </p:sp>
      <p:sp>
        <p:nvSpPr>
          <p:cNvPr id="12" name="hop-pipeline-backing">
            <a:extLst xmlns:a="http://schemas.openxmlformats.org/drawingml/2006/main">
              <a:ext uri="{FF2B5EF4-FFF2-40B4-BE49-F238E27FC236}">
                <a16:creationId xmlns:a16="http://schemas.microsoft.com/office/drawing/2014/main" id="{865E0E8E-7940-4DB8-A3D0-66E7BF73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00200"/>
            <a:ext cx="73342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b378b0ca24aad"/>
          <a:stretch xmlns:a="http://schemas.openxmlformats.org/drawingml/2006/main"/>
        </p:blipFill>
        <p:spPr>
          <a:xfrm xmlns:a="http://schemas.openxmlformats.org/drawingml/2006/main">
            <a:off x="4171950" y="1823056"/>
            <a:ext cx="7334250" cy="4031038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</p:spTree>
    <p:extLst>
      <p:ext uri="{BB962C8B-B14F-4D97-AF65-F5344CB8AC3E}">
        <p14:creationId xmlns:p14="http://schemas.microsoft.com/office/powerpoint/2010/main" val="140432177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A1BF0BE-E39A-4A50-9B6A-CA7C27B0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HOPREFUSALBENCH · EVALUATION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AF7137-A404-43A6-9AAD-E65D7C38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评测不只看“是否拒答”，还要看理由、时机与搜索浪费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3FFADC0C-0AA3-478B-9988-AB2F6B89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136F0F-D3E3-407C-965C-3377859F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graphicFrame>
        <p:nvGraphicFramePr>
          <p:cNvPr id="28" name="表格 27"/>
          <p:cNvGraphicFramePr/>
          <p:nvPr/>
        </p:nvGraphicFramePr>
        <p:xfrm>
          <a:off xmlns:a="http://schemas.openxmlformats.org/drawingml/2006/main" x="400050" y="1657350"/>
          <a:ext xmlns:a="http://schemas.openxmlformats.org/drawingml/2006/main" cx="11391900" cy="272415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4095750"/>
                <a:gridCol w="5105400"/>
              </a:tblGrid>
              <a:tr h="68103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层级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Metric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诊断问题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Final behavior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TCHR / PPHR / URHR / WRHR / SHDR / SEHR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正确理由拒答、过早停、理由错、继续幻觉或耗尽预算？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Evidence timeline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PTOS@&gt;0 / PTTW / EIFR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证据已足够之后，还搜了多少、浪费多少 token、是否仍答穿缺陷？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Paired shift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SIOR / SIRR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搜索推翻了多少正确拒答，又救回了多少错误行为</a:t>
                      </a:r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？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tate-TACH">
            <a:extLst xmlns:a="http://schemas.openxmlformats.org/drawingml/2006/main">
              <a:ext uri="{FF2B5EF4-FFF2-40B4-BE49-F238E27FC236}">
                <a16:creationId xmlns:a16="http://schemas.microsoft.com/office/drawing/2014/main" id="{2977F34F-94EE-49F6-80E7-1788D735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8155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D41A470-D992-4AE0-A136-84C73F0E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TACH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C7E9FB9-86BE-49F7-BF07-8CE373D6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Target-aware correct halting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6685D94-9799-4638-A7D3-349AA3C0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007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按 gold rationale 拒答 / 澄清</a:t>
            </a:r>
          </a:p>
        </p:txBody>
      </p:sp>
      <p:sp>
        <p:nvSpPr>
          <p:cNvPr id="10" name="state-PPH">
            <a:extLst xmlns:a="http://schemas.openxmlformats.org/drawingml/2006/main">
              <a:ext uri="{FF2B5EF4-FFF2-40B4-BE49-F238E27FC236}">
                <a16:creationId xmlns:a16="http://schemas.microsoft.com/office/drawing/2014/main" id="{2DA47B61-308E-4449-92F3-A3C56763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8155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2E9100A3-0F75-40D9-B2AE-17CCA682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530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PPH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B756A4E-5348-4F2C-A130-A20F72DE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768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Prefix-premature halting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6DC22C2-4660-4FC4-9133-594F984E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007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有效前缀尚未解析就过早停</a:t>
            </a:r>
          </a:p>
        </p:txBody>
      </p:sp>
      <p:sp>
        <p:nvSpPr>
          <p:cNvPr id="14" name="state-URH / WRH">
            <a:extLst xmlns:a="http://schemas.openxmlformats.org/drawingml/2006/main">
              <a:ext uri="{FF2B5EF4-FFF2-40B4-BE49-F238E27FC236}">
                <a16:creationId xmlns:a16="http://schemas.microsoft.com/office/drawing/2014/main" id="{112E2B33-0F0E-4D49-BB34-B4CE5977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8155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C7496EB-2C61-4B34-87C4-A4E590DC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530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URH / WRH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8DC40C5-9ECB-4321-8DBC-DB9AF1B4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768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Pseudo-refusal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1A18D70-DA3E-4215-B544-D3AC84FC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007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理由模糊或理由具体但错误</a:t>
            </a:r>
          </a:p>
        </p:txBody>
      </p:sp>
      <p:sp>
        <p:nvSpPr>
          <p:cNvPr id="18" name="state-SHD / SEH">
            <a:extLst xmlns:a="http://schemas.openxmlformats.org/drawingml/2006/main">
              <a:ext uri="{FF2B5EF4-FFF2-40B4-BE49-F238E27FC236}">
                <a16:creationId xmlns:a16="http://schemas.microsoft.com/office/drawing/2014/main" id="{40586B8F-FB62-4B9B-A372-AD9BF51D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78155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9A9B9607-947A-47D3-B978-B7FEE78C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530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SHD / SEH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E04D7ECC-0058-435D-9A0B-17D3AAD6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768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Failure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BEACB7EB-6601-4222-AA30-67887283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6007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继续幻觉或搜索预算耗尽</a:t>
            </a:r>
          </a:p>
        </p:txBody>
      </p:sp>
    </p:spTree>
    <p:extLst>
      <p:ext uri="{BB962C8B-B14F-4D97-AF65-F5344CB8AC3E}">
        <p14:creationId xmlns:p14="http://schemas.microsoft.com/office/powerpoint/2010/main" val="34458500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82B63FE-AFFC-45D8-B11F-ACE9BF28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HOPREFUSALBENCH · FINDINGS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C91221-9472-4599-B41B-A14DB3A3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搜索更常推翻正确拒答，而不是救回错误行为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0D3F7AA2-0F2E-407E-8B66-803ADFDB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030601-6B38-41A4-BF41-BB0376BC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graphicFrame>
        <p:nvGraphicFramePr>
          <p:cNvPr id="672" name="Chart"/>
          <p:cNvGraphicFramePr/>
          <p:nvPr/>
        </p:nvGraphicFramePr>
        <p:xfrm>
          <a:off xmlns:a="http://schemas.openxmlformats.org/drawingml/2006/main" x="400050" y="1619250"/>
          <a:ext xmlns:a="http://schemas.openxmlformats.org/drawingml/2006/main" cx="6096000" cy="403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8634c1956c4e09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EF67C81-0DA2-446C-8CF3-41F1765C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TCHR（%）：Target-Aware Correct Halting Rate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52DAB75-C1B6-4936-B730-9FF4E3E1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9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9 / 10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A2FA1AF-CF6C-43F3-89B3-74D5064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7145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模型搜索后 TCHR 下降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EE2C4C3-4E94-402B-AD86-0234195D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574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唯一上升：Qwen3.5-397B</a:t>
            </a:r>
          </a:p>
        </p:txBody>
      </p:sp>
      <p:cxnSp>
        <p:nvCxnSpPr>
          <p:cNvPr id="677" name="rule"/>
          <p:cNvCxnSpPr/>
          <p:nvPr/>
        </p:nvCxnSpPr>
        <p:spPr>
          <a:xfrm xmlns:a="http://schemas.openxmlformats.org/drawingml/2006/main">
            <a:off x="6896100" y="25717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47FAD0C-A30E-4B94-AE75-D7A91049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146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20.4–67.3%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75B1331-59AA-4F74-B403-D42ED90F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正确拒答被搜索推翻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00D6D90-1C7B-4848-9184-A551BC55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2766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rescue 仅 4.2–16.9%</a:t>
            </a:r>
          </a:p>
        </p:txBody>
      </p:sp>
      <p:cxnSp>
        <p:nvCxnSpPr>
          <p:cNvPr id="681" name="rule"/>
          <p:cNvCxnSpPr/>
          <p:nvPr/>
        </p:nvCxnSpPr>
        <p:spPr>
          <a:xfrm xmlns:a="http://schemas.openxmlformats.org/drawingml/2006/main">
            <a:off x="6896100" y="37909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887DE25-C034-491B-9EAF-AD417316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338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29.6 / 31.2 / 55.4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20A6D4D-83F4-4247-AA58-8B7BA298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152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98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Root / Middle / Terminal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F01CA0A-C427-4147-B049-80869174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958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Qwen3.5-397B topology TCHR</a:t>
            </a:r>
          </a:p>
        </p:txBody>
      </p:sp>
      <p:cxnSp>
        <p:nvCxnSpPr>
          <p:cNvPr id="685" name="rule"/>
          <p:cNvCxnSpPr/>
          <p:nvPr/>
        </p:nvCxnSpPr>
        <p:spPr>
          <a:xfrm xmlns:a="http://schemas.openxmlformats.org/drawingml/2006/main">
            <a:off x="6896100" y="50101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5934087-22D5-48BE-BCA4-9E58A58E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53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84.7–98.4%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1F6333C0-CC11-4805-B4C7-AEA66451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3721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一旦拒答，理由通常正确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F57DC6F1-5860-4C8D-A326-CB085C8C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7150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瓶颈是“是否承诺不回答”</a:t>
            </a:r>
          </a:p>
        </p:txBody>
      </p:sp>
    </p:spTree>
    <p:extLst>
      <p:ext uri="{BB962C8B-B14F-4D97-AF65-F5344CB8AC3E}">
        <p14:creationId xmlns:p14="http://schemas.microsoft.com/office/powerpoint/2010/main" val="20491111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9D472DF9-A0B7-4EBA-B7BE-3FDFEBB7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研究总结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242FE68-EC3A-4EAB-8555-3A421E96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02870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训练可验证、可优化、可诊断的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222DD33-A8E3-40A2-BB7B-2C7D4121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528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B0A492C-3F1D-4E1F-AE22-708BEA37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定义知识边界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2D25610-0C9F-4516-9B8F-6A9B5D76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DTA benchmark + alignment</a:t>
            </a:r>
          </a:p>
        </p:txBody>
      </p:sp>
      <p:cxnSp>
        <p:nvCxnSpPr>
          <p:cNvPr id="638" name="rule"/>
          <p:cNvCxnSpPr/>
          <p:nvPr/>
        </p:nvCxnSpPr>
        <p:spPr>
          <a:xfrm xmlns:a="http://schemas.openxmlformats.org/drawingml/2006/main">
            <a:off x="400050" y="5257800"/>
            <a:ext cx="2400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C939B3D-9F68-4176-BC5C-3813BCA7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528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ENVIRONMENT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88CF95C-8798-4127-AC5B-FD8B6638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7195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构造可执行环境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3BD686A-E09C-4709-91F8-37814D4F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625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KBQA-R1 KG harness</a:t>
            </a:r>
          </a:p>
        </p:txBody>
      </p:sp>
      <p:cxnSp>
        <p:nvCxnSpPr>
          <p:cNvPr id="642" name="rule"/>
          <p:cNvCxnSpPr/>
          <p:nvPr/>
        </p:nvCxnSpPr>
        <p:spPr>
          <a:xfrm xmlns:a="http://schemas.openxmlformats.org/drawingml/2006/main">
            <a:off x="3219450" y="5257800"/>
            <a:ext cx="2400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A427CFC-DC55-4F32-A199-7DAB1D54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528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CREDIT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C5BC744-5A67-40D0-8ABD-DBA0F93B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7195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定位中间动作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C31F7B6-8FE5-4AAC-BDB9-4457766A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7625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GAPD · EviSD</a:t>
            </a:r>
          </a:p>
        </p:txBody>
      </p:sp>
      <p:cxnSp>
        <p:nvCxnSpPr>
          <p:cNvPr id="646" name="rule"/>
          <p:cNvCxnSpPr/>
          <p:nvPr/>
        </p:nvCxnSpPr>
        <p:spPr>
          <a:xfrm xmlns:a="http://schemas.openxmlformats.org/drawingml/2006/main">
            <a:off x="6038850" y="5257800"/>
            <a:ext cx="2400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D7392BF-427A-464F-8463-34085F76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EVALUATION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1E0A9C20-B2D1-4A3A-A068-E29ABE00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诊断交互行为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F55D7BB-108B-48C4-B7F5-4436ED0D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HopRefusalBench</a:t>
            </a:r>
          </a:p>
        </p:txBody>
      </p:sp>
      <p:cxnSp>
        <p:nvCxnSpPr>
          <p:cNvPr id="650" name="rule"/>
          <p:cNvCxnSpPr/>
          <p:nvPr/>
        </p:nvCxnSpPr>
        <p:spPr>
          <a:xfrm xmlns:a="http://schemas.openxmlformats.org/drawingml/2006/main">
            <a:off x="8858250" y="5257800"/>
            <a:ext cx="2400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2BD37EF1-F03C-431F-8289-355C4F29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Xin Sun · xin.sun@cripac.ia.ac.cn · GitHub: sunxin000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CE89B03-F120-4B5A-B097-286BCEB6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943600"/>
            <a:ext cx="3219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87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119609531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07FB4AA-710F-4E87-AACA-77E3DAF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FRAMEWORK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68E79-FE67-4F15-8262-963D89D1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多轮攻击把越狱从 prompt 搜索变成策略学习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FF47AB6C-34CD-4012-9125-03FF460B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302D7A-002C-4448-8BEB-845DCB92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8fe6532be4f2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400050" y="1466850"/>
            <a:ext cx="11029950" cy="4667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67104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18EE007-A943-4B3A-A723-DA678774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SCALE GAP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7051A9-14D0-4E20-9E6B-0A517A5C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小模型攻击策略难以迁移到 122B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149054D8-0892-4279-9044-556426F3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8E4D42-8A05-4E7C-89D3-73AABFC9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graphicFrame>
        <p:nvGraphicFramePr>
          <p:cNvPr id="23" name="表格 23"/>
          <p:cNvGraphicFramePr/>
          <p:nvPr/>
        </p:nvGraphicFramePr>
        <p:xfrm>
          <a:off xmlns:a="http://schemas.openxmlformats.org/drawingml/2006/main" x="6515100" y="1657350"/>
          <a:ext xmlns:a="http://schemas.openxmlformats.org/drawingml/2006/main" cx="49149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914400"/>
                <a:gridCol w="914400"/>
                <a:gridCol w="8953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Training victim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ID HB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Small OOD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122B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Llama-3.1-8B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84.50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84.56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5.0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Qwen2.5-7B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92.00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78.83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8.0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Gemma-2-9B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83.83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86.25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6.5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Mistral-7B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93.83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59.86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3.0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Macro average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88.54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77.38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5.63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metric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43EAD9AF-5008-40A7-A7A5-B9B6952E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29200"/>
            <a:ext cx="2362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AB264620-4EF8-4957-931C-4D3A11F2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77.38%</a:t>
            </a:r>
          </a:p>
        </p:txBody>
      </p:sp>
      <p:sp>
        <p:nvSpPr>
          <p:cNvPr id="9" name="metric-label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7CE50A9A-AF9B-419F-8026-EC9B4A8C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43550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Small-OOD ASR@3</a:t>
            </a:r>
          </a:p>
        </p:txBody>
      </p:sp>
      <p:sp>
        <p:nvSpPr>
          <p:cNvPr id="10" name="metric-note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B90D9450-3F63-42F3-8E83-7141FA0B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848350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四个小 victim 策略均值</a:t>
            </a:r>
          </a:p>
        </p:txBody>
      </p:sp>
      <p:sp>
        <p:nvSpPr>
          <p:cNvPr id="11" name="metric-average F1">
            <a:extLst xmlns:a="http://schemas.openxmlformats.org/drawingml/2006/main">
              <a:ext uri="{FF2B5EF4-FFF2-40B4-BE49-F238E27FC236}">
                <a16:creationId xmlns:a16="http://schemas.microsoft.com/office/drawing/2014/main" id="{5B3808A4-1EE5-4CE1-9886-2C192844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029200"/>
            <a:ext cx="2362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average F1">
            <a:extLst xmlns:a="http://schemas.openxmlformats.org/drawingml/2006/main">
              <a:ext uri="{FF2B5EF4-FFF2-40B4-BE49-F238E27FC236}">
                <a16:creationId xmlns:a16="http://schemas.microsoft.com/office/drawing/2014/main" id="{802F2536-CC63-4845-9E23-7856A2D3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1244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5.63%</a:t>
            </a:r>
          </a:p>
        </p:txBody>
      </p:sp>
      <p:sp>
        <p:nvSpPr>
          <p:cNvPr id="13" name="metric-label-average F1">
            <a:extLst xmlns:a="http://schemas.openxmlformats.org/drawingml/2006/main">
              <a:ext uri="{FF2B5EF4-FFF2-40B4-BE49-F238E27FC236}">
                <a16:creationId xmlns:a16="http://schemas.microsoft.com/office/drawing/2014/main" id="{84E90C2E-844A-459E-8BA3-76937F38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543550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122B ASR@3</a:t>
            </a:r>
          </a:p>
        </p:txBody>
      </p:sp>
      <p:sp>
        <p:nvSpPr>
          <p:cNvPr id="14" name="metric-note-average F1">
            <a:extLst xmlns:a="http://schemas.openxmlformats.org/drawingml/2006/main">
              <a:ext uri="{FF2B5EF4-FFF2-40B4-BE49-F238E27FC236}">
                <a16:creationId xmlns:a16="http://schemas.microsoft.com/office/drawing/2014/main" id="{6D7D3B87-31B6-4740-9195-F8D39E6D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848350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迁移下降 71.75pp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7D1071E-C1DC-48B9-9022-05C28092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平均 ASR@3 从 Small-OOD 的 77.38% 跌到 122B 的 5.63%；8B 直训强 victim 又长期停在约 5%。</a:t>
            </a:r>
          </a:p>
        </p:txBody>
      </p:sp>
      <p:pic>
        <p:nvPicPr>
          <p:cNvPr id="33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df1865a235462b"/>
          <a:stretch xmlns:a="http://schemas.openxmlformats.org/drawingml/2006/main"/>
        </p:blipFill>
        <p:spPr>
          <a:xfrm xmlns:a="http://schemas.openxmlformats.org/drawingml/2006/main">
            <a:off x="400050" y="1763180"/>
            <a:ext cx="5715000" cy="32935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5467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07FB4AA-710F-4E87-AACA-77E3DAF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27B RL BEFORE / AFTER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68E79-FE67-4F15-8262-963D89D1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27B 训练前后：ASR@3 28.0% → 95.5%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FF47AB6C-34CD-4012-9125-03FF460B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302D7A-002C-4448-8BEB-845DCB92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33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3a6eb50b54040"/>
          <a:srcRect xmlns:a="http://schemas.openxmlformats.org/drawingml/2006/main" l="0" t="17800" r="0" b="9100"/>
          <a:stretch xmlns:a="http://schemas.openxmlformats.org/drawingml/2006/main"/>
        </p:blipFill>
        <p:spPr>
          <a:xfrm xmlns:a="http://schemas.openxmlformats.org/drawingml/2006/main" flipH="0" flipV="0">
            <a:off x="400050" y="1466850"/>
            <a:ext cx="11029950" cy="4667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67104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07FB4AA-710F-4E87-AACA-77E3DAF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GENERALIZATION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68E79-FE67-4F15-8262-963D89D1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同一 27B policy 跨 4 个强 victim，并覆盖中英文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FF47AB6C-34CD-4012-9125-03FF460B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302D7A-002C-4448-8BEB-845DCB92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00050" y="1695450"/>
          <a:ext xmlns:a="http://schemas.openxmlformats.org/drawingml/2006/main" cx="65151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11872d63564cb2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35331B8-AE4E-46D1-82CC-B2A6AE32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651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HB core200：HarmBench-cls · AntEval200：GLM-v6 rubric</a:t>
            </a:r>
          </a:p>
        </p:txBody>
      </p:sp>
      <p:sp>
        <p:nvSpPr>
          <p:cNvPr id="7" name="metric-GrailQA Zero-shot">
            <a:extLst xmlns:a="http://schemas.openxmlformats.org/drawingml/2006/main">
              <a:ext uri="{FF2B5EF4-FFF2-40B4-BE49-F238E27FC236}">
                <a16:creationId xmlns:a16="http://schemas.microsoft.com/office/drawing/2014/main" id="{9EE6178B-4C00-4C85-9BAE-D44035D2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9545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GrailQA Zero-shot">
            <a:extLst xmlns:a="http://schemas.openxmlformats.org/drawingml/2006/main">
              <a:ext uri="{FF2B5EF4-FFF2-40B4-BE49-F238E27FC236}">
                <a16:creationId xmlns:a16="http://schemas.microsoft.com/office/drawing/2014/main" id="{BDFBA2EA-4422-4793-930A-B193A93B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847850"/>
            <a:ext cx="3638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97.4%</a:t>
            </a:r>
          </a:p>
        </p:txBody>
      </p:sp>
      <p:sp>
        <p:nvSpPr>
          <p:cNvPr id="9" name="metric-label-GrailQA Zero-shot">
            <a:extLst xmlns:a="http://schemas.openxmlformats.org/drawingml/2006/main">
              <a:ext uri="{FF2B5EF4-FFF2-40B4-BE49-F238E27FC236}">
                <a16:creationId xmlns:a16="http://schemas.microsoft.com/office/drawing/2014/main" id="{817B546F-8932-4707-A04E-A5851E4D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193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HB macro ASR@3</a:t>
            </a:r>
          </a:p>
        </p:txBody>
      </p:sp>
      <p:sp>
        <p:nvSpPr>
          <p:cNvPr id="10" name="metric-note-GrailQA Zero-shot">
            <a:extLst xmlns:a="http://schemas.openxmlformats.org/drawingml/2006/main">
              <a:ext uri="{FF2B5EF4-FFF2-40B4-BE49-F238E27FC236}">
                <a16:creationId xmlns:a16="http://schemas.microsoft.com/office/drawing/2014/main" id="{3262EC3C-E6FC-4E6A-9CC2-B9040DD2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003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4 个 victim：95.5–98.5%</a:t>
            </a:r>
          </a:p>
        </p:txBody>
      </p:sp>
      <p:sp>
        <p:nvSpPr>
          <p:cNvPr id="11" name="metric-GrailQA Overall">
            <a:extLst xmlns:a="http://schemas.openxmlformats.org/drawingml/2006/main">
              <a:ext uri="{FF2B5EF4-FFF2-40B4-BE49-F238E27FC236}">
                <a16:creationId xmlns:a16="http://schemas.microsoft.com/office/drawing/2014/main" id="{1C00EDA5-3577-41E8-BDF9-22C23721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2425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GrailQA Overall">
            <a:extLst xmlns:a="http://schemas.openxmlformats.org/drawingml/2006/main">
              <a:ext uri="{FF2B5EF4-FFF2-40B4-BE49-F238E27FC236}">
                <a16:creationId xmlns:a16="http://schemas.microsoft.com/office/drawing/2014/main" id="{AA63BD23-2EE3-43DB-9607-F4C42E4C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3638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61.0%</a:t>
            </a:r>
          </a:p>
        </p:txBody>
      </p:sp>
      <p:sp>
        <p:nvSpPr>
          <p:cNvPr id="13" name="metric-label-GrailQA Overall">
            <a:extLst xmlns:a="http://schemas.openxmlformats.org/drawingml/2006/main">
              <a:ext uri="{FF2B5EF4-FFF2-40B4-BE49-F238E27FC236}">
                <a16:creationId xmlns:a16="http://schemas.microsoft.com/office/drawing/2014/main" id="{27F8FF7E-33EC-49F6-B924-2C6826C1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481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AntEval macro ASR@3</a:t>
            </a:r>
          </a:p>
        </p:txBody>
      </p:sp>
      <p:sp>
        <p:nvSpPr>
          <p:cNvPr id="14" name="metric-note-GrailQA Overall">
            <a:extLst xmlns:a="http://schemas.openxmlformats.org/drawingml/2006/main">
              <a:ext uri="{FF2B5EF4-FFF2-40B4-BE49-F238E27FC236}">
                <a16:creationId xmlns:a16="http://schemas.microsoft.com/office/drawing/2014/main" id="{4ECC02BE-CD45-42B9-830A-3C75F9BA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291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Ling 61.5 · GLM 62.5 · Kimi 63.0 · Qwen 57.0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3D040734-FB26-4001-810D-AEA5B5C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530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3889D17-1B8C-4B00-BF7E-E9936141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43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45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仅在 Qwen3.5-122B 上训练；Ling / GLM / Kimi 均为 unseen victim。</a:t>
            </a:r>
          </a:p>
        </p:txBody>
      </p:sp>
    </p:spTree>
    <p:extLst>
      <p:ext uri="{BB962C8B-B14F-4D97-AF65-F5344CB8AC3E}">
        <p14:creationId xmlns:p14="http://schemas.microsoft.com/office/powerpoint/2010/main" val="130267104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82B63FE-AFFC-45D8-B11F-ACE9BF28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SINGLE VS MULTI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C91221-9472-4599-B41B-A14DB3A3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单轮 vs 多轮：3 个数据集平均 1.2% → 26.7%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0D3F7AA2-0F2E-407E-8B66-803ADFDB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030601-6B38-41A4-BF41-BB0376BC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35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52DAB75-C1B6-4936-B730-9FF4E3E1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9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1.2%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A2FA1AF-CF6C-43F3-89B3-74D5064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7145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单轮直送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EE2C4C3-4E94-402B-AD86-0234195D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574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12 cells macro</a:t>
            </a:r>
          </a:p>
        </p:txBody>
      </p:sp>
      <p:cxnSp>
        <p:nvCxnSpPr>
          <p:cNvPr id="653" name="rule"/>
          <p:cNvCxnSpPr/>
          <p:nvPr/>
        </p:nvCxnSpPr>
        <p:spPr>
          <a:xfrm xmlns:a="http://schemas.openxmlformats.org/drawingml/2006/main">
            <a:off x="6896100" y="25717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47FAD0C-A30E-4B94-AE75-D7A91049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146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26.7%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75B1331-59AA-4F74-B403-D42ED90F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多轮 skill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00D6D90-1C7B-4848-9184-A551BC55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2766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canonical base27B</a:t>
            </a:r>
          </a:p>
        </p:txBody>
      </p:sp>
      <p:cxnSp>
        <p:nvCxnSpPr>
          <p:cNvPr id="657" name="rule"/>
          <p:cNvCxnSpPr/>
          <p:nvPr/>
        </p:nvCxnSpPr>
        <p:spPr>
          <a:xfrm xmlns:a="http://schemas.openxmlformats.org/drawingml/2006/main">
            <a:off x="6896100" y="37909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887DE25-C034-491B-9EAF-AD417316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338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+25.5pp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20A6D4D-83F4-4247-AA58-8B7BA298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152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Absolute uplift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F01CA0A-C427-4147-B049-80869174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958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22.4× relative</a:t>
            </a:r>
          </a:p>
        </p:txBody>
      </p:sp>
      <p:cxnSp>
        <p:nvCxnSpPr>
          <p:cNvPr id="661" name="rule"/>
          <p:cNvCxnSpPr/>
          <p:nvPr/>
        </p:nvCxnSpPr>
        <p:spPr>
          <a:xfrm xmlns:a="http://schemas.openxmlformats.org/drawingml/2006/main">
            <a:off x="6896100" y="50101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5934087-22D5-48BE-BCA4-9E58A58E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53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4 / 4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1F6333C0-CC11-4805-B4C7-AEA66451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3721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Victims improve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F57DC6F1-5860-4C8D-A326-CB085C8C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7150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GLM · Kimi · Ling · Qwen</a:t>
            </a:r>
          </a:p>
        </p:txBody>
      </p:sp>
      <p:graphicFrame>
        <p:nvGraphicFramePr>
          <p:cNvPr id="665" name="Chart"/>
          <p:cNvGraphicFramePr/>
          <p:nvPr/>
        </p:nvGraphicFramePr>
        <p:xfrm>
          <a:off xmlns:a="http://schemas.openxmlformats.org/drawingml/2006/main" x="156496" y="2200275"/>
          <a:ext xmlns:a="http://schemas.openxmlformats.org/drawingml/2006/main" cx="6222206" cy="3119152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5559c47ede4bde"/>
          </a:graphicData>
        </a:graphic>
      </p:graphicFrame>
    </p:spTree>
    <p:extLst>
      <p:ext uri="{BB962C8B-B14F-4D97-AF65-F5344CB8AC3E}">
        <p14:creationId xmlns:p14="http://schemas.microsoft.com/office/powerpoint/2010/main" val="204911116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07FB4AA-710F-4E87-AACA-77E3DAF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CROSS-DATASET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68E79-FE67-4F15-8262-963D89D1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4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纯英文 27B policy 跨数据集保持 93.8%–96.0% ASR@3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FF47AB6C-34CD-4012-9125-03FF460B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302D7A-002C-4448-8BEB-845DCB92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36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d06928d584e65"/>
          <a:srcRect xmlns:a="http://schemas.openxmlformats.org/drawingml/2006/main" l="0" t="12219" r="0" b="122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466850"/>
            <a:ext cx="11029950" cy="466725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06F215-F8CA-4AB1-BCDF-146E932C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029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026710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2026-08-31T08:08:30.7620000Z</dcterms:created>
  <dcterms:modified xsi:type="dcterms:W3CDTF">2026-08-31T08:08:30.7620000Z</dcterms:modified>
</coreProperties>
</file>