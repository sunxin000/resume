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0bfe0ffd284044" /><Relationship Type="http://schemas.openxmlformats.org/officeDocument/2006/relationships/extended-properties" Target="/docProps/app.xml" Id="R0615327e66dd4956" /><Relationship Type="http://schemas.openxmlformats.org/officeDocument/2006/relationships/officeDocument" Target="/ppt/presentation.xml" Id="R9753a15ade32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1e7cded1745c3"/>
  </p:sldMasterIdLst>
  <p:notesMasterIdLst>
    <p:notesMasterId xmlns:r="http://schemas.openxmlformats.org/officeDocument/2006/relationships" r:id="Rd68f9f2bf63e41c1"/>
  </p:notesMasterIdLst>
  <p:sldIdLst>
    <p:sldId xmlns:r="http://schemas.openxmlformats.org/officeDocument/2006/relationships" id="256" r:id="R637f227148d14c43"/>
    <p:sldId xmlns:r="http://schemas.openxmlformats.org/officeDocument/2006/relationships" id="257" r:id="Rd635a27049db4128"/>
    <p:sldId xmlns:r="http://schemas.openxmlformats.org/officeDocument/2006/relationships" id="258" r:id="R354dfe8eb1a34a75"/>
    <p:sldId xmlns:r="http://schemas.openxmlformats.org/officeDocument/2006/relationships" id="259" r:id="R08d3f9f1c20f4a1a"/>
    <p:sldId xmlns:r="http://schemas.openxmlformats.org/officeDocument/2006/relationships" id="260" r:id="R7067afb44c544c14"/>
    <p:sldId xmlns:r="http://schemas.openxmlformats.org/officeDocument/2006/relationships" id="261" r:id="R39507b3e6d464a87"/>
    <p:sldId xmlns:r="http://schemas.openxmlformats.org/officeDocument/2006/relationships" id="262" r:id="Re33d1718c3264852"/>
    <p:sldId xmlns:r="http://schemas.openxmlformats.org/officeDocument/2006/relationships" id="263" r:id="Rae2c438b0d8449f6"/>
    <p:sldId xmlns:r="http://schemas.openxmlformats.org/officeDocument/2006/relationships" id="264" r:id="R31c96e0e91cd47b0"/>
    <p:sldId xmlns:r="http://schemas.openxmlformats.org/officeDocument/2006/relationships" id="265" r:id="R6e495d257ea44e5a"/>
    <p:sldId xmlns:r="http://schemas.openxmlformats.org/officeDocument/2006/relationships" id="266" r:id="Ra4c67878c46340a9"/>
    <p:sldId xmlns:r="http://schemas.openxmlformats.org/officeDocument/2006/relationships" id="267" r:id="R0cfb729b1fe3445c"/>
    <p:sldId xmlns:r="http://schemas.openxmlformats.org/officeDocument/2006/relationships" id="268" r:id="R6d7f62a4fd234a08"/>
    <p:sldId xmlns:r="http://schemas.openxmlformats.org/officeDocument/2006/relationships" id="269" r:id="R73e24900eed34864"/>
    <p:sldId xmlns:r="http://schemas.openxmlformats.org/officeDocument/2006/relationships" id="270" r:id="R98608a1935f74744"/>
    <p:sldId xmlns:r="http://schemas.openxmlformats.org/officeDocument/2006/relationships" id="271" r:id="R08412a2626af455b"/>
    <p:sldId xmlns:r="http://schemas.openxmlformats.org/officeDocument/2006/relationships" id="272" r:id="Rc0240ebf0d7e4e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4048644c84afc" /><Relationship Type="http://schemas.openxmlformats.org/officeDocument/2006/relationships/slideMaster" Target="/ppt/slideMasters/slideMaster1.xml" Id="R2351e7cded1745c3" /><Relationship Type="http://schemas.openxmlformats.org/officeDocument/2006/relationships/notesMaster" Target="/ppt/notesMasters/notesMaster1.xml" Id="Rd68f9f2bf63e41c1" /><Relationship Type="http://schemas.openxmlformats.org/officeDocument/2006/relationships/presProps" Target="/ppt/presProps.xml" Id="R503e7c0608ea4d64" /><Relationship Type="http://schemas.openxmlformats.org/officeDocument/2006/relationships/viewProps" Target="/ppt/viewProps.xml" Id="R960e8312aa81491d" /><Relationship Type="http://schemas.openxmlformats.org/officeDocument/2006/relationships/tableStyles" Target="/ppt/tableStyles.xml" Id="R4e05f27400d145bc" /><Relationship Type="http://schemas.openxmlformats.org/officeDocument/2006/relationships/slide" Target="/ppt/slides/slide1.xml" Id="R637f227148d14c43" /><Relationship Type="http://schemas.openxmlformats.org/officeDocument/2006/relationships/slide" Target="/ppt/slides/slide2.xml" Id="Rd635a27049db4128" /><Relationship Type="http://schemas.openxmlformats.org/officeDocument/2006/relationships/slide" Target="/ppt/slides/slide3.xml" Id="R354dfe8eb1a34a75" /><Relationship Type="http://schemas.openxmlformats.org/officeDocument/2006/relationships/slide" Target="/ppt/slides/slide4.xml" Id="R08d3f9f1c20f4a1a" /><Relationship Type="http://schemas.openxmlformats.org/officeDocument/2006/relationships/slide" Target="/ppt/slides/slide5.xml" Id="R7067afb44c544c14" /><Relationship Type="http://schemas.openxmlformats.org/officeDocument/2006/relationships/slide" Target="/ppt/slides/slide6.xml" Id="R39507b3e6d464a87" /><Relationship Type="http://schemas.openxmlformats.org/officeDocument/2006/relationships/slide" Target="/ppt/slides/slide7.xml" Id="Re33d1718c3264852" /><Relationship Type="http://schemas.openxmlformats.org/officeDocument/2006/relationships/slide" Target="/ppt/slides/slide8.xml" Id="Rae2c438b0d8449f6" /><Relationship Type="http://schemas.openxmlformats.org/officeDocument/2006/relationships/slide" Target="/ppt/slides/slide9.xml" Id="R31c96e0e91cd47b0" /><Relationship Type="http://schemas.openxmlformats.org/officeDocument/2006/relationships/slide" Target="/ppt/slides/slide10.xml" Id="R6e495d257ea44e5a" /><Relationship Type="http://schemas.openxmlformats.org/officeDocument/2006/relationships/slide" Target="/ppt/slides/slide11.xml" Id="Ra4c67878c46340a9" /><Relationship Type="http://schemas.openxmlformats.org/officeDocument/2006/relationships/slide" Target="/ppt/slides/slide12.xml" Id="R0cfb729b1fe3445c" /><Relationship Type="http://schemas.openxmlformats.org/officeDocument/2006/relationships/slide" Target="/ppt/slides/slide13.xml" Id="R6d7f62a4fd234a08" /><Relationship Type="http://schemas.openxmlformats.org/officeDocument/2006/relationships/slide" Target="/ppt/slides/slide14.xml" Id="R73e24900eed34864" /><Relationship Type="http://schemas.openxmlformats.org/officeDocument/2006/relationships/slide" Target="/ppt/slides/slide15.xml" Id="R98608a1935f74744" /><Relationship Type="http://schemas.openxmlformats.org/officeDocument/2006/relationships/slide" Target="/ppt/slides/slide16.xml" Id="R08412a2626af455b" /><Relationship Type="http://schemas.openxmlformats.org/officeDocument/2006/relationships/slide" Target="/ppt/slides/slide17.xml" Id="Rc0240ebf0d7e4e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f64f4efc704e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1a203b1f64bb1" /><Relationship Type="http://schemas.openxmlformats.org/officeDocument/2006/relationships/notesMaster" Target="/ppt/notesMasters/notesMaster1.xml" Id="R3b5b2603420841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29912e7d14f29" /><Relationship Type="http://schemas.openxmlformats.org/officeDocument/2006/relationships/notesMaster" Target="/ppt/notesMasters/notesMaster1.xml" Id="Raa505fcac6d445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71ec3f80d48c3" /><Relationship Type="http://schemas.openxmlformats.org/officeDocument/2006/relationships/notesMaster" Target="/ppt/notesMasters/notesMaster1.xml" Id="R933341dd5187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40c6f595214419" /><Relationship Type="http://schemas.openxmlformats.org/officeDocument/2006/relationships/notesMaster" Target="/ppt/notesMasters/notesMaster1.xml" Id="Re61a0bbd4bfd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c17803f0b84923" /><Relationship Type="http://schemas.openxmlformats.org/officeDocument/2006/relationships/notesMaster" Target="/ppt/notesMasters/notesMaster1.xml" Id="Rb18409c68bcf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dc3715012a403a" /><Relationship Type="http://schemas.openxmlformats.org/officeDocument/2006/relationships/notesMaster" Target="/ppt/notesMasters/notesMaster1.xml" Id="R5e827f8973214e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ddb8498db84a8d" /><Relationship Type="http://schemas.openxmlformats.org/officeDocument/2006/relationships/notesMaster" Target="/ppt/notesMasters/notesMaster1.xml" Id="Ra9689e8382ec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019cb98884631" /><Relationship Type="http://schemas.openxmlformats.org/officeDocument/2006/relationships/notesMaster" Target="/ppt/notesMasters/notesMaster1.xml" Id="Rbf495a4e4640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e97d97e5484177" /><Relationship Type="http://schemas.openxmlformats.org/officeDocument/2006/relationships/notesMaster" Target="/ppt/notesMasters/notesMaster1.xml" Id="Rd5c8521f4b124c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d4b404c30741a1" /><Relationship Type="http://schemas.openxmlformats.org/officeDocument/2006/relationships/notesMaster" Target="/ppt/notesMasters/notesMaster1.xml" Id="R5dceeef720754e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00f9faaaf641d2" /><Relationship Type="http://schemas.openxmlformats.org/officeDocument/2006/relationships/notesMaster" Target="/ppt/notesMasters/notesMaster1.xml" Id="R9010ff8d97d94f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4e5f3c077942b5" /><Relationship Type="http://schemas.openxmlformats.org/officeDocument/2006/relationships/notesMaster" Target="/ppt/notesMasters/notesMaster1.xml" Id="R24835cb73f7e49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8bbe06d08b4dc0" /><Relationship Type="http://schemas.openxmlformats.org/officeDocument/2006/relationships/notesMaster" Target="/ppt/notesMasters/notesMaster1.xml" Id="R77548a3023b54f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8f6bb094824665" /><Relationship Type="http://schemas.openxmlformats.org/officeDocument/2006/relationships/notesMaster" Target="/ppt/notesMasters/notesMaster1.xml" Id="R0e9d857be9f44d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bea3d6540f4e80" /><Relationship Type="http://schemas.openxmlformats.org/officeDocument/2006/relationships/notesMaster" Target="/ppt/notesMasters/notesMaster1.xml" Id="Rc8b86f86e75348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d42c969c8c4a0c" /><Relationship Type="http://schemas.openxmlformats.org/officeDocument/2006/relationships/notesMaster" Target="/ppt/notesMasters/notesMaster1.xml" Id="Rc185d2112e79443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7abe14f71843e7" /><Relationship Type="http://schemas.openxmlformats.org/officeDocument/2006/relationships/notesMaster" Target="/ppt/notesMasters/notesMaster1.xml" Id="R5f865f1deacf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profile, internship context, and research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profile and existing presentation.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user-authored presentation: Divide-Then-Align, KBQA-R1, GAPD, EviSD, and HopRefusalBench summaries.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user-authored presentation and internship project materials.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https://arxiv.org/abs/2404.01833 — Crescendo shows that a direct refusal can be bypassed through progressive, response-referencing multi-turn interaction.</a:t>
            </a:r>
          </a:p>
          <a:p xmlns:a="http://schemas.openxmlformats.org/drawingml/2006/main">
            <a:r>
              <a:t>- https://aclanthology.org/2026.acl-long.2220.pdf — TROJail motivates black-box multi-turn jailbreak as a realistic sequential interaction and highlights trajectory-level credit assignment.</a:t>
            </a:r>
          </a:p>
          <a:p xmlns:a="http://schemas.openxmlformats.org/drawingml/2006/main">
            <a:r>
              <a:t>- https://arxiv.org/abs/2602.06854 — SEMA frames single-turn attacks as a special case of the multi-turn chatbot threat model.</a:t>
            </a:r>
          </a:p>
          <a:p xmlns:a="http://schemas.openxmlformats.org/drawingml/2006/main">
            <a:r>
              <a:t>- Original OpenAI ImageGen illustration generated for this slide on 2026-08-18; no paper figure was copied.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- Do not introduce individual papers on the slide. Use them only to support the necessity claim: safety must be evaluated over a feedback-conditioned trajectory, not one isolated prompt.</a:t>
            </a:r>
          </a:p>
          <a:p xmlns:a="http://schemas.openxmlformats.org/drawingml/2006/main">
            <a:r>
              <a:t>[/Talk track]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https://yuque.antfin.com/fengyi.sx/kdssqn/mbq7w47taxlthv55 — claim mapping and experiment plan.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User-authored Multi-Turn Multi-Session Agentic Jailbreak Harness architecture from the source deck.</a:t>
            </a:r>
          </a:p>
          <a:p xmlns:a="http://schemas.openxmlformats.org/drawingml/2006/main">
            <a:r>
              <a:t>- Original OpenAI ImageGen redesign generated on 2026-08-18 using the old diagram only as a content reference.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https://yuque.antfin.com/fengyi.sx/kdssqn/gky36g797fxv1r5g — Our Harness ablation table.</a:t>
            </a:r>
          </a:p>
          <a:p xmlns:a="http://schemas.openxmlformats.org/drawingml/2006/main">
            <a:r>
              <a:t>- https://yuque.antfin.com/fengyi.sx/kdssqn/kni9pbfffgbc6fay — 400 objectives × 3, GLM external judge protocol.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[Calculation]</a:t>
            </a:r>
          </a:p>
          <a:p xmlns:a="http://schemas.openxmlformats.org/drawingml/2006/main">
            <a:r>
              <a:t>- Skill uplift: 51.8 − 33.2 = 18.6 percentage points.</a:t>
            </a:r>
          </a:p>
          <a:p xmlns:a="http://schemas.openxmlformats.org/drawingml/2006/main">
            <a:r>
              <a:t>[/Calculation]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complete harness baseline suite.</a:t>
            </a:r>
          </a:p>
          <a:p xmlns:a="http://schemas.openxmlformats.org/drawingml/2006/main">
            <a:r>
              <a:t>- Ours: ASR@3 75.5%, mean calls 3.56; Crescendo: 59.5%, 2.38; sequential fallback: 59.5%, 2.60.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https://yuque.antfin.com/fengyi.sx/kdssqn/gky36g797fxv1r5g — Agentic Jailbreak 双周实验周报 8.14；“小 victim 策略迁移到 122B”与“直接在 122B 上训练”，updated 2026-08-18.</a:t>
            </a:r>
          </a:p>
          <a:p xmlns:a="http://schemas.openxmlformats.org/drawingml/2006/main">
            <a:r>
              <a:t>- https://intranetproxy.alipay.com/skylark/lark/0/2026/png/160656393/1786690702406-b9f41a57-e3b2-4e04-aee7-cc92c64d7c79.png — 8B attacker vs. Qwen3.5-122B reward-sparsity training curve.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[Calculation]</a:t>
            </a:r>
          </a:p>
          <a:p xmlns:a="http://schemas.openxmlformats.org/drawingml/2006/main">
            <a:r>
              <a:t>- Small-OOD macro ASR@3: 77.38%.</a:t>
            </a:r>
          </a:p>
          <a:p xmlns:a="http://schemas.openxmlformats.org/drawingml/2006/main">
            <a:r>
              <a:t>- Transferred 122B macro ASR@3: 5.63%.</a:t>
            </a:r>
          </a:p>
          <a:p xmlns:a="http://schemas.openxmlformats.org/drawingml/2006/main">
            <a:r>
              <a:t>- Transfer drop: 77.38 − 5.63 = 71.75 percentage points.</a:t>
            </a:r>
          </a:p>
          <a:p xmlns:a="http://schemas.openxmlformats.org/drawingml/2006/main">
            <a:r>
              <a:t>[/Calculation]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final bilingual 27B comparison.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[Caveat]</a:t>
            </a:r>
          </a:p>
          <a:p xmlns:a="http://schemas.openxmlformats.org/drawingml/2006/main">
            <a:r>
              <a:t>- Final checkpoint re-evaluation is 95.5%; 96.8% is the online validation peak.</a:t>
            </a:r>
          </a:p>
          <a:p xmlns:a="http://schemas.openxmlformats.org/drawingml/2006/main">
            <a:r>
              <a:t>- The 28.0% historical pre-RL point uses a 5-turn/no-skill harness and should be rerun for a strict ablation.</a:t>
            </a:r>
          </a:p>
          <a:p xmlns:a="http://schemas.openxmlformats.org/drawingml/2006/main">
            <a:r>
              <a:t>[/Caveat]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final bilingual cross-dataset evaluation.</a:t>
            </a:r>
          </a:p>
          <a:p xmlns:a="http://schemas.openxmlformats.org/drawingml/2006/main">
            <a:r>
              <a:t>- HB: per-traj 82.83%, ASR@1 78.5%, ASR@3 95.5%, mean turns 7.77.</a:t>
            </a:r>
          </a:p>
          <a:p xmlns:a="http://schemas.openxmlformats.org/drawingml/2006/main">
            <a:r>
              <a:t>- AntEval: per-traj 40.48%, ASR@1 37.5%, ASR@3 57.0%, mean turns 7.30.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final bilingual cross-victim evaluation.</a:t>
            </a:r>
          </a:p>
          <a:p xmlns:a="http://schemas.openxmlformats.org/drawingml/2006/main">
            <a:r>
              <a:t>- HB ASR@3: Ling 98.5, GLM 98.5, Kimi 97.0, Qwen 95.5.</a:t>
            </a:r>
          </a:p>
          <a:p xmlns:a="http://schemas.openxmlformats.org/drawingml/2006/main">
            <a:r>
              <a:t>- AntEval ASR@3: Ling 61.5, GLM 62.5, Kimi 63.0, Qwen 57.0.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Heretic-122B zero-shot and bilingual 27B AntEval results.</a:t>
            </a:r>
          </a:p>
          <a:p xmlns:a="http://schemas.openxmlformats.org/drawingml/2006/main">
            <a:r>
              <a:t>- Zero-shot ASR@3: Ling 42.47, GLM 54.17, Kimi 35.83, Qwen 46.21.</a:t>
            </a:r>
          </a:p>
          <a:p xmlns:a="http://schemas.openxmlformats.org/drawingml/2006/main">
            <a:r>
              <a:t>- Final bilingual ASR@3: Ling 61.5, GLM 62.5, Kimi 63.0, Qwen 57.0.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[Calculation]</a:t>
            </a:r>
          </a:p>
          <a:p xmlns:a="http://schemas.openxmlformats.org/drawingml/2006/main">
            <a:r>
              <a:t>- Macro uplift: 61.0 - 44.67 = 16.33 percentage points, shown as +16.3pp.</a:t>
            </a:r>
          </a:p>
          <a:p xmlns:a="http://schemas.openxmlformats.org/drawingml/2006/main">
            <a:r>
              <a:t>[/Calculation]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AntCode Trojail commits dc53731, 1735d3a, 72db7cf, f4650b5, b5851d3, e81067e, and efb7c2c.</a:t>
            </a:r>
          </a:p>
          <a:p xmlns:a="http://schemas.openxmlformats.org/drawingml/2006/main">
            <a:r>
              <a:t>- AntCode Trojail docs/victim_bench_and_3b_idle_analysis_20260817.md.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final cross-victim result, 2026-08-20, closes the previous “27B RL -&gt; 3 unseen victims” gap.</a:t>
            </a:r>
          </a:p>
          <a:p xmlns:a="http://schemas.openxmlformats.org/drawingml/2006/main">
            <a:r>
              <a:t>- Remaining statuses are preserved from the prior experiment plan unless explicitly updated above.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https://yuque.antfin.com/fengyi.sx/kdssqn/qma7a55r6panppyy — final training, generalization, and baseline results.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2d4574dd444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2186834ec45c8" /><Relationship Type="http://schemas.openxmlformats.org/officeDocument/2006/relationships/slideLayout" Target="/ppt/slideLayouts/slideLayout1.xml" Id="R8312a2fb4ff4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2a2fb4ff4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9474d16db485a" /><Relationship Type="http://schemas.openxmlformats.org/officeDocument/2006/relationships/notesSlide" Target="/ppt/notesSlides/notesSlide1.xml" Id="R9ec6336fd49a4a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e128248124f51" /><Relationship Type="http://schemas.openxmlformats.org/officeDocument/2006/relationships/notesSlide" Target="/ppt/notesSlides/notesSlide2.xml" Id="R91cc063ba2ea49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dd241f314853" /><Relationship Type="http://schemas.openxmlformats.org/officeDocument/2006/relationships/notesSlide" Target="/ppt/notesSlides/notesSlide3.xml" Id="Rd9a5ba3b0d6a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cc2cce3a4c14" /><Relationship Type="http://schemas.openxmlformats.org/officeDocument/2006/relationships/notesSlide" Target="/ppt/notesSlides/notesSlide4.xml" Id="R5fa6b45553ef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9f384b68147b4" /><Relationship Type="http://schemas.openxmlformats.org/officeDocument/2006/relationships/image" Target="/ppt/media/image.png" Id="R90f193b91bcd4045" /><Relationship Type="http://schemas.openxmlformats.org/officeDocument/2006/relationships/notesSlide" Target="/ppt/notesSlides/notesSlide5.xml" Id="Rfccbd77182b6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62cea4c5443c2" /><Relationship Type="http://schemas.openxmlformats.org/officeDocument/2006/relationships/notesSlide" Target="/ppt/notesSlides/notesSlide6.xml" Id="R82a03f8cb6684b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7b9cedc7439b" /><Relationship Type="http://schemas.openxmlformats.org/officeDocument/2006/relationships/image" Target="/ppt/media/image2.png" Id="R763319919124496a" /><Relationship Type="http://schemas.openxmlformats.org/officeDocument/2006/relationships/notesSlide" Target="/ppt/notesSlides/notesSlide7.xml" Id="R033509da0cb044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a9e1b1ca54d55" /><Relationship Type="http://schemas.openxmlformats.org/officeDocument/2006/relationships/chart" Target="/ppt/slides/charts/chart1.xml" Id="Rcb11cc3a37e14b64" /><Relationship Type="http://schemas.openxmlformats.org/officeDocument/2006/relationships/notesSlide" Target="/ppt/notesSlides/notesSlide8.xml" Id="R1e95ccd09add49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bd68c26f14a08" /><Relationship Type="http://schemas.openxmlformats.org/officeDocument/2006/relationships/chart" Target="/ppt/slides/charts/chart2.xml" Id="R30182fdddc064d58" /><Relationship Type="http://schemas.openxmlformats.org/officeDocument/2006/relationships/notesSlide" Target="/ppt/notesSlides/notesSlide9.xml" Id="Re392a9c0bb6f40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8d054eff4e63" /><Relationship Type="http://schemas.openxmlformats.org/officeDocument/2006/relationships/image" Target="/ppt/media/image3.png" Id="R728236ec9c624e77" /><Relationship Type="http://schemas.openxmlformats.org/officeDocument/2006/relationships/notesSlide" Target="/ppt/notesSlides/notesSlide10.xml" Id="Rfaedea3b9a9042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f66fde7a046a6" /><Relationship Type="http://schemas.openxmlformats.org/officeDocument/2006/relationships/chart" Target="/ppt/slides/charts/chart3.xml" Id="Rd7da99d5f2aa490f" /><Relationship Type="http://schemas.openxmlformats.org/officeDocument/2006/relationships/notesSlide" Target="/ppt/notesSlides/notesSlide11.xml" Id="R40976640745e44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4f2b212694e8b" /><Relationship Type="http://schemas.openxmlformats.org/officeDocument/2006/relationships/chart" Target="/ppt/slides/charts/chart4.xml" Id="R9d42dce3cc5d4866" /><Relationship Type="http://schemas.openxmlformats.org/officeDocument/2006/relationships/notesSlide" Target="/ppt/notesSlides/notesSlide12.xml" Id="R8be9ae3fc25543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3c2a24fc41c4" /><Relationship Type="http://schemas.openxmlformats.org/officeDocument/2006/relationships/chart" Target="/ppt/slides/charts/chart5.xml" Id="Rb1603bb4e75149ce" /><Relationship Type="http://schemas.openxmlformats.org/officeDocument/2006/relationships/notesSlide" Target="/ppt/notesSlides/notesSlide13.xml" Id="R864b1fe914184b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5e6b8bc44cfb" /><Relationship Type="http://schemas.openxmlformats.org/officeDocument/2006/relationships/chart" Target="/ppt/slides/charts/chart6.xml" Id="R99e5e385971b4db6" /><Relationship Type="http://schemas.openxmlformats.org/officeDocument/2006/relationships/notesSlide" Target="/ppt/notesSlides/notesSlide14.xml" Id="R92ed3977b0bb42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b839cd724e6a" /><Relationship Type="http://schemas.openxmlformats.org/officeDocument/2006/relationships/notesSlide" Target="/ppt/notesSlides/notesSlide15.xml" Id="R1fef43ce28b746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89162e964a17" /><Relationship Type="http://schemas.openxmlformats.org/officeDocument/2006/relationships/notesSlide" Target="/ppt/notesSlides/notesSlide16.xml" Id="Rc27112da355241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2521f8d414ef6" /><Relationship Type="http://schemas.openxmlformats.org/officeDocument/2006/relationships/notesSlide" Target="/ppt/notesSlides/notesSlide17.xml" Id="Rf79804a0374f48c6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Trajectory ASR</c:v>
          </c:tx>
          <c:spPr>
            <a:solidFill xmlns:a="http://schemas.openxmlformats.org/drawingml/2006/main">
              <a:srgbClr val="69C2E7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One session</c:v>
              </c:pt>
              <c:pt idx="1">
                <c:v>+ Reset</c:v>
              </c:pt>
              <c:pt idx="2">
                <c:v>+ Ledger</c:v>
              </c:pt>
              <c:pt idx="3">
                <c:v>+ Skills</c:v>
              </c:pt>
            </c:strLit>
          </c:cat>
          <c:val>
            <c:numLit>
              <c:formatCode>General</c:formatCode>
              <c:ptCount val="4"/>
              <c:pt idx="0">
                <c:v>16.1</c:v>
              </c:pt>
              <c:pt idx="1">
                <c:v>16.2</c:v>
              </c:pt>
              <c:pt idx="2">
                <c:v>15.5</c:v>
              </c:pt>
              <c:pt idx="3">
                <c:v>23.2</c:v>
              </c:pt>
            </c:numLit>
          </c:val>
        </c:ser>
        <c:ser>
          <c:idx val="1"/>
          <c:order val="1"/>
          <c:tx>
            <c:v>ASR@3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One session</c:v>
              </c:pt>
              <c:pt idx="1">
                <c:v>+ Reset</c:v>
              </c:pt>
              <c:pt idx="2">
                <c:v>+ Ledger</c:v>
              </c:pt>
              <c:pt idx="3">
                <c:v>+ Skills</c:v>
              </c:pt>
            </c:strLit>
          </c:cat>
          <c:val>
            <c:numLit>
              <c:formatCode>General</c:formatCode>
              <c:ptCount val="4"/>
              <c:pt idx="0">
                <c:v>33.2</c:v>
              </c:pt>
              <c:pt idx="1">
                <c:v>36.3</c:v>
              </c:pt>
              <c:pt idx="2">
                <c:v>33.2</c:v>
              </c:pt>
              <c:pt idx="3">
                <c:v>51.8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A0A0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6EA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7C0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Ours</c:v>
          </c:tx>
          <c:spPr>
            <a:solidFill xmlns:a="http://schemas.openxmlformats.org/drawingml/2006/main">
              <a:srgbClr val="2F6DF6"/>
            </a:solidFill>
            <a:ln xmlns:a="http://schemas.openxmlformats.org/drawingml/2006/main" w="19050">
              <a:solidFill>
                <a:srgbClr val="2F6DF6"/>
              </a:solidFill>
              <a:prstDash val="solid"/>
            </a:ln>
          </c:spPr>
          <c:marker>
            <c:symbol val="circle"/>
            <c:size val="11"/>
            <c:spPr>
              <a:solidFill xmlns:a="http://schemas.openxmlformats.org/drawingml/2006/main">
                <a:srgbClr val="2F6DF6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750" b="1">
                        <a:solidFill>
                          <a:srgbClr val="2F6DF6"/>
                        </a:solidFill>
                      </a:rPr>
                      <a:t>Ours 75.5%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750" b="1">
                      <a:solidFill>
                        <a:srgbClr val="2F6DF6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Lit>
              <c:formatCode>General</c:formatCode>
              <c:ptCount val="1"/>
              <c:pt idx="0">
                <c:v>3.56</c:v>
              </c:pt>
            </c:numLit>
          </c:xVal>
          <c:yVal>
            <c:numLit>
              <c:formatCode>General</c:formatCode>
              <c:ptCount val="1"/>
              <c:pt idx="0">
                <c:v>75.5</c:v>
              </c:pt>
            </c:numLit>
          </c:yVal>
        </c:ser>
        <c:ser>
          <c:idx val="1"/>
          <c:order val="1"/>
          <c:tx>
            <c:v>Crescendo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19050">
              <a:solidFill>
                <a:srgbClr val="F59E0B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59E0B"/>
              </a:solidFill>
            </c:spPr>
          </c:marker>
          <c:xVal>
            <c:numLit>
              <c:formatCode>General</c:formatCode>
              <c:ptCount val="1"/>
              <c:pt idx="0">
                <c:v>2.38</c:v>
              </c:pt>
            </c:numLit>
          </c:xVal>
          <c:yVal>
            <c:numLit>
              <c:formatCode>General</c:formatCode>
              <c:ptCount val="1"/>
              <c:pt idx="0">
                <c:v>59.5</c:v>
              </c:pt>
            </c:numLit>
          </c:yVal>
        </c:ser>
        <c:ser>
          <c:idx val="2"/>
          <c:order val="2"/>
          <c:tx>
            <c:v>Sequential fallback</c:v>
          </c:tx>
          <c:spPr>
            <a:solidFill xmlns:a="http://schemas.openxmlformats.org/drawingml/2006/main">
              <a:srgbClr val="7357F6"/>
            </a:solidFill>
            <a:ln xmlns:a="http://schemas.openxmlformats.org/drawingml/2006/main" w="19050">
              <a:solidFill>
                <a:srgbClr val="7357F6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7357F6"/>
              </a:solidFill>
            </c:spPr>
          </c:marker>
          <c:xVal>
            <c:numLit>
              <c:formatCode>General</c:formatCode>
              <c:ptCount val="1"/>
              <c:pt idx="0">
                <c:v>2.6</c:v>
              </c:pt>
            </c:numLit>
          </c:xVal>
          <c:yVal>
            <c:numLit>
              <c:formatCode>General</c:formatCode>
              <c:ptCount val="1"/>
              <c:pt idx="0">
                <c:v>59.5</c:v>
              </c:pt>
            </c:numLit>
          </c:yVal>
        </c:ser>
        <c:ser>
          <c:idx val="3"/>
          <c:order val="3"/>
          <c:tx>
            <c:v>Other baselines</c:v>
          </c:tx>
          <c:spPr>
            <a:solidFill xmlns:a="http://schemas.openxmlformats.org/drawingml/2006/main">
              <a:srgbClr val="596579"/>
            </a:solidFill>
            <a:ln xmlns:a="http://schemas.openxmlformats.org/drawingml/2006/main" w="9525">
              <a:solidFill>
                <a:srgbClr val="59657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96579"/>
              </a:solidFill>
            </c:spPr>
          </c:marke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>
                        <a:solidFill>
                          <a:srgbClr val="374151"/>
                        </a:solidFill>
                      </a:rPr>
                      <a:t>PAIR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>
                      <a:solidFill>
                        <a:srgbClr val="37415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>
                        <a:solidFill>
                          <a:srgbClr val="374151"/>
                        </a:solidFill>
                      </a:rPr>
                      <a:t>TAP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>
                      <a:solidFill>
                        <a:srgbClr val="37415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>
                        <a:solidFill>
                          <a:srgbClr val="374151"/>
                        </a:solidFill>
                      </a:rPr>
                      <a:t>RedTeaming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>
                      <a:solidFill>
                        <a:srgbClr val="37415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>
                        <a:solidFill>
                          <a:srgbClr val="374151"/>
                        </a:solidFill>
                      </a:rPr>
                      <a:t>Chunked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>
                      <a:solidFill>
                        <a:srgbClr val="37415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xVal>
            <c:numLit>
              <c:formatCode>General</c:formatCode>
              <c:ptCount val="11"/>
              <c:pt idx="0">
                <c:v>3.35</c:v>
              </c:pt>
              <c:pt idx="1">
                <c:v>2.34</c:v>
              </c:pt>
              <c:pt idx="2">
                <c:v>5.85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10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xVal>
          <c:yVal>
            <c:numLit>
              <c:formatCode>General</c:formatCode>
              <c:ptCount val="11"/>
              <c:pt idx="0">
                <c:v>43</c:v>
              </c:pt>
              <c:pt idx="1">
                <c:v>31.5</c:v>
              </c:pt>
              <c:pt idx="2">
                <c:v>19</c:v>
              </c:pt>
              <c:pt idx="3">
                <c:v>1.5</c:v>
              </c:pt>
              <c:pt idx="4">
                <c:v>5</c:v>
              </c:pt>
              <c:pt idx="5">
                <c:v>0.5</c:v>
              </c:pt>
              <c:pt idx="6">
                <c:v>0.5</c:v>
              </c:pt>
              <c:pt idx="7">
                <c:v>1.5</c:v>
              </c:pt>
              <c:pt idx="8">
                <c:v>0.5</c:v>
              </c:pt>
              <c:pt idx="9">
                <c:v>0.5</c:v>
              </c:pt>
              <c:pt idx="10">
                <c:v>0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374151"/>
                    </a:solidFill>
                  </a:rPr>
                  <a:t>ASR@3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7415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0.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1F5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50">
                    <a:solidFill>
                      <a:srgbClr val="374151"/>
                    </a:solidFill>
                  </a:rPr>
                  <a:t>Mean victim calls / trajectory 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37415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37415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ASR@3</c:v>
          </c:tx>
          <c:dPt>
            <c:idx val="0"/>
            <c:invertIfNegative val="0"/>
            <c:spPr>
              <a:solidFill xmlns:a="http://schemas.openxmlformats.org/drawingml/2006/main">
                <a:srgbClr val="9AA6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6DF6"/>
              </a:solidFill>
            </c:spPr>
          </c:dPt>
          <c:cat>
            <c:strLit>
              <c:ptCount val="3"/>
              <c:pt idx="0">
                <c:v>27B before RL</c:v>
              </c:pt>
              <c:pt idx="1">
                <c:v>Heretic-122B
zero-shot</c:v>
              </c:pt>
              <c:pt idx="2">
                <c:v>27B bilingual RL</c:v>
              </c:pt>
            </c:strLit>
          </c:cat>
          <c:val>
            <c:numLit>
              <c:formatCode>0</c:formatCode>
              <c:ptCount val="3"/>
              <c:pt idx="0">
                <c:v>28</c:v>
              </c:pt>
              <c:pt idx="1">
                <c:v>75.5</c:v>
              </c:pt>
              <c:pt idx="2">
                <c:v>95.5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7415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Per-traj ASR</c:v>
          </c:tx>
          <c:spPr>
            <a:solidFill xmlns:a="http://schemas.openxmlformats.org/drawingml/2006/main">
              <a:srgbClr val="5EC4BD"/>
            </a:solidFill>
          </c:spPr>
          <c:cat>
            <c:strLit>
              <c:ptCount val="2"/>
              <c:pt idx="0">
                <c:v>HarmBench core200</c:v>
              </c:pt>
              <c:pt idx="1">
                <c:v>AntEval200</c:v>
              </c:pt>
            </c:strLit>
          </c:cat>
          <c:val>
            <c:numLit>
              <c:formatCode>0</c:formatCode>
              <c:ptCount val="2"/>
              <c:pt idx="0">
                <c:v>82.83</c:v>
              </c:pt>
              <c:pt idx="1">
                <c:v>40.48</c:v>
              </c:pt>
            </c:numLit>
          </c:val>
        </c:ser>
        <c:ser>
          <c:idx val="1"/>
          <c:order val="1"/>
          <c:tx>
            <c:v>ASR@1</c:v>
          </c:tx>
          <c:spPr>
            <a:solidFill xmlns:a="http://schemas.openxmlformats.org/drawingml/2006/main">
              <a:srgbClr val="9DBAF5"/>
            </a:solidFill>
          </c:spPr>
          <c:cat>
            <c:strLit>
              <c:ptCount val="2"/>
              <c:pt idx="0">
                <c:v>HarmBench core200</c:v>
              </c:pt>
              <c:pt idx="1">
                <c:v>AntEval200</c:v>
              </c:pt>
            </c:strLit>
          </c:cat>
          <c:val>
            <c:numLit>
              <c:formatCode>0</c:formatCode>
              <c:ptCount val="2"/>
              <c:pt idx="0">
                <c:v>78.5</c:v>
              </c:pt>
              <c:pt idx="1">
                <c:v>37.5</c:v>
              </c:pt>
            </c:numLit>
          </c:val>
        </c:ser>
        <c:ser>
          <c:idx val="2"/>
          <c:order val="2"/>
          <c:tx>
            <c:v>ASR@3</c:v>
          </c:tx>
          <c:spPr>
            <a:solidFill xmlns:a="http://schemas.openxmlformats.org/drawingml/2006/main">
              <a:srgbClr val="2F6DF6"/>
            </a:solidFill>
          </c:spPr>
          <c:cat>
            <c:strLit>
              <c:ptCount val="2"/>
              <c:pt idx="0">
                <c:v>HarmBench core200</c:v>
              </c:pt>
              <c:pt idx="1">
                <c:v>AntEval200</c:v>
              </c:pt>
            </c:strLit>
          </c:cat>
          <c:val>
            <c:numLit>
              <c:formatCode>0</c:formatCode>
              <c:ptCount val="2"/>
              <c:pt idx="0">
                <c:v>95.5</c:v>
              </c:pt>
              <c:pt idx="1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7415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HB ASR@3</c:v>
          </c:tx>
          <c:spPr>
            <a:solidFill xmlns:a="http://schemas.openxmlformats.org/drawingml/2006/main">
              <a:srgbClr val="2F6DF6"/>
            </a:solidFill>
          </c:spPr>
          <c:cat>
            <c:strLit>
              <c:ptCount val="4"/>
              <c:pt idx="0">
                <c:v>Ling-3.0</c:v>
              </c:pt>
              <c:pt idx="1">
                <c:v>GLM-5.2</c:v>
              </c:pt>
              <c:pt idx="2">
                <c:v>Kimi-K2.6</c:v>
              </c:pt>
              <c:pt idx="3">
                <c:v>Qwen3.5-122B</c:v>
              </c:pt>
            </c:strLit>
          </c:cat>
          <c:val>
            <c:numLit>
              <c:formatCode>0</c:formatCode>
              <c:ptCount val="4"/>
              <c:pt idx="0">
                <c:v>98.5</c:v>
              </c:pt>
              <c:pt idx="1">
                <c:v>98.5</c:v>
              </c:pt>
              <c:pt idx="2">
                <c:v>97</c:v>
              </c:pt>
              <c:pt idx="3">
                <c:v>95.5</c:v>
              </c:pt>
            </c:numLit>
          </c:val>
        </c:ser>
        <c:ser>
          <c:idx val="1"/>
          <c:order val="1"/>
          <c:tx>
            <c:v>AntEval ASR@3</c:v>
          </c:tx>
          <c:spPr>
            <a:solidFill xmlns:a="http://schemas.openxmlformats.org/drawingml/2006/main">
              <a:srgbClr val="5EC4BD"/>
            </a:solidFill>
          </c:spPr>
          <c:cat>
            <c:strLit>
              <c:ptCount val="4"/>
              <c:pt idx="0">
                <c:v>Ling-3.0</c:v>
              </c:pt>
              <c:pt idx="1">
                <c:v>GLM-5.2</c:v>
              </c:pt>
              <c:pt idx="2">
                <c:v>Kimi-K2.6</c:v>
              </c:pt>
              <c:pt idx="3">
                <c:v>Qwen3.5-122B</c:v>
              </c:pt>
            </c:strLit>
          </c:cat>
          <c:val>
            <c:numLit>
              <c:formatCode>0</c:formatCode>
              <c:ptCount val="4"/>
              <c:pt idx="0">
                <c:v>61.5</c:v>
              </c:pt>
              <c:pt idx="1">
                <c:v>62.5</c:v>
              </c:pt>
              <c:pt idx="2">
                <c:v>63</c:v>
              </c:pt>
              <c:pt idx="3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7415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Heretic-122B zero-shot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Ling-3.0</c:v>
              </c:pt>
              <c:pt idx="1">
                <c:v>GLM-5.2</c:v>
              </c:pt>
              <c:pt idx="2">
                <c:v>Kimi-K2.6</c:v>
              </c:pt>
              <c:pt idx="3">
                <c:v>Qwen3.5-122B</c:v>
              </c:pt>
            </c:strLit>
          </c:cat>
          <c:val>
            <c:numLit>
              <c:formatCode>0</c:formatCode>
              <c:ptCount val="4"/>
              <c:pt idx="0">
                <c:v>42.47</c:v>
              </c:pt>
              <c:pt idx="1">
                <c:v>54.17</c:v>
              </c:pt>
              <c:pt idx="2">
                <c:v>35.83</c:v>
              </c:pt>
              <c:pt idx="3">
                <c:v>46.21</c:v>
              </c:pt>
            </c:numLit>
          </c:val>
        </c:ser>
        <c:ser>
          <c:idx val="1"/>
          <c:order val="1"/>
          <c:tx>
            <c:v>Bilingual 27B RL</c:v>
          </c:tx>
          <c:spPr>
            <a:solidFill xmlns:a="http://schemas.openxmlformats.org/drawingml/2006/main">
              <a:srgbClr val="2F6DF6"/>
            </a:solidFill>
          </c:spPr>
          <c:cat>
            <c:strLit>
              <c:ptCount val="4"/>
              <c:pt idx="0">
                <c:v>Ling-3.0</c:v>
              </c:pt>
              <c:pt idx="1">
                <c:v>GLM-5.2</c:v>
              </c:pt>
              <c:pt idx="2">
                <c:v>Kimi-K2.6</c:v>
              </c:pt>
              <c:pt idx="3">
                <c:v>Qwen3.5-122B</c:v>
              </c:pt>
            </c:strLit>
          </c:cat>
          <c:val>
            <c:numLit>
              <c:formatCode>0</c:formatCode>
              <c:ptCount val="4"/>
              <c:pt idx="0">
                <c:v>61.5</c:v>
              </c:pt>
              <c:pt idx="1">
                <c:v>62.5</c:v>
              </c:pt>
              <c:pt idx="2">
                <c:v>63</c:v>
              </c:pt>
              <c:pt idx="3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7415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3C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B7280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9C6A64-3744-473F-BC6E-2BD664C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孙鑫 · 蚂蚁暑期实习转正答辩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5C0EB07-689F-4A71-9528-54F45BAD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28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Multi-turn Attacker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5296AD-E411-46E7-AB89-4E1CD916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面向强模型的可训练多轮红队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669374-FDDA-46CF-B084-E4E64C50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中国科学技术大学 / 中国科学院自动化研究所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蚂蚁集团机器智能部 · 2026.08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4F2CA34-EF3B-4850-A0EB-0DDB9A9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30099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rPr>
              <a:t>SPARSITY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rPr>
              <a:t>GENERALIZATION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8EAED"/>
                </a:solidFill>
                <a:latin typeface="Helvetica Neue"/>
                <a:ea typeface="Helvetica Neue"/>
                <a:cs typeface="Helvetica Neue"/>
              </a:rPr>
              <a:t>SYSTEM</a:t>
            </a:r>
          </a:p>
        </p:txBody>
      </p:sp>
      <p:sp>
        <p:nvSpPr>
          <p:cNvPr id="6" name="cover-mark">
            <a:extLst xmlns:a="http://schemas.openxmlformats.org/drawingml/2006/main">
              <a:ext uri="{FF2B5EF4-FFF2-40B4-BE49-F238E27FC236}">
                <a16:creationId xmlns:a16="http://schemas.microsoft.com/office/drawing/2014/main" id="{268D44E1-8C5B-4FAA-8899-5D2FD937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1227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C029253-8E61-4228-B9C5-5D78E6D9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PROFILE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27CE36-F840-4231-967C-A2D4BF86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个人简介：研究经历与成果概览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CB25D33-834A-4A69-88AC-6EE759B8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032A07-03E6-4184-9954-C3FCB2DF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C11794-7D45-4870-89AE-6E344E2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中国科学技术大学博士 · 中科院自动化所 NLPR 联培 · 蚂蚁集团机器智能部门蚂蚁星实习生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DDCD51-EE2E-4E2C-BE23-E15DC128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导师：王亮 教授（IEEE Fellow）、刘强 副研究员 · 研究生国家奖学金（2024）</a:t>
            </a:r>
          </a:p>
        </p:txBody>
      </p:sp>
      <p:sp>
        <p:nvSpPr>
          <p:cNvPr id="7" name="metric-一作 / 共同一作">
            <a:extLst xmlns:a="http://schemas.openxmlformats.org/drawingml/2006/main">
              <a:ext uri="{FF2B5EF4-FFF2-40B4-BE49-F238E27FC236}">
                <a16:creationId xmlns:a16="http://schemas.microsoft.com/office/drawing/2014/main" id="{61A3109A-2C4A-46EF-9977-07003446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29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一作 / 共同一作">
            <a:extLst xmlns:a="http://schemas.openxmlformats.org/drawingml/2006/main">
              <a:ext uri="{FF2B5EF4-FFF2-40B4-BE49-F238E27FC236}">
                <a16:creationId xmlns:a16="http://schemas.microsoft.com/office/drawing/2014/main" id="{564BB8A2-BE04-4412-9FE1-F3ED118C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9" name="metric-label-一作 / 共同一作">
            <a:extLst xmlns:a="http://schemas.openxmlformats.org/drawingml/2006/main">
              <a:ext uri="{FF2B5EF4-FFF2-40B4-BE49-F238E27FC236}">
                <a16:creationId xmlns:a16="http://schemas.microsoft.com/office/drawing/2014/main" id="{B903E06F-807E-4176-9317-DE91798C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一作 / 共同一作</a:t>
            </a:r>
          </a:p>
        </p:txBody>
      </p:sp>
      <p:sp>
        <p:nvSpPr>
          <p:cNvPr id="10" name="metric-note-一作 / 共同一作">
            <a:extLst xmlns:a="http://schemas.openxmlformats.org/drawingml/2006/main">
              <a:ext uri="{FF2B5EF4-FFF2-40B4-BE49-F238E27FC236}">
                <a16:creationId xmlns:a16="http://schemas.microsoft.com/office/drawing/2014/main" id="{AC801B47-F387-47C7-AB9C-A137AEEB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971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覆盖 RAG、Agent RL、可靠评测</a:t>
            </a:r>
          </a:p>
        </p:txBody>
      </p:sp>
      <p:sp>
        <p:nvSpPr>
          <p:cNvPr id="11" name="metric-已发表一作 / 共一">
            <a:extLst xmlns:a="http://schemas.openxmlformats.org/drawingml/2006/main">
              <a:ext uri="{FF2B5EF4-FFF2-40B4-BE49-F238E27FC236}">
                <a16:creationId xmlns:a16="http://schemas.microsoft.com/office/drawing/2014/main" id="{D5D15525-5258-4C1D-8BA9-2B4D2CB3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已发表一作 / 共一">
            <a:extLst xmlns:a="http://schemas.openxmlformats.org/drawingml/2006/main">
              <a:ext uri="{FF2B5EF4-FFF2-40B4-BE49-F238E27FC236}">
                <a16:creationId xmlns:a16="http://schemas.microsoft.com/office/drawing/2014/main" id="{9C34DD12-D8C0-4AB9-900E-A2ACB9B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metric-label-已发表一作 / 共一">
            <a:extLst xmlns:a="http://schemas.openxmlformats.org/drawingml/2006/main">
              <a:ext uri="{FF2B5EF4-FFF2-40B4-BE49-F238E27FC236}">
                <a16:creationId xmlns:a16="http://schemas.microsoft.com/office/drawing/2014/main" id="{1B02DA9B-39FF-45A4-A1B2-62908BE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已发表一作 / 共一</a:t>
            </a:r>
          </a:p>
        </p:txBody>
      </p:sp>
      <p:sp>
        <p:nvSpPr>
          <p:cNvPr id="14" name="metric-note-已发表一作 / 共一">
            <a:extLst xmlns:a="http://schemas.openxmlformats.org/drawingml/2006/main">
              <a:ext uri="{FF2B5EF4-FFF2-40B4-BE49-F238E27FC236}">
                <a16:creationId xmlns:a16="http://schemas.microsoft.com/office/drawing/2014/main" id="{560C59E8-D6AE-4D3F-B5A0-E2452045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48200"/>
            <a:ext cx="2971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CCF-A 4 篇 · CCF-B 2 篇</a:t>
            </a:r>
          </a:p>
        </p:txBody>
      </p:sp>
      <p:sp>
        <p:nvSpPr>
          <p:cNvPr id="15" name="metric-当前投稿">
            <a:extLst xmlns:a="http://schemas.openxmlformats.org/drawingml/2006/main">
              <a:ext uri="{FF2B5EF4-FFF2-40B4-BE49-F238E27FC236}">
                <a16:creationId xmlns:a16="http://schemas.microsoft.com/office/drawing/2014/main" id="{F2610F6A-39C0-441F-A433-8FC3AC94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429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stat-当前投稿">
            <a:extLst xmlns:a="http://schemas.openxmlformats.org/drawingml/2006/main">
              <a:ext uri="{FF2B5EF4-FFF2-40B4-BE49-F238E27FC236}">
                <a16:creationId xmlns:a16="http://schemas.microsoft.com/office/drawing/2014/main" id="{B900CE33-FAF7-4BF8-BF52-7C850AF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metric-label-当前投稿">
            <a:extLst xmlns:a="http://schemas.openxmlformats.org/drawingml/2006/main">
              <a:ext uri="{FF2B5EF4-FFF2-40B4-BE49-F238E27FC236}">
                <a16:creationId xmlns:a16="http://schemas.microsoft.com/office/drawing/2014/main" id="{66F1B1E3-1147-4803-93F5-8C598A8C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当前投稿</a:t>
            </a:r>
          </a:p>
        </p:txBody>
      </p:sp>
      <p:sp>
        <p:nvSpPr>
          <p:cNvPr id="18" name="metric-note-当前投稿">
            <a:extLst xmlns:a="http://schemas.openxmlformats.org/drawingml/2006/main">
              <a:ext uri="{FF2B5EF4-FFF2-40B4-BE49-F238E27FC236}">
                <a16:creationId xmlns:a16="http://schemas.microsoft.com/office/drawing/2014/main" id="{DF9FA69E-9DBE-4223-ABF5-4B1E8880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48200"/>
            <a:ext cx="2971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EMNLP 2026 · AAAI 2027 × 2</a:t>
            </a:r>
          </a:p>
        </p:txBody>
      </p:sp>
    </p:spTree>
    <p:extLst>
      <p:ext uri="{BB962C8B-B14F-4D97-AF65-F5344CB8AC3E}">
        <p14:creationId xmlns:p14="http://schemas.microsoft.com/office/powerpoint/2010/main" val="9746885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E3406F8-4C6B-4CE7-A94B-C36EF1C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PORTFOLIO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DBEF1A-F04C-40E5-BCD1-8984ADA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其他研究：围绕知识智能体的四个问题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CD7B2E2-8433-4B76-A76F-F4E9334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B694F-3B34-43AB-A794-ED05113E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AC1248-1058-4E1F-84D8-6A1415B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1D42F5-82EA-4CAF-9B35-DE025F01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知识边界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39F947-912A-4165-AED6-534FBC6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Divide–Then–Align：benchmark + 诚实对齐</a:t>
            </a:r>
          </a:p>
        </p:txBody>
      </p:sp>
      <p:cxnSp>
        <p:nvCxnSpPr>
          <p:cNvPr id="709" name="rule"/>
          <p:cNvCxnSpPr/>
          <p:nvPr/>
        </p:nvCxnSpPr>
        <p:spPr>
          <a:xfrm xmlns:a="http://schemas.openxmlformats.org/drawingml/2006/main">
            <a:off x="1409700" y="2343150"/>
            <a:ext cx="10153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402BB35-2560-4527-B1E1-94898FDA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DF384E-8B14-45D8-A727-1349B4B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交互环境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8DD576-5594-44C1-A019-5C5E86B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KBQA–R1：KG harness + Agent RL</a:t>
            </a:r>
          </a:p>
        </p:txBody>
      </p:sp>
      <p:cxnSp>
        <p:nvCxnSpPr>
          <p:cNvPr id="713" name="rule"/>
          <p:cNvCxnSpPr/>
          <p:nvPr/>
        </p:nvCxnSpPr>
        <p:spPr>
          <a:xfrm xmlns:a="http://schemas.openxmlformats.org/drawingml/2006/main">
            <a:off x="1409700" y="3371850"/>
            <a:ext cx="10153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64A2A7-06D0-47DF-9671-E05CA08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EFAA84-86B9-4CB5-B3AD-8ADAA660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信用分配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E8B5AC-32A2-45A2-AD43-BBE26D1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GAPD + EviSD：利用特权信息和OPD给予RL细粒度奖励</a:t>
            </a:r>
          </a:p>
        </p:txBody>
      </p:sp>
      <p:cxnSp>
        <p:nvCxnSpPr>
          <p:cNvPr id="717" name="rule"/>
          <p:cNvCxnSpPr/>
          <p:nvPr/>
        </p:nvCxnSpPr>
        <p:spPr>
          <a:xfrm xmlns:a="http://schemas.openxmlformats.org/drawingml/2006/main">
            <a:off x="1409700" y="4400550"/>
            <a:ext cx="10153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26C2A07-650F-4FB3-819E-2707CF0E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ABD3A6-F68F-48DA-8533-65E47A43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00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行为评测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6EEE21B-BB96-41EA-B7D5-A39AFF3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00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HopRefusalBench：多跳不可回答行为诊断</a:t>
            </a:r>
          </a:p>
        </p:txBody>
      </p:sp>
      <p:cxnSp>
        <p:nvCxnSpPr>
          <p:cNvPr id="721" name="rule"/>
          <p:cNvCxnSpPr/>
          <p:nvPr/>
        </p:nvCxnSpPr>
        <p:spPr>
          <a:xfrm xmlns:a="http://schemas.openxmlformats.org/drawingml/2006/main">
            <a:off x="1409700" y="5429250"/>
            <a:ext cx="10153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98934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4B453A0-B893-4E81-9A0D-AF1CA25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RESEARCH ARC · INTERNSHIP FOCUS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B0AF7-476B-4CCA-8F91-02B4B28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研究主线最终落到：让智能体在真实反馈中持续学习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B30B16F-3055-42F5-B48E-456558A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84DC8C-A774-4675-AD95-04A2E6F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A44674-C298-415F-949B-817C25D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2025</a:t>
            </a:r>
          </a:p>
        </p:txBody>
      </p:sp>
      <p:cxnSp>
        <p:nvCxnSpPr>
          <p:cNvPr id="569" name="rule"/>
          <p:cNvCxnSpPr/>
          <p:nvPr/>
        </p:nvCxnSpPr>
        <p:spPr>
          <a:xfrm xmlns:a="http://schemas.openxmlformats.org/drawingml/2006/main">
            <a:off x="4000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51AAF10-8576-46DD-B53C-14F4F0F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6095B4-5CCB-4D3E-8FED-D7E5947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知识边界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D949DE-4CA9-4BCC-B44F-8AD718C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先回答“哪些问题应该答”：构造 DTA，并联合参数知识与检索知识进行诚实对齐。</a:t>
            </a:r>
          </a:p>
          <a:p xmlns:a="http://schemas.openxmlformats.org/drawingml/2006/main">
            <a:r>
              <a:t/>
            </a:r>
            <a:endParaRPr sz="1500" b="0" i="0">
              <a:solidFill>
                <a:srgbClr val="59616D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ctr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Divide–Then–Align · ACL 2025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D6DEDA-5E3D-4356-98AB-427A64C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2026 H1</a:t>
            </a:r>
          </a:p>
        </p:txBody>
      </p:sp>
      <p:cxnSp>
        <p:nvCxnSpPr>
          <p:cNvPr id="574" name="rule"/>
          <p:cNvCxnSpPr/>
          <p:nvPr/>
        </p:nvCxnSpPr>
        <p:spPr>
          <a:xfrm xmlns:a="http://schemas.openxmlformats.org/drawingml/2006/main">
            <a:off x="43243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E94D21DD-51A5-43A4-843E-EF82A94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474492-7B33-444E-BE3F-547545DB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交互与信用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E810EF8-586A-4CEA-823B-70D0E21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再回答“多步决策如何学”：构造 KG 环境，用 GAPD / EviSD 处理长轨迹信用分配。</a:t>
            </a:r>
          </a:p>
          <a:p xmlns:a="http://schemas.openxmlformats.org/drawingml/2006/main">
            <a:r>
              <a:t/>
            </a:r>
            <a:endParaRPr sz="1500" b="0" i="0">
              <a:solidFill>
                <a:srgbClr val="59616D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ctr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ICML 2026 · EMNLP / AAAI 投稿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6C264F-4C2C-4A73-ADD9-1E81AEDE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2026 夏</a:t>
            </a:r>
          </a:p>
        </p:txBody>
      </p:sp>
      <p:cxnSp>
        <p:nvCxnSpPr>
          <p:cNvPr id="579" name="rule"/>
          <p:cNvCxnSpPr/>
          <p:nvPr/>
        </p:nvCxnSpPr>
        <p:spPr>
          <a:xfrm xmlns:a="http://schemas.openxmlformats.org/drawingml/2006/main">
            <a:off x="82486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721F991-6D03-4508-B7A5-AF2674D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2FD416-A705-44B1-82F8-E827F6C5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多轮安全智能体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99F682-B6E6-4192-8F65-422AE56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实习期间推进到自动红队：attacker 读取拒答与上下文，跨 turn / session 调整策略，并用 RL 更新。</a:t>
            </a:r>
          </a:p>
          <a:p xmlns:a="http://schemas.openxmlformats.org/drawingml/2006/main">
            <a:r>
              <a:t/>
            </a:r>
            <a:endParaRPr sz="1500" b="0" i="0">
              <a:solidFill>
                <a:srgbClr val="59616D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ctr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Multi-turn Attacker</a:t>
            </a:r>
            <a:endParaRPr sz="1500" b="0" i="0">
              <a:solidFill>
                <a:srgbClr val="59616D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1900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D345B70-29E9-4378-90F8-54EAB61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MOTIVATION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D7A8D6-82B7-49B6-A35C-FD3C925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一次拒答不是终点，多轮攻击会利用反馈继续调整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777EAF-A0A7-4916-9EC4-8B02497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601F05-069E-4605-A340-0414AD3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evisd-framework-backing">
            <a:extLst xmlns:a="http://schemas.openxmlformats.org/drawingml/2006/main">
              <a:ext uri="{FF2B5EF4-FFF2-40B4-BE49-F238E27FC236}">
                <a16:creationId xmlns:a16="http://schemas.microsoft.com/office/drawing/2014/main" id="{31032DA1-870B-4B5D-BF18-0E1E5B4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735BA2-A48E-404D-9D97-D80C0ABB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Single-turn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32E77F-C63F-49FA-8F04-20AE19AB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固定 prompt · 只得到一次反馈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C10AAD-65CA-4DFD-8F13-7A8A69DE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Context buildup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FB3541-7793-431E-8D1F-0A720EE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在对话中逐步积累上下文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3E3A5B-9BF3-4C65-A4E9-8537A55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rPr>
              <a:t>Victim feedback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9400D0-A532-42EE-BB6D-826EABD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t>依据拒答与响应调整下一步</a:t>
            </a:r>
            <a:endParaRPr/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029840-2852-452D-B344-F782473C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Trajectory policy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5EB83A-E382-4A06-BDE7-7EA3071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优化整条轨迹，而非单个 prompt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193b91bcd4045"/>
          <a:stretch xmlns:a="http://schemas.openxmlformats.org/drawingml/2006/main"/>
        </p:blipFill>
        <p:spPr>
          <a:xfrm xmlns:a="http://schemas.openxmlformats.org/drawingml/2006/main">
            <a:off x="2643435" y="1466850"/>
            <a:ext cx="6905129" cy="38862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4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4B453A0-B893-4E81-9A0D-AF1CA25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QUESTIONS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B0AF7-476B-4CCA-8F91-02B4B28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三个问题决定 Multi-turn attacker 是否真的可用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B30B16F-3055-42F5-B48E-456558A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84DC8C-A774-4675-AD95-04A2E6FA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A44674-C298-415F-949B-817C25D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569" name="rule"/>
          <p:cNvCxnSpPr/>
          <p:nvPr/>
        </p:nvCxnSpPr>
        <p:spPr>
          <a:xfrm xmlns:a="http://schemas.openxmlformats.org/drawingml/2006/main">
            <a:off x="4000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51AAF10-8576-46DD-B53C-14F4F0F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6095B4-5CCB-4D3E-8FED-D7E59479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跨尺度迁移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D949DE-4CA9-4BCC-B44F-8AD718C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小 victim 上训练得到的策略，能否自然迁移到 122B strong victim？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D6DEDA-5E3D-4356-98AB-427A64C6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574" name="rule"/>
          <p:cNvCxnSpPr/>
          <p:nvPr/>
        </p:nvCxnSpPr>
        <p:spPr>
          <a:xfrm xmlns:a="http://schemas.openxmlformats.org/drawingml/2006/main">
            <a:off x="43243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E94D21DD-51A5-43A4-843E-EF82A94F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A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474492-7B33-444E-BE3F-547545DB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奖励稀疏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E810EF8-586A-4CEA-823B-70D0E218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直接攻击强 victim 时，成功轨迹过少，GRPO 是否还有可用方差？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6C264F-4C2C-4A73-ADD9-1E81AEDE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579" name="rule"/>
          <p:cNvCxnSpPr/>
          <p:nvPr/>
        </p:nvCxnSpPr>
        <p:spPr>
          <a:xfrm xmlns:a="http://schemas.openxmlformats.org/drawingml/2006/main">
            <a:off x="8248650" y="2724150"/>
            <a:ext cx="3143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A0A0A"/>
            </a:solidFill>
            <a:prstDash val="solid"/>
          </a:ln>
        </p:spPr>
      </p:cxn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721F991-6D03-4508-B7A5-AF2674D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2FD416-A705-44B1-82F8-E827F6C5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真实泛化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C99F682-B6E6-4192-8F65-422AE56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训练后的 policy 能否跨 benchmark、语言与 unseen victim 保持增益？</a:t>
            </a:r>
          </a:p>
        </p:txBody>
      </p:sp>
    </p:spTree>
    <p:extLst>
      <p:ext uri="{BB962C8B-B14F-4D97-AF65-F5344CB8AC3E}">
        <p14:creationId xmlns:p14="http://schemas.microsoft.com/office/powerpoint/2010/main" val="61900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D345B70-29E9-4378-90F8-54EAB615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D7A8D6-82B7-49B6-A35C-FD3C9250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把多轮、多 Session、技能与 RL 接成闭环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777EAF-A0A7-4916-9EC4-8B02497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601F05-069E-4605-A340-0414AD3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evisd-framework-backing">
            <a:extLst xmlns:a="http://schemas.openxmlformats.org/drawingml/2006/main">
              <a:ext uri="{FF2B5EF4-FFF2-40B4-BE49-F238E27FC236}">
                <a16:creationId xmlns:a16="http://schemas.microsoft.com/office/drawing/2014/main" id="{31032DA1-870B-4B5D-BF18-0E1E5B4C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735BA2-A48E-404D-9D97-D80C0ABB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Policy state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32E77F-C63F-49FA-8F04-20AE19AB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immutable objective + transcript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C10AAD-65CA-4DFD-8F13-7A8A69DE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Session memory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FB3541-7793-431E-8D1F-0A720EE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reset_on_refusal + failure ledger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3E3A5B-9BF3-4C65-A4E9-8537A55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rPr>
              <a:t>Skill prior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9400D0-A532-42EE-BB6D-826EABD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t>16 controller / operator / constraint seeds</a:t>
            </a:r>
            <a:endParaRPr/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4029840-2852-452D-B344-F782473C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97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Learning loop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15EB83A-E382-4A06-BDE7-7EA3071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626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independent judge → GRPO update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319919124496a"/>
          <a:stretch xmlns:a="http://schemas.openxmlformats.org/drawingml/2006/main"/>
        </p:blipFill>
        <p:spPr>
          <a:xfrm xmlns:a="http://schemas.openxmlformats.org/drawingml/2006/main">
            <a:off x="2643435" y="1466850"/>
            <a:ext cx="6905129" cy="38862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4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07FB4AA-710F-4E87-AACA-77E3DAF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HARNESS ABLATION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68E79-FE67-4F15-8262-963D89D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真正拉开差距的是 Skill，而不是简单重启 Session</a:t>
            </a:r>
            <a:endParaRPr sz="3450" b="1" i="0">
              <a:solidFill>
                <a:srgbClr val="0A0A0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47AB6C-34CD-4012-9125-03FF460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302D7A-002C-4448-8BEB-845DCB9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65151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11cc3a37e14b64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5331B8-AE4E-46D1-82CC-B2A6AE3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HB-400 · 400 objectives × 3 · GLM external judge</a:t>
            </a:r>
          </a:p>
        </p:txBody>
      </p:sp>
      <p:sp>
        <p:nvSpPr>
          <p:cNvPr id="7" name="metric-GrailQA Zero-shot">
            <a:extLst xmlns:a="http://schemas.openxmlformats.org/drawingml/2006/main">
              <a:ext uri="{FF2B5EF4-FFF2-40B4-BE49-F238E27FC236}">
                <a16:creationId xmlns:a16="http://schemas.microsoft.com/office/drawing/2014/main" id="{9EE6178B-4C00-4C85-9BAE-D44035D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GrailQA Zero-shot">
            <a:extLst xmlns:a="http://schemas.openxmlformats.org/drawingml/2006/main">
              <a:ext uri="{FF2B5EF4-FFF2-40B4-BE49-F238E27FC236}">
                <a16:creationId xmlns:a16="http://schemas.microsoft.com/office/drawing/2014/main" id="{BDFBA2EA-4422-4793-930A-B193A93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478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+18.6pp</a:t>
            </a:r>
          </a:p>
        </p:txBody>
      </p:sp>
      <p:sp>
        <p:nvSpPr>
          <p:cNvPr id="9" name="metric-label-GrailQA Zero-shot">
            <a:extLst xmlns:a="http://schemas.openxmlformats.org/drawingml/2006/main">
              <a:ext uri="{FF2B5EF4-FFF2-40B4-BE49-F238E27FC236}">
                <a16:creationId xmlns:a16="http://schemas.microsoft.com/office/drawing/2014/main" id="{817B546F-8932-4707-A04E-A5851E4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Skill uplift</a:t>
            </a:r>
          </a:p>
        </p:txBody>
      </p:sp>
      <p:sp>
        <p:nvSpPr>
          <p:cNvPr id="10" name="metric-note-GrailQA Zero-shot">
            <a:extLst xmlns:a="http://schemas.openxmlformats.org/drawingml/2006/main">
              <a:ext uri="{FF2B5EF4-FFF2-40B4-BE49-F238E27FC236}">
                <a16:creationId xmlns:a16="http://schemas.microsoft.com/office/drawing/2014/main" id="{3262EC3C-E6FC-4E6A-9CC2-B9040DD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在 reset + ledger 上加入 16 skills</a:t>
            </a:r>
          </a:p>
        </p:txBody>
      </p:sp>
      <p:sp>
        <p:nvSpPr>
          <p:cNvPr id="11" name="metric-GrailQA Overall">
            <a:extLst xmlns:a="http://schemas.openxmlformats.org/drawingml/2006/main">
              <a:ext uri="{FF2B5EF4-FFF2-40B4-BE49-F238E27FC236}">
                <a16:creationId xmlns:a16="http://schemas.microsoft.com/office/drawing/2014/main" id="{1C00EDA5-3577-41E8-BDF9-22C23721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GrailQA Overall">
            <a:extLst xmlns:a="http://schemas.openxmlformats.org/drawingml/2006/main">
              <a:ext uri="{FF2B5EF4-FFF2-40B4-BE49-F238E27FC236}">
                <a16:creationId xmlns:a16="http://schemas.microsoft.com/office/drawing/2014/main" id="{AA63BD23-2EE3-43DB-9607-F4C42E4C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51.8%</a:t>
            </a:r>
          </a:p>
        </p:txBody>
      </p:sp>
      <p:sp>
        <p:nvSpPr>
          <p:cNvPr id="13" name="metric-label-GrailQA Overall">
            <a:extLst xmlns:a="http://schemas.openxmlformats.org/drawingml/2006/main">
              <a:ext uri="{FF2B5EF4-FFF2-40B4-BE49-F238E27FC236}">
                <a16:creationId xmlns:a16="http://schemas.microsoft.com/office/drawing/2014/main" id="{27F8FF7E-33EC-49F6-B924-2C6826C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481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Full harness ASR@3</a:t>
            </a:r>
          </a:p>
        </p:txBody>
      </p:sp>
      <p:sp>
        <p:nvSpPr>
          <p:cNvPr id="14" name="metric-note-GrailQA Overall">
            <a:extLst xmlns:a="http://schemas.openxmlformats.org/drawingml/2006/main">
              <a:ext uri="{FF2B5EF4-FFF2-40B4-BE49-F238E27FC236}">
                <a16:creationId xmlns:a16="http://schemas.microsoft.com/office/drawing/2014/main" id="{4ECC02BE-CD45-42B9-830A-3C75F9B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291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stateless baseline：33.2%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3D040734-FB26-4001-810D-AEA5B5C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889D17-1B8C-4B00-BF7E-E993614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176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rPr>
              <a:t>Reset 只带来 +3.1pp；failure ledger 单独没有增益。</a:t>
            </a:r>
          </a:p>
        </p:txBody>
      </p:sp>
    </p:spTree>
    <p:extLst>
      <p:ext uri="{BB962C8B-B14F-4D97-AF65-F5344CB8AC3E}">
        <p14:creationId xmlns:p14="http://schemas.microsoft.com/office/powerpoint/2010/main" val="1302671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123EDE02-5563-4DF6-A222-F34776D7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HB200 BASELINES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61CE1-1174-4E2F-BC7D-0860F4C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完整 Harness suite：Ours 达到最高 ASR@3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34FEEB-EA42-4236-B0F1-09B983E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D66E4A-114B-42BA-A4A7-41D931A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metric-RRCG 平均贡献">
            <a:extLst xmlns:a="http://schemas.openxmlformats.org/drawingml/2006/main">
              <a:ext uri="{FF2B5EF4-FFF2-40B4-BE49-F238E27FC236}">
                <a16:creationId xmlns:a16="http://schemas.microsoft.com/office/drawing/2014/main" id="{FA601878-BEDE-4918-8D26-E45F3E4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RRCG 平均贡献">
            <a:extLst xmlns:a="http://schemas.openxmlformats.org/drawingml/2006/main">
              <a:ext uri="{FF2B5EF4-FFF2-40B4-BE49-F238E27FC236}">
                <a16:creationId xmlns:a16="http://schemas.microsoft.com/office/drawing/2014/main" id="{0DD0DC60-2DC4-4914-9C01-2381140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rPr>
              <a:t>75.5%</a:t>
            </a:r>
          </a:p>
        </p:txBody>
      </p:sp>
      <p:sp>
        <p:nvSpPr>
          <p:cNvPr id="8" name="metric-label-RRCG 平均贡献">
            <a:extLst xmlns:a="http://schemas.openxmlformats.org/drawingml/2006/main">
              <a:ext uri="{FF2B5EF4-FFF2-40B4-BE49-F238E27FC236}">
                <a16:creationId xmlns:a16="http://schemas.microsoft.com/office/drawing/2014/main" id="{33012B44-31CE-4E36-8DAC-5E0CBCD0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Our Harness</a:t>
            </a:r>
          </a:p>
        </p:txBody>
      </p:sp>
      <p:sp>
        <p:nvSpPr>
          <p:cNvPr id="9" name="metric-note-RRCG 平均贡献">
            <a:extLst xmlns:a="http://schemas.openxmlformats.org/drawingml/2006/main">
              <a:ext uri="{FF2B5EF4-FFF2-40B4-BE49-F238E27FC236}">
                <a16:creationId xmlns:a16="http://schemas.microsoft.com/office/drawing/2014/main" id="{16AADD9C-75F2-4951-A05D-D6227C78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ASR@3 · 3.56 calls</a:t>
            </a:r>
          </a:p>
        </p:txBody>
      </p:sp>
      <p:sp>
        <p:nvSpPr>
          <p:cNvPr id="10" name="metric-Multi-turn 贡献">
            <a:extLst xmlns:a="http://schemas.openxmlformats.org/drawingml/2006/main">
              <a:ext uri="{FF2B5EF4-FFF2-40B4-BE49-F238E27FC236}">
                <a16:creationId xmlns:a16="http://schemas.microsoft.com/office/drawing/2014/main" id="{B0E209E1-5EAB-48E4-9D50-A290C25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Multi-turn 贡献">
            <a:extLst xmlns:a="http://schemas.openxmlformats.org/drawingml/2006/main">
              <a:ext uri="{FF2B5EF4-FFF2-40B4-BE49-F238E27FC236}">
                <a16:creationId xmlns:a16="http://schemas.microsoft.com/office/drawing/2014/main" id="{DCF332CE-273D-48F5-AFF5-6063390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2" name="metric-label-Multi-turn 贡献">
            <a:extLst xmlns:a="http://schemas.openxmlformats.org/drawingml/2006/main">
              <a:ext uri="{FF2B5EF4-FFF2-40B4-BE49-F238E27FC236}">
                <a16:creationId xmlns:a16="http://schemas.microsoft.com/office/drawing/2014/main" id="{A7D37BA8-5F96-48E6-B0EB-E1B8873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2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baseline methods</a:t>
            </a:r>
          </a:p>
        </p:txBody>
      </p:sp>
      <p:sp>
        <p:nvSpPr>
          <p:cNvPr id="13" name="metric-note-Multi-turn 贡献">
            <a:extLst xmlns:a="http://schemas.openxmlformats.org/drawingml/2006/main">
              <a:ext uri="{FF2B5EF4-FFF2-40B4-BE49-F238E27FC236}">
                <a16:creationId xmlns:a16="http://schemas.microsoft.com/office/drawing/2014/main" id="{918C0662-C53A-4389-A960-8E28377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same HB200 suite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94CFD6F3-61AE-4E13-AB38-62D09EF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40576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167FA1-40E5-470B-87F9-A5A7F945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效率前沿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9EA10A-6A2A-401E-856D-787E954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+16.0pp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A69CC1-C068-4CDE-A706-0B72373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10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vs. Crescendo / Seq.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34E86F-ECA2-4355-8BEE-01ECE48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2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同时保持较低调用成本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770FB6-079A-4A8A-BE7A-02A2FFE8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659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HarmBench-200 · Heretic-122B attacker · 200 objectives × 3 trajectories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65913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182fdddc064d58"/>
          </a:graphicData>
        </a:graphic>
      </p:graphicFrame>
    </p:spTree>
    <p:extLst>
      <p:ext uri="{BB962C8B-B14F-4D97-AF65-F5344CB8AC3E}">
        <p14:creationId xmlns:p14="http://schemas.microsoft.com/office/powerpoint/2010/main" val="1727298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18EE007-A943-4B3A-A723-DA678774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SCALE GAP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7051A9-14D0-4E20-9E6B-0A517A5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小 victim 上学会的策略，迁移到 122B 后几乎失效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49054D8-0892-4279-9044-556426F3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8E4D42-8A05-4E7C-89D3-73AABFC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23" name="表格 23"/>
          <p:cNvGraphicFramePr/>
          <p:nvPr/>
        </p:nvGraphicFramePr>
        <p:xfrm>
          <a:off xmlns:a="http://schemas.openxmlformats.org/drawingml/2006/main" x="6515100" y="1657350"/>
          <a:ext xmlns:a="http://schemas.openxmlformats.org/drawingml/2006/main" cx="4914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914400"/>
                <a:gridCol w="914400"/>
                <a:gridCol w="8953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Training victim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ID HB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Small OOD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122B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Llama-3.1-8B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84.50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84.56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Qwen2.5-7B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92.00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78.83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8.0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Gemma-2-9B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83.83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86.25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6.5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Mistral-7B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93.83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59.86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3.0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Macro average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88.54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77.38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5.63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etric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43EAD9AF-5008-40A7-A7A5-B9B6952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AB264620-4EF8-4957-931C-4D3A11F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77.38%</a:t>
            </a:r>
          </a:p>
        </p:txBody>
      </p:sp>
      <p:sp>
        <p:nvSpPr>
          <p:cNvPr id="9" name="metric-label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7CE50A9A-AF9B-419F-8026-EC9B4A8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Small-OOD ASR@3</a:t>
            </a:r>
          </a:p>
        </p:txBody>
      </p:sp>
      <p:sp>
        <p:nvSpPr>
          <p:cNvPr id="10" name="metric-note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B90D9450-3F63-42F3-8E83-7141FA0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4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四个小 victim 策略均值</a:t>
            </a:r>
          </a:p>
        </p:txBody>
      </p:sp>
      <p:sp>
        <p:nvSpPr>
          <p:cNvPr id="11" name="metric-average F1">
            <a:extLst xmlns:a="http://schemas.openxmlformats.org/drawingml/2006/main">
              <a:ext uri="{FF2B5EF4-FFF2-40B4-BE49-F238E27FC236}">
                <a16:creationId xmlns:a16="http://schemas.microsoft.com/office/drawing/2014/main" id="{5B3808A4-1EE5-4CE1-9886-2C19284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average F1">
            <a:extLst xmlns:a="http://schemas.openxmlformats.org/drawingml/2006/main">
              <a:ext uri="{FF2B5EF4-FFF2-40B4-BE49-F238E27FC236}">
                <a16:creationId xmlns:a16="http://schemas.microsoft.com/office/drawing/2014/main" id="{802F2536-CC63-4845-9E23-7856A2D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244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5.63%</a:t>
            </a:r>
          </a:p>
        </p:txBody>
      </p:sp>
      <p:sp>
        <p:nvSpPr>
          <p:cNvPr id="13" name="metric-label-average F1">
            <a:extLst xmlns:a="http://schemas.openxmlformats.org/drawingml/2006/main">
              <a:ext uri="{FF2B5EF4-FFF2-40B4-BE49-F238E27FC236}">
                <a16:creationId xmlns:a16="http://schemas.microsoft.com/office/drawing/2014/main" id="{84E90C2E-844A-459E-8BA3-76937F3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435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122B ASR@3</a:t>
            </a:r>
          </a:p>
        </p:txBody>
      </p:sp>
      <p:sp>
        <p:nvSpPr>
          <p:cNvPr id="14" name="metric-note-average F1">
            <a:extLst xmlns:a="http://schemas.openxmlformats.org/drawingml/2006/main">
              <a:ext uri="{FF2B5EF4-FFF2-40B4-BE49-F238E27FC236}">
                <a16:creationId xmlns:a16="http://schemas.microsoft.com/office/drawing/2014/main" id="{6D7D3B87-31B6-4740-9195-F8D39E6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迁移下降 71.75pp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D1071E-C1DC-48B9-9022-05C28092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6C63B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6C63B5"/>
                </a:solidFill>
                <a:latin typeface="PingFang SC"/>
                <a:ea typeface="PingFang SC"/>
                <a:cs typeface="PingFang SC"/>
              </a:rPr>
              <a:t>平均 ASR@3 从 Small-OOD 的 77.38% 跌到 122B 的 5.63%；8B 直训强 victim 又长期停在约 5%。</a:t>
            </a:r>
          </a:p>
        </p:txBody>
      </p:sp>
      <p:pic>
        <p:nvPicPr>
          <p:cNvPr id="33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236ec9c624e77"/>
          <a:stretch xmlns:a="http://schemas.openxmlformats.org/drawingml/2006/main"/>
        </p:blipFill>
        <p:spPr>
          <a:xfrm xmlns:a="http://schemas.openxmlformats.org/drawingml/2006/main">
            <a:off x="400050" y="1763180"/>
            <a:ext cx="5715000" cy="32935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54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982B63FE-AFFC-45D8-B11F-ACE9BF2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27B RL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C91221-9472-4599-B41B-A14DB3A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双语 27B attacker：最终 ASR@3 达 95.5%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D3F7AA2-0F2E-407E-8B66-803ADFD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030601-6B38-41A4-BF41-BB0376BC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2DAB75-C1B6-4936-B730-9FF4E3E1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95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27B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2FA1AF-CF6C-43F3-89B3-74D5064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14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Attacker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E2C4C3-4E94-402B-AD86-0234195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bilingual RL</a:t>
            </a:r>
          </a:p>
        </p:txBody>
      </p:sp>
      <p:cxnSp>
        <p:nvCxnSpPr>
          <p:cNvPr id="653" name="rule"/>
          <p:cNvCxnSpPr/>
          <p:nvPr/>
        </p:nvCxnSpPr>
        <p:spPr>
          <a:xfrm xmlns:a="http://schemas.openxmlformats.org/drawingml/2006/main">
            <a:off x="6896100" y="2571750"/>
            <a:ext cx="4667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7FAD0C-A30E-4B94-AE75-D7A91049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rPr>
              <a:t>122B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5B1331-59AA-4F74-B403-D42ED90F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Training victim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0D6D90-1C7B-4848-9184-A551BC5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766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Qwen3.5-122B-A10B</a:t>
            </a:r>
          </a:p>
        </p:txBody>
      </p:sp>
      <p:cxnSp>
        <p:nvCxnSpPr>
          <p:cNvPr id="657" name="rule"/>
          <p:cNvCxnSpPr/>
          <p:nvPr/>
        </p:nvCxnSpPr>
        <p:spPr>
          <a:xfrm xmlns:a="http://schemas.openxmlformats.org/drawingml/2006/main">
            <a:off x="6896100" y="3790950"/>
            <a:ext cx="4667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87DE25-C034-491B-9EAF-AD417316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rPr>
              <a:t>95.5%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20A6D4D-83F4-4247-AA58-8B7BA29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529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Final ASR@3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F01CA0A-C427-4147-B049-80869174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958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step 240 re-evaluation</a:t>
            </a:r>
          </a:p>
        </p:txBody>
      </p:sp>
      <p:cxnSp>
        <p:nvCxnSpPr>
          <p:cNvPr id="661" name="rule"/>
          <p:cNvCxnSpPr/>
          <p:nvPr/>
        </p:nvCxnSpPr>
        <p:spPr>
          <a:xfrm xmlns:a="http://schemas.openxmlformats.org/drawingml/2006/main">
            <a:off x="6896100" y="5010150"/>
            <a:ext cx="4667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5934087-22D5-48BE-BCA4-9E58A58E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+20.0pp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F6333C0-CC11-4805-B4C7-AEA66451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721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vs. Heretic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7DC6F1-5860-4C8D-A326-CB085C8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150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zero-shot：75.5%</a:t>
            </a:r>
          </a:p>
        </p:txBody>
      </p:sp>
      <p:graphicFrame>
        <p:nvGraphicFramePr>
          <p:cNvPr id="665" name="Chart"/>
          <p:cNvGraphicFramePr/>
          <p:nvPr/>
        </p:nvGraphicFramePr>
        <p:xfrm>
          <a:off xmlns:a="http://schemas.openxmlformats.org/drawingml/2006/main" x="156496" y="2200275"/>
          <a:ext xmlns:a="http://schemas.openxmlformats.org/drawingml/2006/main" cx="6222206" cy="311915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da99d5f2aa490f"/>
          </a:graphicData>
        </a:graphic>
      </p:graphicFrame>
    </p:spTree>
    <p:extLst>
      <p:ext uri="{BB962C8B-B14F-4D97-AF65-F5344CB8AC3E}">
        <p14:creationId xmlns:p14="http://schemas.microsoft.com/office/powerpoint/2010/main" val="2049111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07FB4AA-710F-4E87-AACA-77E3DAF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GENERALIZATION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68E79-FE67-4F15-8262-963D89D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一份双语 policy，同时覆盖英文 HB 与中文 AntEval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47AB6C-34CD-4012-9125-03FF460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302D7A-002C-4448-8BEB-845DCB9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5331B8-AE4E-46D1-82CC-B2A6AE3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step 240 · Qwen3.5-122B training victim · 200 objectives × 3</a:t>
            </a:r>
          </a:p>
        </p:txBody>
      </p:sp>
      <p:sp>
        <p:nvSpPr>
          <p:cNvPr id="7" name="metric-GrailQA Zero-shot">
            <a:extLst xmlns:a="http://schemas.openxmlformats.org/drawingml/2006/main">
              <a:ext uri="{FF2B5EF4-FFF2-40B4-BE49-F238E27FC236}">
                <a16:creationId xmlns:a16="http://schemas.microsoft.com/office/drawing/2014/main" id="{9EE6178B-4C00-4C85-9BAE-D44035D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GrailQA Zero-shot">
            <a:extLst xmlns:a="http://schemas.openxmlformats.org/drawingml/2006/main">
              <a:ext uri="{FF2B5EF4-FFF2-40B4-BE49-F238E27FC236}">
                <a16:creationId xmlns:a16="http://schemas.microsoft.com/office/drawing/2014/main" id="{BDFBA2EA-4422-4793-930A-B193A93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478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95.5%</a:t>
            </a:r>
          </a:p>
        </p:txBody>
      </p:sp>
      <p:sp>
        <p:nvSpPr>
          <p:cNvPr id="9" name="metric-label-GrailQA Zero-shot">
            <a:extLst xmlns:a="http://schemas.openxmlformats.org/drawingml/2006/main">
              <a:ext uri="{FF2B5EF4-FFF2-40B4-BE49-F238E27FC236}">
                <a16:creationId xmlns:a16="http://schemas.microsoft.com/office/drawing/2014/main" id="{817B546F-8932-4707-A04E-A5851E4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HB ASR@3</a:t>
            </a:r>
          </a:p>
        </p:txBody>
      </p:sp>
      <p:sp>
        <p:nvSpPr>
          <p:cNvPr id="10" name="metric-note-GrailQA Zero-shot">
            <a:extLst xmlns:a="http://schemas.openxmlformats.org/drawingml/2006/main">
              <a:ext uri="{FF2B5EF4-FFF2-40B4-BE49-F238E27FC236}">
                <a16:creationId xmlns:a16="http://schemas.microsoft.com/office/drawing/2014/main" id="{3262EC3C-E6FC-4E6A-9CC2-B9040DD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English · HarmBench-cls</a:t>
            </a:r>
          </a:p>
        </p:txBody>
      </p:sp>
      <p:sp>
        <p:nvSpPr>
          <p:cNvPr id="11" name="metric-GrailQA Overall">
            <a:extLst xmlns:a="http://schemas.openxmlformats.org/drawingml/2006/main">
              <a:ext uri="{FF2B5EF4-FFF2-40B4-BE49-F238E27FC236}">
                <a16:creationId xmlns:a16="http://schemas.microsoft.com/office/drawing/2014/main" id="{1C00EDA5-3577-41E8-BDF9-22C23721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GrailQA Overall">
            <a:extLst xmlns:a="http://schemas.openxmlformats.org/drawingml/2006/main">
              <a:ext uri="{FF2B5EF4-FFF2-40B4-BE49-F238E27FC236}">
                <a16:creationId xmlns:a16="http://schemas.microsoft.com/office/drawing/2014/main" id="{AA63BD23-2EE3-43DB-9607-F4C42E4C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57.0%</a:t>
            </a:r>
          </a:p>
        </p:txBody>
      </p:sp>
      <p:sp>
        <p:nvSpPr>
          <p:cNvPr id="13" name="metric-label-GrailQA Overall">
            <a:extLst xmlns:a="http://schemas.openxmlformats.org/drawingml/2006/main">
              <a:ext uri="{FF2B5EF4-FFF2-40B4-BE49-F238E27FC236}">
                <a16:creationId xmlns:a16="http://schemas.microsoft.com/office/drawing/2014/main" id="{27F8FF7E-33EC-49F6-B924-2C6826C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481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AntEval ASR@3</a:t>
            </a:r>
          </a:p>
        </p:txBody>
      </p:sp>
      <p:sp>
        <p:nvSpPr>
          <p:cNvPr id="14" name="metric-note-GrailQA Overall">
            <a:extLst xmlns:a="http://schemas.openxmlformats.org/drawingml/2006/main">
              <a:ext uri="{FF2B5EF4-FFF2-40B4-BE49-F238E27FC236}">
                <a16:creationId xmlns:a16="http://schemas.microsoft.com/office/drawing/2014/main" id="{4ECC02BE-CD45-42B9-830A-3C75F9B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291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Chinese · GLM-v6 rubric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3D040734-FB26-4001-810D-AEA5B5C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889D17-1B8C-4B00-BF7E-E993614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5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rPr>
              <a:t>同一 checkpoint；两套 benchmark 各按自己的 judge 口径报告。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65151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42dce3cc5d4866"/>
          </a:graphicData>
        </a:graphic>
      </p:graphicFrame>
    </p:spTree>
    <p:extLst>
      <p:ext uri="{BB962C8B-B14F-4D97-AF65-F5344CB8AC3E}">
        <p14:creationId xmlns:p14="http://schemas.microsoft.com/office/powerpoint/2010/main" val="1302671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18EE007-A943-4B3A-A723-DA678774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FOUR VICTIMS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7051A9-14D0-4E20-9E6B-0A517A5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同一 27B policy 跨 4 个强 victim，并覆盖中英文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49054D8-0892-4279-9044-556426F3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68E4D42-8A05-4E7C-89D3-73AABFC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mlns:a="http://schemas.openxmlformats.org/drawingml/2006/main" x="6515100" y="1657350"/>
          <a:ext xmlns:a="http://schemas.openxmlformats.org/drawingml/2006/main" cx="4914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914400"/>
                <a:gridCol w="914400"/>
                <a:gridCol w="895350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Victim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HB@3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AntEval@3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Seen?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Ling-3.0-Flash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98.5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61.5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GLM-5.2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98.5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62.5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Kimi-K2.6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97.0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63.0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Qwen3.5-122B</a:t>
                      </a:r>
                    </a:p>
                  </a:txBody>
                  <a:tcPr marL="76200" marR="76200" marT="66675" marB="66675" anchor="ctr"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95.5</a:t>
                      </a:r>
                    </a:p>
                  </a:txBody>
                  <a:tcPr marL="76200" marR="76200" marT="66675" marB="66675" anchor="ctr"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57.0</a:t>
                      </a:r>
                    </a:p>
                  </a:txBody>
                  <a:tcPr marL="76200" marR="76200" marT="66675" marB="66675" anchor="ctr">
                    <a:solidFill>
                      <a:srgbClr val="FF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Train</a:t>
                      </a:r>
                    </a:p>
                  </a:txBody>
                  <a:tcPr marL="76200" marR="76200" marT="66675" marB="66675" anchor="ctr">
                    <a:solidFill>
                      <a:srgbClr val="FFF2E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Macro average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97.4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61.0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</a:tr>
            </a:tbl>
          </a:graphicData>
        </a:graphic>
      </p:graphicFrame>
      <p:sp>
        <p:nvSpPr>
          <p:cNvPr id="7" name="metric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43EAD9AF-5008-40A7-A7A5-B9B6952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AB264620-4EF8-4957-931C-4D3A11F2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97.4%</a:t>
            </a:r>
          </a:p>
        </p:txBody>
      </p:sp>
      <p:sp>
        <p:nvSpPr>
          <p:cNvPr id="9" name="metric-label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7CE50A9A-AF9B-419F-8026-EC9B4A8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435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HB macro ASR@3</a:t>
            </a:r>
          </a:p>
        </p:txBody>
      </p:sp>
      <p:sp>
        <p:nvSpPr>
          <p:cNvPr id="10" name="metric-note-interactions / query">
            <a:extLst xmlns:a="http://schemas.openxmlformats.org/drawingml/2006/main">
              <a:ext uri="{FF2B5EF4-FFF2-40B4-BE49-F238E27FC236}">
                <a16:creationId xmlns:a16="http://schemas.microsoft.com/office/drawing/2014/main" id="{B90D9450-3F63-42F3-8E83-7141FA0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4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4 个 victim 平均</a:t>
            </a:r>
          </a:p>
        </p:txBody>
      </p:sp>
      <p:sp>
        <p:nvSpPr>
          <p:cNvPr id="11" name="metric-average F1">
            <a:extLst xmlns:a="http://schemas.openxmlformats.org/drawingml/2006/main">
              <a:ext uri="{FF2B5EF4-FFF2-40B4-BE49-F238E27FC236}">
                <a16:creationId xmlns:a16="http://schemas.microsoft.com/office/drawing/2014/main" id="{5B3808A4-1EE5-4CE1-9886-2C19284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2920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average F1">
            <a:extLst xmlns:a="http://schemas.openxmlformats.org/drawingml/2006/main">
              <a:ext uri="{FF2B5EF4-FFF2-40B4-BE49-F238E27FC236}">
                <a16:creationId xmlns:a16="http://schemas.microsoft.com/office/drawing/2014/main" id="{802F2536-CC63-4845-9E23-7856A2D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244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61.0%</a:t>
            </a:r>
          </a:p>
        </p:txBody>
      </p:sp>
      <p:sp>
        <p:nvSpPr>
          <p:cNvPr id="13" name="metric-label-average F1">
            <a:extLst xmlns:a="http://schemas.openxmlformats.org/drawingml/2006/main">
              <a:ext uri="{FF2B5EF4-FFF2-40B4-BE49-F238E27FC236}">
                <a16:creationId xmlns:a16="http://schemas.microsoft.com/office/drawing/2014/main" id="{84E90C2E-844A-459E-8BA3-76937F3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435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AntEval macro ASR@3</a:t>
            </a:r>
          </a:p>
        </p:txBody>
      </p:sp>
      <p:sp>
        <p:nvSpPr>
          <p:cNvPr id="14" name="metric-note-average F1">
            <a:extLst xmlns:a="http://schemas.openxmlformats.org/drawingml/2006/main">
              <a:ext uri="{FF2B5EF4-FFF2-40B4-BE49-F238E27FC236}">
                <a16:creationId xmlns:a16="http://schemas.microsoft.com/office/drawing/2014/main" id="{6D7D3B87-31B6-4740-9195-F8D39E6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483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4 个 victim 平均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D1071E-C1DC-48B9-9022-05C28092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6C63B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6C63B5"/>
                </a:solidFill>
                <a:latin typeface="PingFang SC"/>
                <a:ea typeface="PingFang SC"/>
                <a:cs typeface="PingFang SC"/>
              </a:rPr>
              <a:t>AntEval ASR@3：Ling 61.5 · GLM 62.5 · Kimi 63.0 · Qwen 57.0；前三者均为 unseen victim。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57150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603bb4e75149ce"/>
          </a:graphicData>
        </a:graphic>
      </p:graphicFrame>
    </p:spTree>
    <p:extLst>
      <p:ext uri="{BB962C8B-B14F-4D97-AF65-F5344CB8AC3E}">
        <p14:creationId xmlns:p14="http://schemas.microsoft.com/office/powerpoint/2010/main" val="10951546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07FB4AA-710F-4E87-AACA-77E3DAF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BILINGUAL RL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B68E79-FE67-4F15-8262-963D89D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中文 AntEval：双语 27B 全面超过 122B zero-shot</a:t>
            </a:r>
            <a:endParaRPr sz="3450" b="1" i="0">
              <a:solidFill>
                <a:srgbClr val="0A0A0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47AB6C-34CD-4012-9125-03FF460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302D7A-002C-4448-8BEB-845DCB9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5331B8-AE4E-46D1-82CC-B2A6AE3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AntEval200 · GLM-v6 rubric · ASR@3 · same 4 victims</a:t>
            </a:r>
          </a:p>
        </p:txBody>
      </p:sp>
      <p:sp>
        <p:nvSpPr>
          <p:cNvPr id="7" name="metric-GrailQA Zero-shot">
            <a:extLst xmlns:a="http://schemas.openxmlformats.org/drawingml/2006/main">
              <a:ext uri="{FF2B5EF4-FFF2-40B4-BE49-F238E27FC236}">
                <a16:creationId xmlns:a16="http://schemas.microsoft.com/office/drawing/2014/main" id="{9EE6178B-4C00-4C85-9BAE-D44035D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stat-GrailQA Zero-shot">
            <a:extLst xmlns:a="http://schemas.openxmlformats.org/drawingml/2006/main">
              <a:ext uri="{FF2B5EF4-FFF2-40B4-BE49-F238E27FC236}">
                <a16:creationId xmlns:a16="http://schemas.microsoft.com/office/drawing/2014/main" id="{BDFBA2EA-4422-4793-930A-B193A93B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478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+16.3pp</a:t>
            </a:r>
          </a:p>
        </p:txBody>
      </p:sp>
      <p:sp>
        <p:nvSpPr>
          <p:cNvPr id="9" name="metric-label-GrailQA Zero-shot">
            <a:extLst xmlns:a="http://schemas.openxmlformats.org/drawingml/2006/main">
              <a:ext uri="{FF2B5EF4-FFF2-40B4-BE49-F238E27FC236}">
                <a16:creationId xmlns:a16="http://schemas.microsoft.com/office/drawing/2014/main" id="{817B546F-8932-4707-A04E-A5851E4D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Macro uplift</a:t>
            </a:r>
          </a:p>
        </p:txBody>
      </p:sp>
      <p:sp>
        <p:nvSpPr>
          <p:cNvPr id="10" name="metric-note-GrailQA Zero-shot">
            <a:extLst xmlns:a="http://schemas.openxmlformats.org/drawingml/2006/main">
              <a:ext uri="{FF2B5EF4-FFF2-40B4-BE49-F238E27FC236}">
                <a16:creationId xmlns:a16="http://schemas.microsoft.com/office/drawing/2014/main" id="{3262EC3C-E6FC-4E6A-9CC2-B9040DD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44.7% → 61.0%</a:t>
            </a:r>
          </a:p>
        </p:txBody>
      </p:sp>
      <p:sp>
        <p:nvSpPr>
          <p:cNvPr id="11" name="metric-GrailQA Overall">
            <a:extLst xmlns:a="http://schemas.openxmlformats.org/drawingml/2006/main">
              <a:ext uri="{FF2B5EF4-FFF2-40B4-BE49-F238E27FC236}">
                <a16:creationId xmlns:a16="http://schemas.microsoft.com/office/drawing/2014/main" id="{1C00EDA5-3577-41E8-BDF9-22C23721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stat-GrailQA Overall">
            <a:extLst xmlns:a="http://schemas.openxmlformats.org/drawingml/2006/main">
              <a:ext uri="{FF2B5EF4-FFF2-40B4-BE49-F238E27FC236}">
                <a16:creationId xmlns:a16="http://schemas.microsoft.com/office/drawing/2014/main" id="{AA63BD23-2EE3-43DB-9607-F4C42E4C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638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 / 4</a:t>
            </a:r>
          </a:p>
        </p:txBody>
      </p:sp>
      <p:sp>
        <p:nvSpPr>
          <p:cNvPr id="13" name="metric-label-GrailQA Overall">
            <a:extLst xmlns:a="http://schemas.openxmlformats.org/drawingml/2006/main">
              <a:ext uri="{FF2B5EF4-FFF2-40B4-BE49-F238E27FC236}">
                <a16:creationId xmlns:a16="http://schemas.microsoft.com/office/drawing/2014/main" id="{27F8FF7E-33EC-49F6-B924-2C6826C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481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victims improve</a:t>
            </a:r>
          </a:p>
        </p:txBody>
      </p:sp>
      <p:sp>
        <p:nvSpPr>
          <p:cNvPr id="14" name="metric-note-GrailQA Overall">
            <a:extLst xmlns:a="http://schemas.openxmlformats.org/drawingml/2006/main">
              <a:ext uri="{FF2B5EF4-FFF2-40B4-BE49-F238E27FC236}">
                <a16:creationId xmlns:a16="http://schemas.microsoft.com/office/drawing/2014/main" id="{4ECC02BE-CD45-42B9-830A-3C75F9B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291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最大提升：Kimi +27.2pp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3D040734-FB26-4001-810D-AEA5B5C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530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889D17-1B8C-4B00-BF7E-E993614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02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2BA84A"/>
                </a:solidFill>
                <a:latin typeface="PingFang SC"/>
                <a:ea typeface="PingFang SC"/>
                <a:cs typeface="PingFang SC"/>
              </a:rPr>
              <a:t>双语训练不仅提升训练 victim，也迁移到 3 个 unseen victim。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65151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e5e385971b4db6"/>
          </a:graphicData>
        </a:graphic>
      </p:graphicFrame>
    </p:spTree>
    <p:extLst>
      <p:ext uri="{BB962C8B-B14F-4D97-AF65-F5344CB8AC3E}">
        <p14:creationId xmlns:p14="http://schemas.microsoft.com/office/powerpoint/2010/main" val="1302671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123EDE02-5563-4DF6-A222-F34776D7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61CE1-1174-4E2F-BC7D-0860F4C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实验能持续迭代，依赖一套可复现的训练与评测栈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34FEEB-EA42-4236-B0F1-09B983E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D66E4A-114B-42BA-A4A7-41D931A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6591300" cy="40957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1285875"/>
                <a:gridCol w="1285875"/>
                <a:gridCol w="1295400"/>
              </a:tblGrid>
              <a:tr h="5119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Deliverable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Problem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Change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Commit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Native VERL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RAGEN legacy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loop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dc53731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Judge robust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2048 overflow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truncate + token id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72db7cf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Streaming val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3h validation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inflight refill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1735d3a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Victim pool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single endpoint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multi-endpoint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f4650b5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3B diagnosis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 idle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lockstep root cause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b5851d3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Baseline suite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few baselines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PyRIT methods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efb7c2c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Reproducibility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scattered runs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docs + artifacts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e81067e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etric-RRCG 平均贡献">
            <a:extLst xmlns:a="http://schemas.openxmlformats.org/drawingml/2006/main">
              <a:ext uri="{FF2B5EF4-FFF2-40B4-BE49-F238E27FC236}">
                <a16:creationId xmlns:a16="http://schemas.microsoft.com/office/drawing/2014/main" id="{FA601878-BEDE-4918-8D26-E45F3E4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RRCG 平均贡献">
            <a:extLst xmlns:a="http://schemas.openxmlformats.org/drawingml/2006/main">
              <a:ext uri="{FF2B5EF4-FFF2-40B4-BE49-F238E27FC236}">
                <a16:creationId xmlns:a16="http://schemas.microsoft.com/office/drawing/2014/main" id="{0DD0DC60-2DC4-4914-9C01-2381140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rPr>
              <a:t>&gt;256</a:t>
            </a:r>
          </a:p>
        </p:txBody>
      </p:sp>
      <p:sp>
        <p:nvSpPr>
          <p:cNvPr id="8" name="metric-label-RRCG 平均贡献">
            <a:extLst xmlns:a="http://schemas.openxmlformats.org/drawingml/2006/main">
              <a:ext uri="{FF2B5EF4-FFF2-40B4-BE49-F238E27FC236}">
                <a16:creationId xmlns:a16="http://schemas.microsoft.com/office/drawing/2014/main" id="{33012B44-31CE-4E36-8DAC-5E0CBCD0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5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victim concurrency</a:t>
            </a:r>
          </a:p>
        </p:txBody>
      </p:sp>
      <p:sp>
        <p:nvSpPr>
          <p:cNvPr id="9" name="metric-note-RRCG 平均贡献">
            <a:extLst xmlns:a="http://schemas.openxmlformats.org/drawingml/2006/main">
              <a:ext uri="{FF2B5EF4-FFF2-40B4-BE49-F238E27FC236}">
                <a16:creationId xmlns:a16="http://schemas.microsoft.com/office/drawing/2014/main" id="{16AADD9C-75F2-4951-A05D-D6227C78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仍线性 · 0 failure</a:t>
            </a:r>
          </a:p>
        </p:txBody>
      </p:sp>
      <p:sp>
        <p:nvSpPr>
          <p:cNvPr id="10" name="metric-Multi-turn 贡献">
            <a:extLst xmlns:a="http://schemas.openxmlformats.org/drawingml/2006/main">
              <a:ext uri="{FF2B5EF4-FFF2-40B4-BE49-F238E27FC236}">
                <a16:creationId xmlns:a16="http://schemas.microsoft.com/office/drawing/2014/main" id="{B0E209E1-5EAB-48E4-9D50-A290C25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Multi-turn 贡献">
            <a:extLst xmlns:a="http://schemas.openxmlformats.org/drawingml/2006/main">
              <a:ext uri="{FF2B5EF4-FFF2-40B4-BE49-F238E27FC236}">
                <a16:creationId xmlns:a16="http://schemas.microsoft.com/office/drawing/2014/main" id="{DCF332CE-273D-48F5-AFF5-6063390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2788</a:t>
            </a:r>
          </a:p>
        </p:txBody>
      </p:sp>
      <p:sp>
        <p:nvSpPr>
          <p:cNvPr id="12" name="metric-label-Multi-turn 贡献">
            <a:extLst xmlns:a="http://schemas.openxmlformats.org/drawingml/2006/main">
              <a:ext uri="{FF2B5EF4-FFF2-40B4-BE49-F238E27FC236}">
                <a16:creationId xmlns:a16="http://schemas.microsoft.com/office/drawing/2014/main" id="{A7D37BA8-5F96-48E6-B0EB-E1B8873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token/s</a:t>
            </a:r>
          </a:p>
        </p:txBody>
      </p:sp>
      <p:sp>
        <p:nvSpPr>
          <p:cNvPr id="13" name="metric-note-Multi-turn 贡献">
            <a:extLst xmlns:a="http://schemas.openxmlformats.org/drawingml/2006/main">
              <a:ext uri="{FF2B5EF4-FFF2-40B4-BE49-F238E27FC236}">
                <a16:creationId xmlns:a16="http://schemas.microsoft.com/office/drawing/2014/main" id="{918C0662-C53A-4389-A960-8E28377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0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conc=256 · 512 tok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94CFD6F3-61AE-4E13-AB38-62D09EF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40576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167FA1-40E5-470B-87F9-A5A7F945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效率诊断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9EA10A-6A2A-401E-856D-787E954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A69CC1-C068-4CDE-A706-0B72373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10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rollout share of step time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34E86F-ECA2-4355-8BEE-01ECE48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2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瓶颈：turn lockstep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770FB6-079A-4A8A-BE7A-02A2FFE8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659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Latest aligned commit: efb7c2c · 2026-08-18</a:t>
            </a:r>
          </a:p>
        </p:txBody>
      </p:sp>
    </p:spTree>
    <p:extLst>
      <p:ext uri="{BB962C8B-B14F-4D97-AF65-F5344CB8AC3E}">
        <p14:creationId xmlns:p14="http://schemas.microsoft.com/office/powerpoint/2010/main" val="17272984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123EDE02-5563-4DF6-A222-F34776D7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MULTI-TURN ATTACKER · DATA GAPS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61CE1-1174-4E2F-BC7D-0860F4C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991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跨 victim 泛化已补齐，论文闭环还剩 4 个 P0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34FEEB-EA42-4236-B0F1-09B983E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D66E4A-114B-42BA-A4A7-41D931A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6591300" cy="40957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4150"/>
                <a:gridCol w="1285875"/>
                <a:gridCol w="1285875"/>
                <a:gridCol w="1295400"/>
              </a:tblGrid>
              <a:tr h="5119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Priority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Remaining evidence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Why it matters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Status</a:t>
                      </a:r>
                    </a:p>
                  </a:txBody>
                  <a:tcPr marL="76200" marR="76200" marT="76200" marB="76200" anchor="ctr">
                    <a:solidFill>
                      <a:srgbClr val="0A0A0A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Original 27B vs. Heretic 27B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isolate initialization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运行中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No-skill / no-session RL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attribute harness gain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运行中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Bilingual final checkpoint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Chinese + English claim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ongoing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Same traj × 3 judges + human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judge calibration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缺人工 gold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Same-init 4B / 8B / 27B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clean scaling claim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有混杂</a:t>
                      </a:r>
                    </a:p>
                  </a:txBody>
                  <a:tcPr marL="76200" marR="76200" marT="66675" marB="66675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Cost / calls vs. baselines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efficiency claim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部分数据</a:t>
                      </a:r>
                    </a:p>
                  </a:txBody>
                  <a:tcPr marL="76200" marR="76200" marT="66675" marB="66675" anchor="ctr">
                    <a:solidFill>
                      <a:srgbClr val="F2F2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Done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27B → 3 unseen victims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policy cross-victim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A0A0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</a:t>
                      </a:r>
                    </a:p>
                  </a:txBody>
                  <a:tcPr marL="76200" marR="76200" marT="66675" marB="66675" anchor="ctr">
                    <a:solidFill>
                      <a:srgbClr val="EAF7EE"/>
                    </a:solidFill>
                  </a:tcPr>
                </a:tc>
              </a:tr>
            </a:tbl>
          </a:graphicData>
        </a:graphic>
      </p:graphicFrame>
      <p:sp>
        <p:nvSpPr>
          <p:cNvPr id="6" name="metric-RRCG 平均贡献">
            <a:extLst xmlns:a="http://schemas.openxmlformats.org/drawingml/2006/main">
              <a:ext uri="{FF2B5EF4-FFF2-40B4-BE49-F238E27FC236}">
                <a16:creationId xmlns:a16="http://schemas.microsoft.com/office/drawing/2014/main" id="{FA601878-BEDE-4918-8D26-E45F3E4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stat-RRCG 平均贡献">
            <a:extLst xmlns:a="http://schemas.openxmlformats.org/drawingml/2006/main">
              <a:ext uri="{FF2B5EF4-FFF2-40B4-BE49-F238E27FC236}">
                <a16:creationId xmlns:a16="http://schemas.microsoft.com/office/drawing/2014/main" id="{0DD0DC60-2DC4-4914-9C01-2381140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D84A4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8" name="metric-label-RRCG 平均贡献">
            <a:extLst xmlns:a="http://schemas.openxmlformats.org/drawingml/2006/main">
              <a:ext uri="{FF2B5EF4-FFF2-40B4-BE49-F238E27FC236}">
                <a16:creationId xmlns:a16="http://schemas.microsoft.com/office/drawing/2014/main" id="{33012B44-31CE-4E36-8DAC-5E0CBCD0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P0 gaps</a:t>
            </a:r>
          </a:p>
        </p:txBody>
      </p:sp>
      <p:sp>
        <p:nvSpPr>
          <p:cNvPr id="9" name="metric-note-RRCG 平均贡献">
            <a:extLst xmlns:a="http://schemas.openxmlformats.org/drawingml/2006/main">
              <a:ext uri="{FF2B5EF4-FFF2-40B4-BE49-F238E27FC236}">
                <a16:creationId xmlns:a16="http://schemas.microsoft.com/office/drawing/2014/main" id="{16AADD9C-75F2-4951-A05D-D6227C78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归因与 judge 校准</a:t>
            </a:r>
          </a:p>
        </p:txBody>
      </p:sp>
      <p:sp>
        <p:nvSpPr>
          <p:cNvPr id="10" name="metric-Multi-turn 贡献">
            <a:extLst xmlns:a="http://schemas.openxmlformats.org/drawingml/2006/main">
              <a:ext uri="{FF2B5EF4-FFF2-40B4-BE49-F238E27FC236}">
                <a16:creationId xmlns:a16="http://schemas.microsoft.com/office/drawing/2014/main" id="{B0E209E1-5EAB-48E4-9D50-A290C254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57350"/>
            <a:ext cx="1924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stat-Multi-turn 贡献">
            <a:extLst xmlns:a="http://schemas.openxmlformats.org/drawingml/2006/main">
              <a:ext uri="{FF2B5EF4-FFF2-40B4-BE49-F238E27FC236}">
                <a16:creationId xmlns:a16="http://schemas.microsoft.com/office/drawing/2014/main" id="{DCF332CE-273D-48F5-AFF5-60633908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1466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metric-label-Multi-turn 贡献">
            <a:extLst xmlns:a="http://schemas.openxmlformats.org/drawingml/2006/main">
              <a:ext uri="{FF2B5EF4-FFF2-40B4-BE49-F238E27FC236}">
                <a16:creationId xmlns:a16="http://schemas.microsoft.com/office/drawing/2014/main" id="{A7D37BA8-5F96-48E6-B0EB-E1B8873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unseen victims</a:t>
            </a:r>
          </a:p>
        </p:txBody>
      </p:sp>
      <p:sp>
        <p:nvSpPr>
          <p:cNvPr id="13" name="metric-note-Multi-turn 贡献">
            <a:extLst xmlns:a="http://schemas.openxmlformats.org/drawingml/2006/main">
              <a:ext uri="{FF2B5EF4-FFF2-40B4-BE49-F238E27FC236}">
                <a16:creationId xmlns:a16="http://schemas.microsoft.com/office/drawing/2014/main" id="{918C0662-C53A-4389-A960-8E28377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0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cross-victim complete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94CFD6F3-61AE-4E13-AB38-62D09EF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40576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167FA1-40E5-470B-87F9-A5A7F945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当前最强证据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9EA10A-6A2A-401E-856D-787E954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95.5–98.5%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A69CC1-C068-4CDE-A706-0B72373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10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59616D"/>
                </a:solidFill>
                <a:latin typeface="PingFang SC"/>
                <a:ea typeface="PingFang SC"/>
                <a:cs typeface="PingFang SC"/>
              </a:rPr>
              <a:t>ASR@3 · 4 strong victims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34E86F-ECA2-4355-8BEE-01ECE48C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29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下一步补初始化与 harness 归因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770FB6-079A-4A8A-BE7A-02A2FFE8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659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P0：initialization · harness · bilingual · judge calibration</a:t>
            </a:r>
          </a:p>
        </p:txBody>
      </p:sp>
    </p:spTree>
    <p:extLst>
      <p:ext uri="{BB962C8B-B14F-4D97-AF65-F5344CB8AC3E}">
        <p14:creationId xmlns:p14="http://schemas.microsoft.com/office/powerpoint/2010/main" val="17272984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472DF9-A0B7-4EBA-B7BE-3FDFEBB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实习总结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242FE68-EC3A-4EAB-8555-3A421E96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10287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让多轮越狱在强 victim 上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可训练、可泛化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222DD33-A8E3-40A2-BB7B-2C7D412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0A492C-3F1D-4E1F-AE22-708BEA3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定位跨尺度失效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D25610-0C9F-4516-9B8F-6A9B5D76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77.38% → 5.63%</a:t>
            </a:r>
          </a:p>
        </p:txBody>
      </p:sp>
      <p:cxnSp>
        <p:nvCxnSpPr>
          <p:cNvPr id="638" name="rule"/>
          <p:cNvCxnSpPr/>
          <p:nvPr/>
        </p:nvCxnSpPr>
        <p:spPr>
          <a:xfrm xmlns:a="http://schemas.openxmlformats.org/drawingml/2006/main">
            <a:off x="400050" y="5257800"/>
            <a:ext cx="2400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939B3D-9F68-4176-BC5C-3813BCA7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28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BA84A"/>
                </a:solidFill>
                <a:latin typeface="Helvetica Neue"/>
                <a:ea typeface="Helvetica Neue"/>
                <a:cs typeface="Helvetica Neue"/>
              </a:rPr>
              <a:t>SYSTEM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8CF95C-8798-4127-AC5B-FD8B6638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71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训练双语 27B attacker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BD686A-E09C-4709-91F8-37814D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625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HB 95.5% · AntEval 57.0%</a:t>
            </a:r>
          </a:p>
        </p:txBody>
      </p:sp>
      <p:cxnSp>
        <p:nvCxnSpPr>
          <p:cNvPr id="642" name="rule"/>
          <p:cNvCxnSpPr/>
          <p:nvPr/>
        </p:nvCxnSpPr>
        <p:spPr>
          <a:xfrm xmlns:a="http://schemas.openxmlformats.org/drawingml/2006/main">
            <a:off x="3219450" y="5257800"/>
            <a:ext cx="2400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A427CFC-DC55-4F32-A199-7DAB1D5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528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07B4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5BC744-5A67-40D0-8ABD-DBA0F93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完成跨 victim 验证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31F7B6-8FE5-4AAC-BDB9-4457766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HB 95.5–98.5% · ZH 57–63%</a:t>
            </a:r>
          </a:p>
        </p:txBody>
      </p:sp>
      <p:cxnSp>
        <p:nvCxnSpPr>
          <p:cNvPr id="646" name="rule"/>
          <p:cNvCxnSpPr/>
          <p:nvPr/>
        </p:nvCxnSpPr>
        <p:spPr>
          <a:xfrm xmlns:a="http://schemas.openxmlformats.org/drawingml/2006/main">
            <a:off x="6038850" y="5257800"/>
            <a:ext cx="2400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7392BF-427A-464F-8463-34085F76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528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C63B5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E0A9C20-B2D1-4A3A-A068-E29ABE00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建立 Harness 基线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55D7BB-108B-48C4-B7F5-4436ED0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75.5% ASR@3 · 3.56 calls</a:t>
            </a:r>
          </a:p>
        </p:txBody>
      </p:sp>
      <p:cxnSp>
        <p:nvCxnSpPr>
          <p:cNvPr id="650" name="rule"/>
          <p:cNvCxnSpPr/>
          <p:nvPr/>
        </p:nvCxnSpPr>
        <p:spPr>
          <a:xfrm xmlns:a="http://schemas.openxmlformats.org/drawingml/2006/main">
            <a:off x="8858250" y="5257800"/>
            <a:ext cx="24003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D37EF1-F03C-431F-8289-355C4F2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9616D"/>
                </a:solidFill>
                <a:latin typeface="Helvetica Neue"/>
                <a:ea typeface="Helvetica Neue"/>
                <a:cs typeface="Helvetica Neue"/>
              </a:rPr>
              <a:t>Xin Sun · 蚂蚁集团机器智能部暑期实习 · 2026.08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E89B03-F120-4B5A-B097-286BCEB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谢谢 · Q&amp;A</a:t>
            </a:r>
          </a:p>
        </p:txBody>
      </p:sp>
    </p:spTree>
    <p:extLst>
      <p:ext uri="{BB962C8B-B14F-4D97-AF65-F5344CB8AC3E}">
        <p14:creationId xmlns:p14="http://schemas.microsoft.com/office/powerpoint/2010/main" val="1196095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2026-08-21T08:09:59.9560000Z</dcterms:created>
  <dcterms:modified xsi:type="dcterms:W3CDTF">2026-08-21T08:09:59.9560000Z</dcterms:modified>
</coreProperties>
</file>